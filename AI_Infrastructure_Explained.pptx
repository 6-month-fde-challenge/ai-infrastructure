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slideMasters/slideMaster140.xml" ContentType="application/vnd.openxmlformats-officedocument.presentationml.slideMaster+xml"/>
  <Override PartName="/ppt/slides/slide140.xml" ContentType="application/vnd.openxmlformats-officedocument.presentationml.slide+xml"/>
  <Override PartName="/ppt/slideMasters/slideMaster141.xml" ContentType="application/vnd.openxmlformats-officedocument.presentationml.slideMaster+xml"/>
  <Override PartName="/ppt/slides/slide141.xml" ContentType="application/vnd.openxmlformats-officedocument.presentationml.slide+xml"/>
  <Override PartName="/ppt/slideMasters/slideMaster142.xml" ContentType="application/vnd.openxmlformats-officedocument.presentationml.slideMaster+xml"/>
  <Override PartName="/ppt/slides/slide142.xml" ContentType="application/vnd.openxmlformats-officedocument.presentationml.slide+xml"/>
  <Override PartName="/ppt/slideMasters/slideMaster143.xml" ContentType="application/vnd.openxmlformats-officedocument.presentationml.slideMaster+xml"/>
  <Override PartName="/ppt/slides/slide143.xml" ContentType="application/vnd.openxmlformats-officedocument.presentationml.slide+xml"/>
  <Override PartName="/ppt/slideMasters/slideMaster144.xml" ContentType="application/vnd.openxmlformats-officedocument.presentationml.slideMaster+xml"/>
  <Override PartName="/ppt/slides/slide144.xml" ContentType="application/vnd.openxmlformats-officedocument.presentationml.slide+xml"/>
  <Override PartName="/ppt/slideMasters/slideMaster145.xml" ContentType="application/vnd.openxmlformats-officedocument.presentationml.slideMaster+xml"/>
  <Override PartName="/ppt/slides/slide145.xml" ContentType="application/vnd.openxmlformats-officedocument.presentationml.slide+xml"/>
  <Override PartName="/ppt/slideMasters/slideMaster146.xml" ContentType="application/vnd.openxmlformats-officedocument.presentationml.slideMaster+xml"/>
  <Override PartName="/ppt/slides/slide146.xml" ContentType="application/vnd.openxmlformats-officedocument.presentationml.slide+xml"/>
  <Override PartName="/ppt/slideMasters/slideMaster147.xml" ContentType="application/vnd.openxmlformats-officedocument.presentationml.slideMaster+xml"/>
  <Override PartName="/ppt/slides/slide147.xml" ContentType="application/vnd.openxmlformats-officedocument.presentationml.slide+xml"/>
  <Override PartName="/ppt/slideMasters/slideMaster148.xml" ContentType="application/vnd.openxmlformats-officedocument.presentationml.slideMaster+xml"/>
  <Override PartName="/ppt/slides/slide148.xml" ContentType="application/vnd.openxmlformats-officedocument.presentationml.slide+xml"/>
  <Override PartName="/ppt/slideMasters/slideMaster149.xml" ContentType="application/vnd.openxmlformats-officedocument.presentationml.slideMaster+xml"/>
  <Override PartName="/ppt/slides/slide149.xml" ContentType="application/vnd.openxmlformats-officedocument.presentationml.slide+xml"/>
  <Override PartName="/ppt/slideMasters/slideMaster150.xml" ContentType="application/vnd.openxmlformats-officedocument.presentationml.slideMaster+xml"/>
  <Override PartName="/ppt/slides/slide150.xml" ContentType="application/vnd.openxmlformats-officedocument.presentationml.slide+xml"/>
  <Override PartName="/ppt/slideMasters/slideMaster151.xml" ContentType="application/vnd.openxmlformats-officedocument.presentationml.slideMaster+xml"/>
  <Override PartName="/ppt/slides/slide151.xml" ContentType="application/vnd.openxmlformats-officedocument.presentationml.slide+xml"/>
  <Override PartName="/ppt/slideMasters/slideMaster152.xml" ContentType="application/vnd.openxmlformats-officedocument.presentationml.slideMaster+xml"/>
  <Override PartName="/ppt/slides/slide152.xml" ContentType="application/vnd.openxmlformats-officedocument.presentationml.slide+xml"/>
  <Override PartName="/ppt/slideMasters/slideMaster153.xml" ContentType="application/vnd.openxmlformats-officedocument.presentationml.slideMaster+xml"/>
  <Override PartName="/ppt/slides/slide153.xml" ContentType="application/vnd.openxmlformats-officedocument.presentationml.slide+xml"/>
  <Override PartName="/ppt/slideMasters/slideMaster154.xml" ContentType="application/vnd.openxmlformats-officedocument.presentationml.slideMaster+xml"/>
  <Override PartName="/ppt/slides/slide154.xml" ContentType="application/vnd.openxmlformats-officedocument.presentationml.slide+xml"/>
  <Override PartName="/ppt/slideMasters/slideMaster155.xml" ContentType="application/vnd.openxmlformats-officedocument.presentationml.slideMaster+xml"/>
  <Override PartName="/ppt/slides/slide155.xml" ContentType="application/vnd.openxmlformats-officedocument.presentationml.slide+xml"/>
  <Override PartName="/ppt/slideMasters/slideMaster156.xml" ContentType="application/vnd.openxmlformats-officedocument.presentationml.slideMaster+xml"/>
  <Override PartName="/ppt/slides/slide156.xml" ContentType="application/vnd.openxmlformats-officedocument.presentationml.slide+xml"/>
  <Override PartName="/ppt/slideMasters/slideMaster157.xml" ContentType="application/vnd.openxmlformats-officedocument.presentationml.slideMaster+xml"/>
  <Override PartName="/ppt/slides/slide157.xml" ContentType="application/vnd.openxmlformats-officedocument.presentationml.slide+xml"/>
  <Override PartName="/ppt/slideMasters/slideMaster158.xml" ContentType="application/vnd.openxmlformats-officedocument.presentationml.slideMaster+xml"/>
  <Override PartName="/ppt/slides/slide158.xml" ContentType="application/vnd.openxmlformats-officedocument.presentationml.slide+xml"/>
  <Override PartName="/ppt/slideMasters/slideMaster159.xml" ContentType="application/vnd.openxmlformats-officedocument.presentationml.slideMaster+xml"/>
  <Override PartName="/ppt/slides/slide159.xml" ContentType="application/vnd.openxmlformats-officedocument.presentationml.slide+xml"/>
  <Override PartName="/ppt/slideMasters/slideMaster160.xml" ContentType="application/vnd.openxmlformats-officedocument.presentationml.slideMaster+xml"/>
  <Override PartName="/ppt/slides/slide160.xml" ContentType="application/vnd.openxmlformats-officedocument.presentationml.slide+xml"/>
  <Override PartName="/ppt/slideMasters/slideMaster161.xml" ContentType="application/vnd.openxmlformats-officedocument.presentationml.slideMaster+xml"/>
  <Override PartName="/ppt/slides/slide16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Lst>
  <p:notesMasterIdLst>
    <p:notesMasterId r:id="rId16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1e94a790-6453-9f6c-a0fd-acd429865b72}">
          <p14:sldIdLst>
            <p14:sldId id="256"/>
            <p14:sldId id="257"/>
          </p14:sldIdLst>
        </p14:section>
        <p14:section name="Introduction" id="{91f46b95-dffe-0a7a-a2fe-7bcaa42106ec}">
          <p14:sldIdLst>
            <p14:sldId id="258"/>
            <p14:sldId id="259"/>
            <p14:sldId id="260"/>
            <p14:sldId id="261"/>
            <p14:sldId id="262"/>
            <p14:sldId id="263"/>
            <p14:sldId id="264"/>
          </p14:sldIdLst>
        </p14:section>
        <p14:section name="What Is a Model?" id="{14df813f-9e1d-1828-6e66-2a161074143c}">
          <p14:sldIdLst>
            <p14:sldId id="265"/>
            <p14:sldId id="266"/>
            <p14:sldId id="267"/>
            <p14:sldId id="268"/>
            <p14:sldId id="269"/>
            <p14:sldId id="270"/>
            <p14:sldId id="271"/>
            <p14:sldId id="272"/>
            <p14:sldId id="273"/>
            <p14:sldId id="274"/>
            <p14:sldId id="275"/>
            <p14:sldId id="276"/>
            <p14:sldId id="277"/>
            <p14:sldId id="278"/>
            <p14:sldId id="279"/>
            <p14:sldId id="280"/>
            <p14:sldId id="281"/>
          </p14:sldIdLst>
        </p14:section>
        <p14:section name="Why Not Just Use Your Laptop?" id="{a17b7112-ada5-7509-d819-2b3abf569923}">
          <p14:sldIdLst>
            <p14:sldId id="282"/>
            <p14:sldId id="283"/>
            <p14:sldId id="284"/>
            <p14:sldId id="285"/>
            <p14:sldId id="286"/>
            <p14:sldId id="287"/>
            <p14:sldId id="288"/>
            <p14:sldId id="289"/>
            <p14:sldId id="290"/>
            <p14:sldId id="291"/>
            <p14:sldId id="292"/>
            <p14:sldId id="293"/>
            <p14:sldId id="294"/>
            <p14:sldId id="295"/>
            <p14:sldId id="296"/>
            <p14:sldId id="297"/>
            <p14:sldId id="298"/>
            <p14:sldId id="299"/>
            <p14:sldId id="300"/>
            <p14:sldId id="301"/>
            <p14:sldId id="302"/>
            <p14:sldId id="303"/>
            <p14:sldId id="304"/>
            <p14:sldId id="305"/>
            <p14:sldId id="306"/>
            <p14:sldId id="307"/>
          </p14:sldIdLst>
        </p14:section>
        <p14:section name="From Script to Model Server" id="{99c9919a-4fdb-e283-bcd9-eecde60e5ef1}">
          <p14:sldIdLst>
            <p14:sldId id="308"/>
            <p14:sldId id="309"/>
            <p14:sldId id="310"/>
            <p14:sldId id="311"/>
            <p14:sldId id="312"/>
            <p14:sldId id="313"/>
            <p14:sldId id="314"/>
            <p14:sldId id="315"/>
            <p14:sldId id="316"/>
            <p14:sldId id="317"/>
            <p14:sldId id="318"/>
            <p14:sldId id="319"/>
            <p14:sldId id="320"/>
            <p14:sldId id="321"/>
            <p14:sldId id="322"/>
            <p14:sldId id="323"/>
            <p14:sldId id="324"/>
            <p14:sldId id="325"/>
          </p14:sldIdLst>
        </p14:section>
        <p14:section name="Prefill, Decode &amp; the KV Cache" id="{4b0d3c9e-dc19-d2fe-8c5e-f19392926257}">
          <p14:sldIdLst>
            <p14:sldId id="326"/>
            <p14:sldId id="327"/>
            <p14:sldId id="328"/>
            <p14:sldId id="329"/>
            <p14:sldId id="330"/>
            <p14:sldId id="331"/>
            <p14:sldId id="332"/>
            <p14:sldId id="333"/>
            <p14:sldId id="334"/>
            <p14:sldId id="335"/>
            <p14:sldId id="336"/>
            <p14:sldId id="337"/>
            <p14:sldId id="338"/>
            <p14:sldId id="339"/>
            <p14:sldId id="340"/>
            <p14:sldId id="341"/>
            <p14:sldId id="342"/>
            <p14:sldId id="343"/>
            <p14:sldId id="344"/>
          </p14:sldIdLst>
        </p14:section>
        <p14:section name="Batching: Many Users, One GPU" id="{e2a07ea5-7b2d-55f3-779b-8a440e70ca5c}">
          <p14:sldIdLst>
            <p14:sldId id="345"/>
            <p14:sldId id="346"/>
            <p14:sldId id="347"/>
            <p14:sldId id="348"/>
            <p14:sldId id="349"/>
            <p14:sldId id="350"/>
            <p14:sldId id="351"/>
            <p14:sldId id="352"/>
            <p14:sldId id="353"/>
            <p14:sldId id="354"/>
            <p14:sldId id="355"/>
          </p14:sldIdLst>
        </p14:section>
        <p14:section name="Sharding Giant Models" id="{20c922b1-20ee-621a-0968-0b3b13064c3c}">
          <p14:sldIdLst>
            <p14:sldId id="356"/>
            <p14:sldId id="357"/>
            <p14:sldId id="358"/>
            <p14:sldId id="359"/>
            <p14:sldId id="360"/>
            <p14:sldId id="361"/>
            <p14:sldId id="362"/>
            <p14:sldId id="363"/>
            <p14:sldId id="364"/>
            <p14:sldId id="365"/>
            <p14:sldId id="366"/>
            <p14:sldId id="367"/>
          </p14:sldIdLst>
        </p14:section>
        <p14:section name="Fleets &amp; Why Load Balancing Breaks" id="{5700280f-ddd3-d3d2-89f2-a8012e28112c}">
          <p14:sldIdLst>
            <p14:sldId id="368"/>
            <p14:sldId id="369"/>
            <p14:sldId id="370"/>
            <p14:sldId id="371"/>
            <p14:sldId id="372"/>
            <p14:sldId id="373"/>
            <p14:sldId id="374"/>
            <p14:sldId id="375"/>
            <p14:sldId id="376"/>
            <p14:sldId id="377"/>
            <p14:sldId id="378"/>
          </p14:sldIdLst>
        </p14:section>
        <p14:section name="llm-d: Smart Routing for LLMs" id="{a2036d2e-4613-8fc5-9c04-bb144b693a82}">
          <p14:sldIdLst>
            <p14:sldId id="379"/>
            <p14:sldId id="380"/>
            <p14:sldId id="381"/>
            <p14:sldId id="382"/>
            <p14:sldId id="383"/>
            <p14:sldId id="384"/>
            <p14:sldId id="385"/>
            <p14:sldId id="386"/>
            <p14:sldId id="387"/>
            <p14:sldId id="388"/>
            <p14:sldId id="389"/>
          </p14:sldIdLst>
        </p14:section>
        <p14:section name="Running llm-d on Kubernetes" id="{e7f71bbd-eb92-e919-e652-d6eb14ba6aa6}">
          <p14:sldIdLst>
            <p14:sldId id="390"/>
            <p14:sldId id="391"/>
            <p14:sldId id="392"/>
            <p14:sldId id="393"/>
            <p14:sldId id="394"/>
            <p14:sldId id="395"/>
            <p14:sldId id="396"/>
            <p14:sldId id="397"/>
            <p14:sldId id="398"/>
            <p14:sldId id="399"/>
            <p14:sldId id="400"/>
            <p14:sldId id="401"/>
            <p14:sldId id="402"/>
            <p14:sldId id="403"/>
            <p14:sldId id="404"/>
            <p14:sldId id="405"/>
            <p14:sldId id="406"/>
            <p14:sldId id="407"/>
          </p14:sldIdLst>
        </p14:section>
        <p14:section name="Where You Go From Here" id="{68c094c3-5fec-5dab-b692-8d0a892b242d}">
          <p14:sldIdLst>
            <p14:sldId id="408"/>
            <p14:sldId id="409"/>
            <p14:sldId id="410"/>
            <p14:sldId id="411"/>
            <p14:sldId id="412"/>
            <p14:sldId id="413"/>
            <p14:sldId id="414"/>
            <p14:sldId id="415"/>
            <p14:sldId id="41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notesMaster" Target="notesMasters/notesMaster1.xml"/><Relationship Id="rId164" Type="http://schemas.openxmlformats.org/officeDocument/2006/relationships/presProps" Target="presProps.xml"/><Relationship Id="rId165" Type="http://schemas.openxmlformats.org/officeDocument/2006/relationships/viewProps" Target="viewProps.xml"/><Relationship Id="rId166" Type="http://schemas.openxmlformats.org/officeDocument/2006/relationships/theme" Target="theme/theme1.xml"/><Relationship Id="rId16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_rels/notesSlide1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5.xml"/>
		</Relationships>
</file>

<file path=ppt/notesSlides/_rels/notesSlide1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6.xml"/>
		</Relationships>
</file>

<file path=ppt/notesSlides/_rels/notesSlide1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7.xml"/>
		</Relationships>
</file>

<file path=ppt/notesSlides/_rels/notesSlide1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8.xml"/>
		</Relationships>
</file>

<file path=ppt/notesSlides/_rels/notesSlide1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9.xml"/>
		</Relationships>
</file>

<file path=ppt/notesSlides/_rels/notesSlide1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0.xml"/>
		</Relationships>
</file>

<file path=ppt/notesSlides/_rels/notesSlide1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1.xml"/>
		</Relationships>
</file>

<file path=ppt/notesSlides/_rels/notesSlide1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2.xml"/>
		</Relationships>
</file>

<file path=ppt/notesSlides/_rels/notesSlide1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3.xml"/>
		</Relationships>
</file>

<file path=ppt/notesSlides/_rels/notesSlide1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4.xml"/>
		</Relationships>
</file>

<file path=ppt/notesSlides/_rels/notesSlide1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5.xml"/>
		</Relationships>
</file>

<file path=ppt/notesSlides/_rels/notesSlide1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6.xml"/>
		</Relationships>
</file>

<file path=ppt/notesSlides/_rels/notesSlide1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7.xml"/>
		</Relationships>
</file>

<file path=ppt/notesSlides/_rels/notesSlide1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8.xml"/>
		</Relationships>
</file>

<file path=ppt/notesSlides/_rels/notesSlide1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9.xml"/>
		</Relationships>
</file>

<file path=ppt/notesSlides/_rels/notesSlide1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0.xml"/>
		</Relationships>
</file>

<file path=ppt/notesSlides/_rels/notesSlide1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CONTENT-image-1.jpe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ECTION-image-1.jpe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COVER-image-1.jpe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rtlCol="0"/>
          <a:lstStyle>
            <a:lvl1pPr algn="l" indent="0" marL="0">
              <a:buNone/>
              <a:defRPr lang="en-US" sz="3000" b="1" dirty="0">
                <a:solidFill>
                  <a:srgbClr val="FFFFFF"/>
                </a:solidFill>
                <a:latin typeface="Calibri" pitchFamily="34" charset="0"/>
                <a:ea typeface="Calibri" pitchFamily="34" charset="-122"/>
                <a:cs typeface="Calibri" pitchFamily="34" charset="-120"/>
              </a:defRPr>
            </a:lvl1pPr>
          </a:lstStyle>
          <a:p>
            <a:pPr algn="l" indent="0" marL="0">
              <a:buNone/>
            </a:pP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rtlCol="0"/>
          <a:lstStyle>
            <a:lvl1pPr algn="l" indent="0" marL="0">
              <a:buNone/>
              <a:defRPr lang="en-US" sz="1700" dirty="0">
                <a:solidFill>
                  <a:srgbClr val="22D3EE"/>
                </a:solidFill>
                <a:latin typeface="Calibri" pitchFamily="34" charset="0"/>
                <a:ea typeface="Calibri" pitchFamily="34" charset="-122"/>
                <a:cs typeface="Calibri" pitchFamily="34" charset="-120"/>
              </a:defRPr>
            </a:lvl1pPr>
          </a:lstStyle>
          <a:p>
            <a:pPr algn="l" indent="0" marL="0">
              <a:buNone/>
            </a:pPr>
            <a:endParaRPr lang="en-US" sz="17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834640"/>
            <a:ext cx="5669280" cy="1371600"/>
          </a:xfrm>
          <a:prstGeom prst="rect">
            <a:avLst/>
          </a:prstGeom>
          <a:noFill/>
          <a:ln/>
        </p:spPr>
        <p:txBody>
          <a:bodyPr wrap="square" rtlCol="0"/>
          <a:lstStyle>
            <a:lvl1pPr algn="l" indent="0" marL="0">
              <a:buNone/>
              <a:defRPr lang="en-US" sz="4000" b="1" dirty="0">
                <a:solidFill>
                  <a:srgbClr val="FFFFFF"/>
                </a:solidFill>
                <a:latin typeface="Calibri" pitchFamily="34" charset="0"/>
                <a:ea typeface="Calibri" pitchFamily="34" charset="-122"/>
                <a:cs typeface="Calibri" pitchFamily="34" charset="-120"/>
              </a:defRPr>
            </a:lvl1pPr>
          </a:lstStyle>
          <a:p>
            <a:pPr algn="l" indent="0" marL="0">
              <a:buNone/>
            </a:pPr>
            <a:endParaRPr lang="en-US" sz="4000" dirty="0"/>
          </a:p>
        </p:txBody>
      </p:sp>
      <p:sp>
        <p:nvSpPr>
          <p:cNvPr id="3" name="Text 0"/>
          <p:cNvSpPr/>
          <p:nvPr>
            <p:ph idx="101" type="body" hasCustomPrompt="1"/>
          </p:nvPr>
        </p:nvSpPr>
        <p:spPr>
          <a:xfrm>
            <a:off x="731520" y="4251960"/>
            <a:ext cx="5120640" cy="822960"/>
          </a:xfrm>
          <a:prstGeom prst="rect">
            <a:avLst/>
          </a:prstGeom>
          <a:noFill/>
          <a:ln/>
        </p:spPr>
        <p:txBody>
          <a:bodyPr wrap="square" rtlCol="0"/>
          <a:lstStyle>
            <a:lvl1pPr algn="l" indent="0" marL="0">
              <a:buNone/>
              <a:defRPr lang="en-US" sz="2000" dirty="0">
                <a:solidFill>
                  <a:srgbClr val="22D3EE"/>
                </a:solidFill>
                <a:latin typeface="Calibri" pitchFamily="34" charset="0"/>
                <a:ea typeface="Calibri" pitchFamily="34" charset="-122"/>
                <a:cs typeface="Calibri" pitchFamily="34" charset="-120"/>
              </a:defRPr>
            </a:lvl1pPr>
          </a:lstStyle>
          <a:p>
            <a:pPr algn="l" indent="0" marL="0">
              <a:buNone/>
            </a:pPr>
            <a:endParaRPr lang="en-US" sz="20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097280"/>
            <a:ext cx="10698480" cy="914400"/>
          </a:xfrm>
          <a:prstGeom prst="rect">
            <a:avLst/>
          </a:prstGeom>
          <a:noFill/>
          <a:ln/>
        </p:spPr>
        <p:txBody>
          <a:bodyPr wrap="square" rtlCol="0"/>
          <a:lstStyle>
            <a:lvl1pPr algn="l" indent="0" marL="0">
              <a:buNone/>
              <a:defRPr lang="en-US" sz="4800" b="1" dirty="0">
                <a:solidFill>
                  <a:srgbClr val="FFFFFF"/>
                </a:solidFill>
                <a:latin typeface="Calibri" pitchFamily="34" charset="0"/>
                <a:ea typeface="Calibri" pitchFamily="34" charset="-122"/>
                <a:cs typeface="Calibri" pitchFamily="34" charset="-120"/>
              </a:defRPr>
            </a:lvl1pPr>
          </a:lstStyle>
          <a:p>
            <a:pPr algn="l" indent="0" marL="0">
              <a:buNone/>
            </a:pPr>
            <a:endParaRPr lang="en-US" sz="4800" dirty="0"/>
          </a:p>
        </p:txBody>
      </p:sp>
      <p:sp>
        <p:nvSpPr>
          <p:cNvPr id="3" name="Text 0"/>
          <p:cNvSpPr/>
          <p:nvPr>
            <p:ph idx="101" type="body" hasCustomPrompt="1"/>
          </p:nvPr>
        </p:nvSpPr>
        <p:spPr>
          <a:xfrm>
            <a:off x="731520" y="2011680"/>
            <a:ext cx="10698480" cy="548640"/>
          </a:xfrm>
          <a:prstGeom prst="rect">
            <a:avLst/>
          </a:prstGeom>
          <a:noFill/>
          <a:ln/>
        </p:spPr>
        <p:txBody>
          <a:bodyPr wrap="square" rtlCol="0"/>
          <a:lstStyle>
            <a:lvl1pPr algn="l" indent="0" marL="0">
              <a:buNone/>
              <a:defRPr lang="en-US" sz="2200" dirty="0">
                <a:solidFill>
                  <a:srgbClr val="22D3EE"/>
                </a:solidFill>
                <a:latin typeface="Calibri" pitchFamily="34" charset="0"/>
                <a:ea typeface="Calibri" pitchFamily="34" charset="-122"/>
                <a:cs typeface="Calibri" pitchFamily="34" charset="-120"/>
              </a:defRPr>
            </a:lvl1pPr>
          </a:lstStyle>
          <a:p>
            <a:pPr algn="l" indent="0" marL="0">
              <a:buNone/>
            </a:pPr>
            <a:endParaRPr lang="en-US" sz="2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4.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3.xml"/><Relationship Id="rId3" Type="http://schemas.openxmlformats.org/officeDocument/2006/relationships/slide" Target="slide10.xml"/><Relationship Id="rId4" Type="http://schemas.openxmlformats.org/officeDocument/2006/relationships/slide" Target="slide10.xml"/><Relationship Id="rId5" Type="http://schemas.openxmlformats.org/officeDocument/2006/relationships/slide" Target="slide27.xml"/><Relationship Id="rId6" Type="http://schemas.openxmlformats.org/officeDocument/2006/relationships/slide" Target="slide27.xml"/><Relationship Id="rId7" Type="http://schemas.openxmlformats.org/officeDocument/2006/relationships/slide" Target="slide53.xml"/><Relationship Id="rId8" Type="http://schemas.openxmlformats.org/officeDocument/2006/relationships/slide" Target="slide53.xml"/><Relationship Id="rId9" Type="http://schemas.openxmlformats.org/officeDocument/2006/relationships/slide" Target="slide71.xml"/><Relationship Id="rId10" Type="http://schemas.openxmlformats.org/officeDocument/2006/relationships/slide" Target="slide71.xml"/><Relationship Id="rId11" Type="http://schemas.openxmlformats.org/officeDocument/2006/relationships/slide" Target="slide90.xml"/><Relationship Id="rId12" Type="http://schemas.openxmlformats.org/officeDocument/2006/relationships/slide" Target="slide90.xml"/><Relationship Id="rId13" Type="http://schemas.openxmlformats.org/officeDocument/2006/relationships/slide" Target="slide101.xml"/><Relationship Id="rId14" Type="http://schemas.openxmlformats.org/officeDocument/2006/relationships/slide" Target="slide101.xml"/><Relationship Id="rId15" Type="http://schemas.openxmlformats.org/officeDocument/2006/relationships/slide" Target="slide113.xml"/><Relationship Id="rId16" Type="http://schemas.openxmlformats.org/officeDocument/2006/relationships/slide" Target="slide113.xml"/><Relationship Id="rId17" Type="http://schemas.openxmlformats.org/officeDocument/2006/relationships/slide" Target="slide124.xml"/><Relationship Id="rId18" Type="http://schemas.openxmlformats.org/officeDocument/2006/relationships/slide" Target="slide124.xml"/><Relationship Id="rId19" Type="http://schemas.openxmlformats.org/officeDocument/2006/relationships/slide" Target="slide135.xml"/><Relationship Id="rId20" Type="http://schemas.openxmlformats.org/officeDocument/2006/relationships/slide" Target="slide135.xml"/><Relationship Id="rId21" Type="http://schemas.openxmlformats.org/officeDocument/2006/relationships/slide" Target="slide153.xml"/><Relationship Id="rId22" Type="http://schemas.openxmlformats.org/officeDocument/2006/relationships/slide" Target="slide153.xml"/><Relationship Id="rId23" Type="http://schemas.openxmlformats.org/officeDocument/2006/relationships/slideLayout" Target="../slideLayouts/slideLayout2.xml"/><Relationship Id="rId2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image" Target="../media/image-3-1.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6" Type="http://schemas.openxmlformats.org/officeDocument/2006/relationships/slide" Target="slide2.xml"/><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7" Type="http://schemas.openxmlformats.org/officeDocument/2006/relationships/slideLayout" Target="../slideLayouts/slideLayout2.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2" Type="http://schemas.openxmlformats.org/officeDocument/2006/relationships/slide" Target="slide2.xml"/><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3" Type="http://schemas.openxmlformats.org/officeDocument/2006/relationships/slideLayout" Target="../slideLayouts/slideLayout2.xml"/><Relationship Id="rId1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5" Type="http://schemas.openxmlformats.org/officeDocument/2006/relationships/slideLayout" Target="../slideLayouts/slideLayout2.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image" Target="../media/image-10-1.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5" Type="http://schemas.openxmlformats.org/officeDocument/2006/relationships/slideLayout" Target="../slideLayouts/slideLayout2.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5" Type="http://schemas.openxmlformats.org/officeDocument/2006/relationships/slideLayout" Target="../slideLayouts/slideLayout2.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5" Type="http://schemas.openxmlformats.org/officeDocument/2006/relationships/slideLayout" Target="../slideLayouts/slideLayout2.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5" Type="http://schemas.openxmlformats.org/officeDocument/2006/relationships/slideLayout" Target="../slideLayouts/slideLayout2.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5" Type="http://schemas.openxmlformats.org/officeDocument/2006/relationships/slideLayout" Target="../slideLayouts/slideLayout2.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5" Type="http://schemas.openxmlformats.org/officeDocument/2006/relationships/slideLayout" Target="../slideLayouts/slideLayout2.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5" Type="http://schemas.openxmlformats.org/officeDocument/2006/relationships/slide" Target="slide2.xml"/><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6" Type="http://schemas.openxmlformats.org/officeDocument/2006/relationships/slideLayout" Target="../slideLayouts/slideLayout2.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5" Type="http://schemas.openxmlformats.org/officeDocument/2006/relationships/slideLayout" Target="../slideLayouts/slideLayout2.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5" Type="http://schemas.openxmlformats.org/officeDocument/2006/relationships/slideLayout" Target="../slideLayouts/slideLayout2.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5" Type="http://schemas.openxmlformats.org/officeDocument/2006/relationships/slideLayout" Target="../slideLayouts/slideLayout2.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5" Type="http://schemas.openxmlformats.org/officeDocument/2006/relationships/slideLayout" Target="../slideLayouts/slideLayout2.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7" Type="http://schemas.openxmlformats.org/officeDocument/2006/relationships/slide" Target="slide2.xml"/><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8" Type="http://schemas.openxmlformats.org/officeDocument/2006/relationships/slideLayout" Target="../slideLayouts/slideLayout2.xml"/><Relationship Id="rId9"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5" Type="http://schemas.openxmlformats.org/officeDocument/2006/relationships/slideLayout" Target="../slideLayouts/slideLayout2.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5" Type="http://schemas.openxmlformats.org/officeDocument/2006/relationships/slideLayout" Target="../slideLayouts/slideLayout2.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5" Type="http://schemas.openxmlformats.org/officeDocument/2006/relationships/slide" Target="slide2.xml"/><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6" Type="http://schemas.openxmlformats.org/officeDocument/2006/relationships/slideLayout" Target="../slideLayouts/slideLayout2.xml"/><Relationship Id="rId7"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image" Target="../media/image-27-1.png"/><Relationship Id="rId3" Type="http://schemas.openxmlformats.org/officeDocument/2006/relationships/slideLayout" Target="../slideLayouts/slideLayout3.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3" Type="http://schemas.openxmlformats.org/officeDocument/2006/relationships/slide" Target="slide2.xml"/><Relationship Id="rId1" Type="http://schemas.openxmlformats.org/officeDocument/2006/relationships/image" Target="../media/image-28-1.png"/><Relationship Id="rId2" Type="http://schemas.openxmlformats.org/officeDocument/2006/relationships/image" Target="../media/image-28-2.png"/><Relationship Id="rId4" Type="http://schemas.openxmlformats.org/officeDocument/2006/relationships/slideLayout" Target="../slideLayouts/slideLayout2.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3" Type="http://schemas.openxmlformats.org/officeDocument/2006/relationships/slide" Target="slide2.xml"/><Relationship Id="rId1" Type="http://schemas.openxmlformats.org/officeDocument/2006/relationships/image" Target="../media/image-29-1.png"/><Relationship Id="rId2" Type="http://schemas.openxmlformats.org/officeDocument/2006/relationships/image" Target="../media/image-29-2.png"/><Relationship Id="rId4" Type="http://schemas.openxmlformats.org/officeDocument/2006/relationships/slideLayout" Target="../slideLayouts/slideLayout2.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5" Type="http://schemas.openxmlformats.org/officeDocument/2006/relationships/slide" Target="slide2.xml"/><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6" Type="http://schemas.openxmlformats.org/officeDocument/2006/relationships/slideLayout" Target="../slideLayouts/slideLayout2.xml"/><Relationship Id="rId7"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9" Type="http://schemas.openxmlformats.org/officeDocument/2006/relationships/slide" Target="slide2.xml"/><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image" Target="../media/image-31-6.png"/><Relationship Id="rId7" Type="http://schemas.openxmlformats.org/officeDocument/2006/relationships/image" Target="../media/image-31-7.png"/><Relationship Id="rId8" Type="http://schemas.openxmlformats.org/officeDocument/2006/relationships/image" Target="../media/image-31-8.png"/><Relationship Id="rId10" Type="http://schemas.openxmlformats.org/officeDocument/2006/relationships/slideLayout" Target="../slideLayouts/slideLayout2.xml"/><Relationship Id="rId11"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3" Type="http://schemas.openxmlformats.org/officeDocument/2006/relationships/slide" Target="slide2.xml"/><Relationship Id="rId1" Type="http://schemas.openxmlformats.org/officeDocument/2006/relationships/image" Target="../media/image-32-1.png"/><Relationship Id="rId2" Type="http://schemas.openxmlformats.org/officeDocument/2006/relationships/image" Target="../media/image-32-2.png"/><Relationship Id="rId4" Type="http://schemas.openxmlformats.org/officeDocument/2006/relationships/slideLayout" Target="../slideLayouts/slideLayout2.xml"/><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5" Type="http://schemas.openxmlformats.org/officeDocument/2006/relationships/slideLayout" Target="../slideLayouts/slideLayout2.xml"/><Relationship Id="rId6"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5" Type="http://schemas.openxmlformats.org/officeDocument/2006/relationships/slideLayout" Target="../slideLayouts/slideLayout2.xml"/><Relationship Id="rId6"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3" Type="http://schemas.openxmlformats.org/officeDocument/2006/relationships/slide" Target="slide2.xml"/><Relationship Id="rId1" Type="http://schemas.openxmlformats.org/officeDocument/2006/relationships/image" Target="../media/image-35-1.png"/><Relationship Id="rId2" Type="http://schemas.openxmlformats.org/officeDocument/2006/relationships/image" Target="../media/image-35-2.png"/><Relationship Id="rId4" Type="http://schemas.openxmlformats.org/officeDocument/2006/relationships/slideLayout" Target="../slideLayouts/slideLayout2.xml"/><Relationship Id="rId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9" Type="http://schemas.openxmlformats.org/officeDocument/2006/relationships/slide" Target="slide2.xml"/><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image" Target="../media/image-36-5.png"/><Relationship Id="rId6" Type="http://schemas.openxmlformats.org/officeDocument/2006/relationships/image" Target="../media/image-36-6.png"/><Relationship Id="rId7" Type="http://schemas.openxmlformats.org/officeDocument/2006/relationships/image" Target="../media/image-36-7.png"/><Relationship Id="rId8" Type="http://schemas.openxmlformats.org/officeDocument/2006/relationships/image" Target="../media/image-36-8.png"/><Relationship Id="rId10" Type="http://schemas.openxmlformats.org/officeDocument/2006/relationships/slideLayout" Target="../slideLayouts/slideLayout2.xml"/><Relationship Id="rId11"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5" Type="http://schemas.openxmlformats.org/officeDocument/2006/relationships/slideLayout" Target="../slideLayouts/slideLayout2.xml"/><Relationship Id="rId6"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7" Type="http://schemas.openxmlformats.org/officeDocument/2006/relationships/slide" Target="slide2.xml"/><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image" Target="../media/image-38-6.png"/><Relationship Id="rId8" Type="http://schemas.openxmlformats.org/officeDocument/2006/relationships/slideLayout" Target="../slideLayouts/slideLayout2.xml"/><Relationship Id="rId9"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5" Type="http://schemas.openxmlformats.org/officeDocument/2006/relationships/slide" Target="slide2.xml"/><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6" Type="http://schemas.openxmlformats.org/officeDocument/2006/relationships/slideLayout" Target="../slideLayouts/slideLayout2.xml"/><Relationship Id="rId7"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5" Type="http://schemas.openxmlformats.org/officeDocument/2006/relationships/slideLayout" Target="../slideLayouts/slideLayout2.xml"/><Relationship Id="rId6"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5" Type="http://schemas.openxmlformats.org/officeDocument/2006/relationships/slideLayout" Target="../slideLayouts/slideLayout2.xml"/><Relationship Id="rId6"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5" Type="http://schemas.openxmlformats.org/officeDocument/2006/relationships/slideLayout" Target="../slideLayouts/slideLayout2.xml"/><Relationship Id="rId6"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3" Type="http://schemas.openxmlformats.org/officeDocument/2006/relationships/slide" Target="slide2.xml"/><Relationship Id="rId1" Type="http://schemas.openxmlformats.org/officeDocument/2006/relationships/image" Target="../media/image-43-1.png"/><Relationship Id="rId2" Type="http://schemas.openxmlformats.org/officeDocument/2006/relationships/image" Target="../media/image-43-2.png"/><Relationship Id="rId4" Type="http://schemas.openxmlformats.org/officeDocument/2006/relationships/slideLayout" Target="../slideLayouts/slideLayout2.xml"/><Relationship Id="rId5"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5" Type="http://schemas.openxmlformats.org/officeDocument/2006/relationships/slideLayout" Target="../slideLayouts/slideLayout2.xml"/><Relationship Id="rId6"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5" Type="http://schemas.openxmlformats.org/officeDocument/2006/relationships/slideLayout" Target="../slideLayouts/slideLayout2.xml"/><Relationship Id="rId6"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5" Type="http://schemas.openxmlformats.org/officeDocument/2006/relationships/slideLayout" Target="../slideLayouts/slideLayout2.xml"/><Relationship Id="rId6"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5" Type="http://schemas.openxmlformats.org/officeDocument/2006/relationships/slideLayout" Target="../slideLayouts/slideLayout2.xml"/><Relationship Id="rId6"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image" Target="../media/image-48-3.png"/><Relationship Id="rId5" Type="http://schemas.openxmlformats.org/officeDocument/2006/relationships/slideLayout" Target="../slideLayouts/slideLayout2.xml"/><Relationship Id="rId6"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5" Type="http://schemas.openxmlformats.org/officeDocument/2006/relationships/slide" Target="slide2.xml"/><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image" Target="../media/image-49-3.png"/><Relationship Id="rId4" Type="http://schemas.openxmlformats.org/officeDocument/2006/relationships/image" Target="../media/image-49-4.png"/><Relationship Id="rId6" Type="http://schemas.openxmlformats.org/officeDocument/2006/relationships/slideLayout" Target="../slideLayouts/slideLayout2.xml"/><Relationship Id="rId7"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3" Type="http://schemas.openxmlformats.org/officeDocument/2006/relationships/slide" Target="slide2.xml"/><Relationship Id="rId1" Type="http://schemas.openxmlformats.org/officeDocument/2006/relationships/image" Target="../media/image-50-1.png"/><Relationship Id="rId2" Type="http://schemas.openxmlformats.org/officeDocument/2006/relationships/image" Target="../media/image-50-2.png"/><Relationship Id="rId4" Type="http://schemas.openxmlformats.org/officeDocument/2006/relationships/slideLayout" Target="../slideLayouts/slideLayout2.xml"/><Relationship Id="rId5"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image" Target="../media/image-51-3.png"/><Relationship Id="rId5" Type="http://schemas.openxmlformats.org/officeDocument/2006/relationships/slideLayout" Target="../slideLayouts/slideLayout2.xml"/><Relationship Id="rId6"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5" Type="http://schemas.openxmlformats.org/officeDocument/2006/relationships/slide" Target="slide2.xml"/><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image" Target="../media/image-52-3.png"/><Relationship Id="rId4" Type="http://schemas.openxmlformats.org/officeDocument/2006/relationships/image" Target="../media/image-52-4.png"/><Relationship Id="rId6" Type="http://schemas.openxmlformats.org/officeDocument/2006/relationships/slideLayout" Target="../slideLayouts/slideLayout2.xml"/><Relationship Id="rId7"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image" Target="../media/image-53-1.png"/><Relationship Id="rId3" Type="http://schemas.openxmlformats.org/officeDocument/2006/relationships/slideLayout" Target="../slideLayouts/slideLayout3.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image" Target="../media/image-54-3.png"/><Relationship Id="rId5" Type="http://schemas.openxmlformats.org/officeDocument/2006/relationships/slideLayout" Target="../slideLayouts/slideLayout2.xml"/><Relationship Id="rId6"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image" Target="../media/image-55-3.png"/><Relationship Id="rId5" Type="http://schemas.openxmlformats.org/officeDocument/2006/relationships/slideLayout" Target="../slideLayouts/slideLayout2.xml"/><Relationship Id="rId6"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image" Target="../media/image-56-3.png"/><Relationship Id="rId5" Type="http://schemas.openxmlformats.org/officeDocument/2006/relationships/slideLayout" Target="../slideLayouts/slideLayout2.xml"/><Relationship Id="rId6"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image" Target="../media/image-57-3.png"/><Relationship Id="rId5" Type="http://schemas.openxmlformats.org/officeDocument/2006/relationships/slideLayout" Target="../slideLayouts/slideLayout2.xml"/><Relationship Id="rId6"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58-1.png"/><Relationship Id="rId2" Type="http://schemas.openxmlformats.org/officeDocument/2006/relationships/image" Target="../media/image-58-2.png"/><Relationship Id="rId3" Type="http://schemas.openxmlformats.org/officeDocument/2006/relationships/image" Target="../media/image-58-3.png"/><Relationship Id="rId5" Type="http://schemas.openxmlformats.org/officeDocument/2006/relationships/slideLayout" Target="../slideLayouts/slideLayout2.xml"/><Relationship Id="rId6"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image" Target="../media/image-59-3.png"/><Relationship Id="rId5" Type="http://schemas.openxmlformats.org/officeDocument/2006/relationships/slideLayout" Target="../slideLayouts/slideLayout2.xml"/><Relationship Id="rId6"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image" Target="../media/image-60-3.png"/><Relationship Id="rId5" Type="http://schemas.openxmlformats.org/officeDocument/2006/relationships/slideLayout" Target="../slideLayouts/slideLayout2.xml"/><Relationship Id="rId6"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image" Target="../media/image-61-3.png"/><Relationship Id="rId5" Type="http://schemas.openxmlformats.org/officeDocument/2006/relationships/slideLayout" Target="../slideLayouts/slideLayout2.xml"/><Relationship Id="rId6"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5" Type="http://schemas.openxmlformats.org/officeDocument/2006/relationships/slide" Target="slide2.xml"/><Relationship Id="rId1" Type="http://schemas.openxmlformats.org/officeDocument/2006/relationships/image" Target="../media/image-62-1.png"/><Relationship Id="rId2" Type="http://schemas.openxmlformats.org/officeDocument/2006/relationships/image" Target="../media/image-62-2.png"/><Relationship Id="rId3" Type="http://schemas.openxmlformats.org/officeDocument/2006/relationships/image" Target="../media/image-62-3.png"/><Relationship Id="rId4" Type="http://schemas.openxmlformats.org/officeDocument/2006/relationships/image" Target="../media/image-62-4.png"/><Relationship Id="rId6" Type="http://schemas.openxmlformats.org/officeDocument/2006/relationships/slideLayout" Target="../slideLayouts/slideLayout2.xml"/><Relationship Id="rId7"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63-1.png"/><Relationship Id="rId2" Type="http://schemas.openxmlformats.org/officeDocument/2006/relationships/image" Target="../media/image-63-2.png"/><Relationship Id="rId3" Type="http://schemas.openxmlformats.org/officeDocument/2006/relationships/image" Target="../media/image-63-3.png"/><Relationship Id="rId5" Type="http://schemas.openxmlformats.org/officeDocument/2006/relationships/slideLayout" Target="../slideLayouts/slideLayout2.xml"/><Relationship Id="rId6"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64-1.png"/><Relationship Id="rId2" Type="http://schemas.openxmlformats.org/officeDocument/2006/relationships/image" Target="../media/image-64-2.png"/><Relationship Id="rId3" Type="http://schemas.openxmlformats.org/officeDocument/2006/relationships/image" Target="../media/image-64-3.png"/><Relationship Id="rId5" Type="http://schemas.openxmlformats.org/officeDocument/2006/relationships/slideLayout" Target="../slideLayouts/slideLayout2.xml"/><Relationship Id="rId6"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65-1.png"/><Relationship Id="rId2" Type="http://schemas.openxmlformats.org/officeDocument/2006/relationships/image" Target="../media/image-65-2.png"/><Relationship Id="rId3" Type="http://schemas.openxmlformats.org/officeDocument/2006/relationships/image" Target="../media/image-65-3.png"/><Relationship Id="rId5" Type="http://schemas.openxmlformats.org/officeDocument/2006/relationships/slideLayout" Target="../slideLayouts/slideLayout2.xml"/><Relationship Id="rId6"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5" Type="http://schemas.openxmlformats.org/officeDocument/2006/relationships/slide" Target="slide2.xml"/><Relationship Id="rId1" Type="http://schemas.openxmlformats.org/officeDocument/2006/relationships/image" Target="../media/image-66-1.png"/><Relationship Id="rId2" Type="http://schemas.openxmlformats.org/officeDocument/2006/relationships/image" Target="../media/image-66-2.png"/><Relationship Id="rId3" Type="http://schemas.openxmlformats.org/officeDocument/2006/relationships/image" Target="../media/image-66-3.png"/><Relationship Id="rId4" Type="http://schemas.openxmlformats.org/officeDocument/2006/relationships/image" Target="../media/image-66-4.png"/><Relationship Id="rId6" Type="http://schemas.openxmlformats.org/officeDocument/2006/relationships/slideLayout" Target="../slideLayouts/slideLayout2.xml"/><Relationship Id="rId7"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3" Type="http://schemas.openxmlformats.org/officeDocument/2006/relationships/slide" Target="slide2.xml"/><Relationship Id="rId1" Type="http://schemas.openxmlformats.org/officeDocument/2006/relationships/image" Target="../media/image-67-1.png"/><Relationship Id="rId2" Type="http://schemas.openxmlformats.org/officeDocument/2006/relationships/image" Target="../media/image-67-2.png"/><Relationship Id="rId4" Type="http://schemas.openxmlformats.org/officeDocument/2006/relationships/slideLayout" Target="../slideLayouts/slideLayout2.xml"/><Relationship Id="rId5"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68-1.png"/><Relationship Id="rId2" Type="http://schemas.openxmlformats.org/officeDocument/2006/relationships/image" Target="../media/image-68-2.png"/><Relationship Id="rId3" Type="http://schemas.openxmlformats.org/officeDocument/2006/relationships/image" Target="../media/image-68-3.png"/><Relationship Id="rId5" Type="http://schemas.openxmlformats.org/officeDocument/2006/relationships/slideLayout" Target="../slideLayouts/slideLayout2.xml"/><Relationship Id="rId6"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69-1.png"/><Relationship Id="rId2" Type="http://schemas.openxmlformats.org/officeDocument/2006/relationships/image" Target="../media/image-69-2.png"/><Relationship Id="rId3" Type="http://schemas.openxmlformats.org/officeDocument/2006/relationships/image" Target="../media/image-69-3.png"/><Relationship Id="rId5" Type="http://schemas.openxmlformats.org/officeDocument/2006/relationships/slideLayout" Target="../slideLayouts/slideLayout2.xml"/><Relationship Id="rId6"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5" Type="http://schemas.openxmlformats.org/officeDocument/2006/relationships/slide" Target="slide2.xml"/><Relationship Id="rId1" Type="http://schemas.openxmlformats.org/officeDocument/2006/relationships/image" Target="../media/image-70-1.png"/><Relationship Id="rId2" Type="http://schemas.openxmlformats.org/officeDocument/2006/relationships/image" Target="../media/image-70-2.png"/><Relationship Id="rId3" Type="http://schemas.openxmlformats.org/officeDocument/2006/relationships/image" Target="../media/image-70-3.png"/><Relationship Id="rId4" Type="http://schemas.openxmlformats.org/officeDocument/2006/relationships/image" Target="../media/image-70-4.png"/><Relationship Id="rId6" Type="http://schemas.openxmlformats.org/officeDocument/2006/relationships/slideLayout" Target="../slideLayouts/slideLayout2.xml"/><Relationship Id="rId7"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image" Target="../media/image-71-1.png"/><Relationship Id="rId3" Type="http://schemas.openxmlformats.org/officeDocument/2006/relationships/slideLayout" Target="../slideLayouts/slideLayout3.xml"/><Relationship Id="rId4"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3" Type="http://schemas.openxmlformats.org/officeDocument/2006/relationships/slide" Target="slide2.xml"/><Relationship Id="rId1" Type="http://schemas.openxmlformats.org/officeDocument/2006/relationships/image" Target="../media/image-72-1.png"/><Relationship Id="rId2" Type="http://schemas.openxmlformats.org/officeDocument/2006/relationships/image" Target="../media/image-72-2.png"/><Relationship Id="rId4" Type="http://schemas.openxmlformats.org/officeDocument/2006/relationships/slideLayout" Target="../slideLayouts/slideLayout2.xml"/><Relationship Id="rId5"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73-1.png"/><Relationship Id="rId2" Type="http://schemas.openxmlformats.org/officeDocument/2006/relationships/image" Target="../media/image-73-2.png"/><Relationship Id="rId3" Type="http://schemas.openxmlformats.org/officeDocument/2006/relationships/image" Target="../media/image-73-3.png"/><Relationship Id="rId5" Type="http://schemas.openxmlformats.org/officeDocument/2006/relationships/slideLayout" Target="../slideLayouts/slideLayout2.xml"/><Relationship Id="rId6"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3" Type="http://schemas.openxmlformats.org/officeDocument/2006/relationships/slide" Target="slide2.xml"/><Relationship Id="rId1" Type="http://schemas.openxmlformats.org/officeDocument/2006/relationships/image" Target="../media/image-74-1.png"/><Relationship Id="rId2" Type="http://schemas.openxmlformats.org/officeDocument/2006/relationships/image" Target="../media/image-74-2.png"/><Relationship Id="rId4" Type="http://schemas.openxmlformats.org/officeDocument/2006/relationships/slideLayout" Target="../slideLayouts/slideLayout2.xml"/><Relationship Id="rId5"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75-1.png"/><Relationship Id="rId2" Type="http://schemas.openxmlformats.org/officeDocument/2006/relationships/image" Target="../media/image-75-2.png"/><Relationship Id="rId3" Type="http://schemas.openxmlformats.org/officeDocument/2006/relationships/image" Target="../media/image-75-3.png"/><Relationship Id="rId5" Type="http://schemas.openxmlformats.org/officeDocument/2006/relationships/slideLayout" Target="../slideLayouts/slideLayout2.xml"/><Relationship Id="rId6"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6" Type="http://schemas.openxmlformats.org/officeDocument/2006/relationships/slide" Target="slide2.xml"/><Relationship Id="rId1" Type="http://schemas.openxmlformats.org/officeDocument/2006/relationships/image" Target="../media/image-76-1.png"/><Relationship Id="rId2" Type="http://schemas.openxmlformats.org/officeDocument/2006/relationships/image" Target="../media/image-76-2.png"/><Relationship Id="rId3" Type="http://schemas.openxmlformats.org/officeDocument/2006/relationships/image" Target="../media/image-76-3.png"/><Relationship Id="rId4" Type="http://schemas.openxmlformats.org/officeDocument/2006/relationships/image" Target="../media/image-76-4.png"/><Relationship Id="rId5" Type="http://schemas.openxmlformats.org/officeDocument/2006/relationships/image" Target="../media/image-76-5.png"/><Relationship Id="rId7" Type="http://schemas.openxmlformats.org/officeDocument/2006/relationships/slideLayout" Target="../slideLayouts/slideLayout2.xml"/><Relationship Id="rId8"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77-1.png"/><Relationship Id="rId2" Type="http://schemas.openxmlformats.org/officeDocument/2006/relationships/image" Target="../media/image-77-2.png"/><Relationship Id="rId3" Type="http://schemas.openxmlformats.org/officeDocument/2006/relationships/image" Target="../media/image-77-3.png"/><Relationship Id="rId5" Type="http://schemas.openxmlformats.org/officeDocument/2006/relationships/slideLayout" Target="../slideLayouts/slideLayout2.xml"/><Relationship Id="rId6"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78-1.png"/><Relationship Id="rId2" Type="http://schemas.openxmlformats.org/officeDocument/2006/relationships/image" Target="../media/image-78-2.png"/><Relationship Id="rId3" Type="http://schemas.openxmlformats.org/officeDocument/2006/relationships/image" Target="../media/image-78-3.png"/><Relationship Id="rId5" Type="http://schemas.openxmlformats.org/officeDocument/2006/relationships/slideLayout" Target="../slideLayouts/slideLayout2.xml"/><Relationship Id="rId6"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79-1.png"/><Relationship Id="rId2" Type="http://schemas.openxmlformats.org/officeDocument/2006/relationships/image" Target="../media/image-79-2.png"/><Relationship Id="rId3" Type="http://schemas.openxmlformats.org/officeDocument/2006/relationships/image" Target="../media/image-79-3.png"/><Relationship Id="rId5" Type="http://schemas.openxmlformats.org/officeDocument/2006/relationships/slideLayout" Target="../slideLayouts/slideLayout2.xml"/><Relationship Id="rId6"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80-1.png"/><Relationship Id="rId2" Type="http://schemas.openxmlformats.org/officeDocument/2006/relationships/image" Target="../media/image-80-2.png"/><Relationship Id="rId3" Type="http://schemas.openxmlformats.org/officeDocument/2006/relationships/image" Target="../media/image-80-3.png"/><Relationship Id="rId5" Type="http://schemas.openxmlformats.org/officeDocument/2006/relationships/slideLayout" Target="../slideLayouts/slideLayout2.xml"/><Relationship Id="rId6"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3" Type="http://schemas.openxmlformats.org/officeDocument/2006/relationships/slide" Target="slide2.xml"/><Relationship Id="rId1" Type="http://schemas.openxmlformats.org/officeDocument/2006/relationships/image" Target="../media/image-81-1.png"/><Relationship Id="rId2" Type="http://schemas.openxmlformats.org/officeDocument/2006/relationships/image" Target="../media/image-81-2.png"/><Relationship Id="rId4" Type="http://schemas.openxmlformats.org/officeDocument/2006/relationships/slideLayout" Target="../slideLayouts/slideLayout2.xml"/><Relationship Id="rId5"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5" Type="http://schemas.openxmlformats.org/officeDocument/2006/relationships/slide" Target="slide2.xml"/><Relationship Id="rId1" Type="http://schemas.openxmlformats.org/officeDocument/2006/relationships/image" Target="../media/image-82-1.png"/><Relationship Id="rId2" Type="http://schemas.openxmlformats.org/officeDocument/2006/relationships/image" Target="../media/image-82-2.png"/><Relationship Id="rId3" Type="http://schemas.openxmlformats.org/officeDocument/2006/relationships/image" Target="../media/image-82-3.png"/><Relationship Id="rId4" Type="http://schemas.openxmlformats.org/officeDocument/2006/relationships/image" Target="../media/image-82-4.png"/><Relationship Id="rId6" Type="http://schemas.openxmlformats.org/officeDocument/2006/relationships/slideLayout" Target="../slideLayouts/slideLayout2.xml"/><Relationship Id="rId7"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5" Type="http://schemas.openxmlformats.org/officeDocument/2006/relationships/slide" Target="slide2.xml"/><Relationship Id="rId1" Type="http://schemas.openxmlformats.org/officeDocument/2006/relationships/image" Target="../media/image-83-1.png"/><Relationship Id="rId2" Type="http://schemas.openxmlformats.org/officeDocument/2006/relationships/image" Target="../media/image-83-2.png"/><Relationship Id="rId3" Type="http://schemas.openxmlformats.org/officeDocument/2006/relationships/image" Target="../media/image-83-3.png"/><Relationship Id="rId4" Type="http://schemas.openxmlformats.org/officeDocument/2006/relationships/image" Target="../media/image-83-4.png"/><Relationship Id="rId6" Type="http://schemas.openxmlformats.org/officeDocument/2006/relationships/slideLayout" Target="../slideLayouts/slideLayout2.xml"/><Relationship Id="rId7"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3" Type="http://schemas.openxmlformats.org/officeDocument/2006/relationships/slide" Target="slide2.xml"/><Relationship Id="rId1" Type="http://schemas.openxmlformats.org/officeDocument/2006/relationships/image" Target="../media/image-84-1.png"/><Relationship Id="rId2" Type="http://schemas.openxmlformats.org/officeDocument/2006/relationships/image" Target="../media/image-84-2.png"/><Relationship Id="rId4" Type="http://schemas.openxmlformats.org/officeDocument/2006/relationships/slideLayout" Target="../slideLayouts/slideLayout2.xml"/><Relationship Id="rId5"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85-1.png"/><Relationship Id="rId2" Type="http://schemas.openxmlformats.org/officeDocument/2006/relationships/image" Target="../media/image-85-2.png"/><Relationship Id="rId3" Type="http://schemas.openxmlformats.org/officeDocument/2006/relationships/image" Target="../media/image-85-3.png"/><Relationship Id="rId5" Type="http://schemas.openxmlformats.org/officeDocument/2006/relationships/slideLayout" Target="../slideLayouts/slideLayout2.xml"/><Relationship Id="rId6"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86-1.png"/><Relationship Id="rId2" Type="http://schemas.openxmlformats.org/officeDocument/2006/relationships/image" Target="../media/image-86-2.png"/><Relationship Id="rId3" Type="http://schemas.openxmlformats.org/officeDocument/2006/relationships/image" Target="../media/image-86-3.png"/><Relationship Id="rId5" Type="http://schemas.openxmlformats.org/officeDocument/2006/relationships/slideLayout" Target="../slideLayouts/slideLayout2.xml"/><Relationship Id="rId6"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5" Type="http://schemas.openxmlformats.org/officeDocument/2006/relationships/slide" Target="slide2.xml"/><Relationship Id="rId1" Type="http://schemas.openxmlformats.org/officeDocument/2006/relationships/image" Target="../media/image-87-1.png"/><Relationship Id="rId2" Type="http://schemas.openxmlformats.org/officeDocument/2006/relationships/image" Target="../media/image-87-2.png"/><Relationship Id="rId3" Type="http://schemas.openxmlformats.org/officeDocument/2006/relationships/image" Target="../media/image-87-3.png"/><Relationship Id="rId4" Type="http://schemas.openxmlformats.org/officeDocument/2006/relationships/image" Target="../media/image-87-4.png"/><Relationship Id="rId6" Type="http://schemas.openxmlformats.org/officeDocument/2006/relationships/slideLayout" Target="../slideLayouts/slideLayout2.xml"/><Relationship Id="rId7"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88-1.png"/><Relationship Id="rId2" Type="http://schemas.openxmlformats.org/officeDocument/2006/relationships/image" Target="../media/image-88-2.png"/><Relationship Id="rId3" Type="http://schemas.openxmlformats.org/officeDocument/2006/relationships/image" Target="../media/image-88-3.png"/><Relationship Id="rId5" Type="http://schemas.openxmlformats.org/officeDocument/2006/relationships/slideLayout" Target="../slideLayouts/slideLayout2.xml"/><Relationship Id="rId6"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5" Type="http://schemas.openxmlformats.org/officeDocument/2006/relationships/slide" Target="slide2.xml"/><Relationship Id="rId1" Type="http://schemas.openxmlformats.org/officeDocument/2006/relationships/image" Target="../media/image-89-1.png"/><Relationship Id="rId2" Type="http://schemas.openxmlformats.org/officeDocument/2006/relationships/image" Target="../media/image-89-2.png"/><Relationship Id="rId3" Type="http://schemas.openxmlformats.org/officeDocument/2006/relationships/image" Target="../media/image-89-3.png"/><Relationship Id="rId4" Type="http://schemas.openxmlformats.org/officeDocument/2006/relationships/image" Target="../media/image-89-4.png"/><Relationship Id="rId6" Type="http://schemas.openxmlformats.org/officeDocument/2006/relationships/slideLayout" Target="../slideLayouts/slideLayout2.xml"/><Relationship Id="rId7"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image" Target="../media/image-90-1.png"/><Relationship Id="rId3" Type="http://schemas.openxmlformats.org/officeDocument/2006/relationships/slideLayout" Target="../slideLayouts/slideLayout3.xml"/><Relationship Id="rId4"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3" Type="http://schemas.openxmlformats.org/officeDocument/2006/relationships/slide" Target="slide2.xml"/><Relationship Id="rId1" Type="http://schemas.openxmlformats.org/officeDocument/2006/relationships/image" Target="../media/image-91-1.png"/><Relationship Id="rId2" Type="http://schemas.openxmlformats.org/officeDocument/2006/relationships/image" Target="../media/image-91-2.png"/><Relationship Id="rId4" Type="http://schemas.openxmlformats.org/officeDocument/2006/relationships/slideLayout" Target="../slideLayouts/slideLayout2.xml"/><Relationship Id="rId5"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92-1.png"/><Relationship Id="rId2" Type="http://schemas.openxmlformats.org/officeDocument/2006/relationships/image" Target="../media/image-92-2.png"/><Relationship Id="rId3" Type="http://schemas.openxmlformats.org/officeDocument/2006/relationships/image" Target="../media/image-92-3.png"/><Relationship Id="rId5" Type="http://schemas.openxmlformats.org/officeDocument/2006/relationships/slideLayout" Target="../slideLayouts/slideLayout2.xml"/><Relationship Id="rId6"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93-1.png"/><Relationship Id="rId2" Type="http://schemas.openxmlformats.org/officeDocument/2006/relationships/image" Target="../media/image-93-2.png"/><Relationship Id="rId3" Type="http://schemas.openxmlformats.org/officeDocument/2006/relationships/image" Target="../media/image-93-3.png"/><Relationship Id="rId5" Type="http://schemas.openxmlformats.org/officeDocument/2006/relationships/slideLayout" Target="../slideLayouts/slideLayout2.xml"/><Relationship Id="rId6"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94-1.png"/><Relationship Id="rId2" Type="http://schemas.openxmlformats.org/officeDocument/2006/relationships/image" Target="../media/image-94-2.png"/><Relationship Id="rId3" Type="http://schemas.openxmlformats.org/officeDocument/2006/relationships/image" Target="../media/image-94-3.png"/><Relationship Id="rId5" Type="http://schemas.openxmlformats.org/officeDocument/2006/relationships/slideLayout" Target="../slideLayouts/slideLayout2.xml"/><Relationship Id="rId6"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6" Type="http://schemas.openxmlformats.org/officeDocument/2006/relationships/slide" Target="slide2.xml"/><Relationship Id="rId1" Type="http://schemas.openxmlformats.org/officeDocument/2006/relationships/image" Target="../media/image-95-1.png"/><Relationship Id="rId2" Type="http://schemas.openxmlformats.org/officeDocument/2006/relationships/image" Target="../media/image-95-2.png"/><Relationship Id="rId3" Type="http://schemas.openxmlformats.org/officeDocument/2006/relationships/image" Target="../media/image-95-3.png"/><Relationship Id="rId4" Type="http://schemas.openxmlformats.org/officeDocument/2006/relationships/image" Target="../media/image-95-4.png"/><Relationship Id="rId5" Type="http://schemas.openxmlformats.org/officeDocument/2006/relationships/image" Target="../media/image-95-5.png"/><Relationship Id="rId7" Type="http://schemas.openxmlformats.org/officeDocument/2006/relationships/slideLayout" Target="../slideLayouts/slideLayout2.xml"/><Relationship Id="rId8"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5" Type="http://schemas.openxmlformats.org/officeDocument/2006/relationships/slide" Target="slide2.xml"/><Relationship Id="rId1" Type="http://schemas.openxmlformats.org/officeDocument/2006/relationships/image" Target="../media/image-96-1.png"/><Relationship Id="rId2" Type="http://schemas.openxmlformats.org/officeDocument/2006/relationships/image" Target="../media/image-96-2.png"/><Relationship Id="rId3" Type="http://schemas.openxmlformats.org/officeDocument/2006/relationships/image" Target="../media/image-96-3.png"/><Relationship Id="rId4" Type="http://schemas.openxmlformats.org/officeDocument/2006/relationships/image" Target="../media/image-96-4.png"/><Relationship Id="rId6" Type="http://schemas.openxmlformats.org/officeDocument/2006/relationships/slideLayout" Target="../slideLayouts/slideLayout2.xml"/><Relationship Id="rId7"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3" Type="http://schemas.openxmlformats.org/officeDocument/2006/relationships/slide" Target="slide2.xml"/><Relationship Id="rId1" Type="http://schemas.openxmlformats.org/officeDocument/2006/relationships/image" Target="../media/image-97-1.png"/><Relationship Id="rId2" Type="http://schemas.openxmlformats.org/officeDocument/2006/relationships/image" Target="../media/image-97-2.png"/><Relationship Id="rId4" Type="http://schemas.openxmlformats.org/officeDocument/2006/relationships/slideLayout" Target="../slideLayouts/slideLayout2.xml"/><Relationship Id="rId5"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6" Type="http://schemas.openxmlformats.org/officeDocument/2006/relationships/slide" Target="slide2.xml"/><Relationship Id="rId1" Type="http://schemas.openxmlformats.org/officeDocument/2006/relationships/image" Target="../media/image-98-1.png"/><Relationship Id="rId2" Type="http://schemas.openxmlformats.org/officeDocument/2006/relationships/image" Target="../media/image-98-2.png"/><Relationship Id="rId3" Type="http://schemas.openxmlformats.org/officeDocument/2006/relationships/image" Target="../media/image-98-3.png"/><Relationship Id="rId4" Type="http://schemas.openxmlformats.org/officeDocument/2006/relationships/image" Target="../media/image-98-4.png"/><Relationship Id="rId5" Type="http://schemas.openxmlformats.org/officeDocument/2006/relationships/image" Target="../media/image-98-5.png"/><Relationship Id="rId7" Type="http://schemas.openxmlformats.org/officeDocument/2006/relationships/slideLayout" Target="../slideLayouts/slideLayout2.xml"/><Relationship Id="rId8"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99-1.png"/><Relationship Id="rId2" Type="http://schemas.openxmlformats.org/officeDocument/2006/relationships/image" Target="../media/image-99-2.png"/><Relationship Id="rId3" Type="http://schemas.openxmlformats.org/officeDocument/2006/relationships/image" Target="../media/image-99-3.png"/><Relationship Id="rId5" Type="http://schemas.openxmlformats.org/officeDocument/2006/relationships/slideLayout" Target="../slideLayouts/slideLayout2.xml"/><Relationship Id="rId6"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5" Type="http://schemas.openxmlformats.org/officeDocument/2006/relationships/slide" Target="slide2.xml"/><Relationship Id="rId1" Type="http://schemas.openxmlformats.org/officeDocument/2006/relationships/image" Target="../media/image-100-1.png"/><Relationship Id="rId2" Type="http://schemas.openxmlformats.org/officeDocument/2006/relationships/image" Target="../media/image-100-2.png"/><Relationship Id="rId3" Type="http://schemas.openxmlformats.org/officeDocument/2006/relationships/image" Target="../media/image-100-3.png"/><Relationship Id="rId4" Type="http://schemas.openxmlformats.org/officeDocument/2006/relationships/image" Target="../media/image-100-4.png"/><Relationship Id="rId6" Type="http://schemas.openxmlformats.org/officeDocument/2006/relationships/slideLayout" Target="../slideLayouts/slideLayout2.xml"/><Relationship Id="rId7"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image" Target="../media/image-101-1.png"/><Relationship Id="rId3" Type="http://schemas.openxmlformats.org/officeDocument/2006/relationships/slideLayout" Target="../slideLayouts/slideLayout3.xml"/><Relationship Id="rId4"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102-1.png"/><Relationship Id="rId2" Type="http://schemas.openxmlformats.org/officeDocument/2006/relationships/image" Target="../media/image-102-2.png"/><Relationship Id="rId3" Type="http://schemas.openxmlformats.org/officeDocument/2006/relationships/image" Target="../media/image-102-3.png"/><Relationship Id="rId5" Type="http://schemas.openxmlformats.org/officeDocument/2006/relationships/slideLayout" Target="../slideLayouts/slideLayout2.xml"/><Relationship Id="rId6"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5" Type="http://schemas.openxmlformats.org/officeDocument/2006/relationships/slide" Target="slide2.xml"/><Relationship Id="rId1" Type="http://schemas.openxmlformats.org/officeDocument/2006/relationships/image" Target="../media/image-103-1.png"/><Relationship Id="rId2" Type="http://schemas.openxmlformats.org/officeDocument/2006/relationships/image" Target="../media/image-103-2.png"/><Relationship Id="rId3" Type="http://schemas.openxmlformats.org/officeDocument/2006/relationships/image" Target="../media/image-103-3.png"/><Relationship Id="rId4" Type="http://schemas.openxmlformats.org/officeDocument/2006/relationships/image" Target="../media/image-103-4.png"/><Relationship Id="rId6" Type="http://schemas.openxmlformats.org/officeDocument/2006/relationships/slideLayout" Target="../slideLayouts/slideLayout2.xml"/><Relationship Id="rId7"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104-1.png"/><Relationship Id="rId2" Type="http://schemas.openxmlformats.org/officeDocument/2006/relationships/image" Target="../media/image-104-2.png"/><Relationship Id="rId3" Type="http://schemas.openxmlformats.org/officeDocument/2006/relationships/image" Target="../media/image-104-3.png"/><Relationship Id="rId5" Type="http://schemas.openxmlformats.org/officeDocument/2006/relationships/slideLayout" Target="../slideLayouts/slideLayout2.xml"/><Relationship Id="rId6"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105-1.png"/><Relationship Id="rId2" Type="http://schemas.openxmlformats.org/officeDocument/2006/relationships/image" Target="../media/image-105-2.png"/><Relationship Id="rId3" Type="http://schemas.openxmlformats.org/officeDocument/2006/relationships/image" Target="../media/image-105-3.png"/><Relationship Id="rId5" Type="http://schemas.openxmlformats.org/officeDocument/2006/relationships/slideLayout" Target="../slideLayouts/slideLayout2.xml"/><Relationship Id="rId6"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106-1.png"/><Relationship Id="rId2" Type="http://schemas.openxmlformats.org/officeDocument/2006/relationships/image" Target="../media/image-106-2.png"/><Relationship Id="rId3" Type="http://schemas.openxmlformats.org/officeDocument/2006/relationships/image" Target="../media/image-106-3.png"/><Relationship Id="rId5" Type="http://schemas.openxmlformats.org/officeDocument/2006/relationships/slideLayout" Target="../slideLayouts/slideLayout2.xml"/><Relationship Id="rId6"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107-1.png"/><Relationship Id="rId2" Type="http://schemas.openxmlformats.org/officeDocument/2006/relationships/image" Target="../media/image-107-2.png"/><Relationship Id="rId3" Type="http://schemas.openxmlformats.org/officeDocument/2006/relationships/image" Target="../media/image-107-3.png"/><Relationship Id="rId5" Type="http://schemas.openxmlformats.org/officeDocument/2006/relationships/slideLayout" Target="../slideLayouts/slideLayout2.xml"/><Relationship Id="rId6"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108-1.png"/><Relationship Id="rId2" Type="http://schemas.openxmlformats.org/officeDocument/2006/relationships/image" Target="../media/image-108-2.png"/><Relationship Id="rId3" Type="http://schemas.openxmlformats.org/officeDocument/2006/relationships/image" Target="../media/image-108-3.png"/><Relationship Id="rId5" Type="http://schemas.openxmlformats.org/officeDocument/2006/relationships/slideLayout" Target="../slideLayouts/slideLayout2.xml"/><Relationship Id="rId6"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5" Type="http://schemas.openxmlformats.org/officeDocument/2006/relationships/slide" Target="slide2.xml"/><Relationship Id="rId1" Type="http://schemas.openxmlformats.org/officeDocument/2006/relationships/image" Target="../media/image-109-1.png"/><Relationship Id="rId2" Type="http://schemas.openxmlformats.org/officeDocument/2006/relationships/image" Target="../media/image-109-2.png"/><Relationship Id="rId3" Type="http://schemas.openxmlformats.org/officeDocument/2006/relationships/image" Target="../media/image-109-3.png"/><Relationship Id="rId4" Type="http://schemas.openxmlformats.org/officeDocument/2006/relationships/image" Target="../media/image-109-4.png"/><Relationship Id="rId6" Type="http://schemas.openxmlformats.org/officeDocument/2006/relationships/slideLayout" Target="../slideLayouts/slideLayout2.xml"/><Relationship Id="rId7"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3" Type="http://schemas.openxmlformats.org/officeDocument/2006/relationships/slide" Target="slide2.xml"/><Relationship Id="rId1" Type="http://schemas.openxmlformats.org/officeDocument/2006/relationships/image" Target="../media/image-110-1.png"/><Relationship Id="rId2" Type="http://schemas.openxmlformats.org/officeDocument/2006/relationships/image" Target="../media/image-110-2.png"/><Relationship Id="rId4" Type="http://schemas.openxmlformats.org/officeDocument/2006/relationships/slideLayout" Target="../slideLayouts/slideLayout2.xml"/><Relationship Id="rId5"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111-1.png"/><Relationship Id="rId2" Type="http://schemas.openxmlformats.org/officeDocument/2006/relationships/image" Target="../media/image-111-2.png"/><Relationship Id="rId3" Type="http://schemas.openxmlformats.org/officeDocument/2006/relationships/image" Target="../media/image-111-3.png"/><Relationship Id="rId5" Type="http://schemas.openxmlformats.org/officeDocument/2006/relationships/slideLayout" Target="../slideLayouts/slideLayout2.xml"/><Relationship Id="rId6"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5" Type="http://schemas.openxmlformats.org/officeDocument/2006/relationships/slide" Target="slide2.xml"/><Relationship Id="rId1" Type="http://schemas.openxmlformats.org/officeDocument/2006/relationships/image" Target="../media/image-112-1.png"/><Relationship Id="rId2" Type="http://schemas.openxmlformats.org/officeDocument/2006/relationships/image" Target="../media/image-112-2.png"/><Relationship Id="rId3" Type="http://schemas.openxmlformats.org/officeDocument/2006/relationships/image" Target="../media/image-112-3.png"/><Relationship Id="rId4" Type="http://schemas.openxmlformats.org/officeDocument/2006/relationships/image" Target="../media/image-112-4.png"/><Relationship Id="rId6" Type="http://schemas.openxmlformats.org/officeDocument/2006/relationships/slideLayout" Target="../slideLayouts/slideLayout2.xml"/><Relationship Id="rId7"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image" Target="../media/image-113-1.png"/><Relationship Id="rId3" Type="http://schemas.openxmlformats.org/officeDocument/2006/relationships/slideLayout" Target="../slideLayouts/slideLayout3.xml"/><Relationship Id="rId4"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114-1.png"/><Relationship Id="rId2" Type="http://schemas.openxmlformats.org/officeDocument/2006/relationships/image" Target="../media/image-114-2.png"/><Relationship Id="rId3" Type="http://schemas.openxmlformats.org/officeDocument/2006/relationships/image" Target="../media/image-114-3.png"/><Relationship Id="rId5" Type="http://schemas.openxmlformats.org/officeDocument/2006/relationships/slideLayout" Target="../slideLayouts/slideLayout2.xml"/><Relationship Id="rId6"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115-1.png"/><Relationship Id="rId2" Type="http://schemas.openxmlformats.org/officeDocument/2006/relationships/image" Target="../media/image-115-2.png"/><Relationship Id="rId3" Type="http://schemas.openxmlformats.org/officeDocument/2006/relationships/image" Target="../media/image-115-3.png"/><Relationship Id="rId5" Type="http://schemas.openxmlformats.org/officeDocument/2006/relationships/slideLayout" Target="../slideLayouts/slideLayout2.xml"/><Relationship Id="rId6"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5" Type="http://schemas.openxmlformats.org/officeDocument/2006/relationships/slide" Target="slide2.xml"/><Relationship Id="rId1" Type="http://schemas.openxmlformats.org/officeDocument/2006/relationships/image" Target="../media/image-116-1.png"/><Relationship Id="rId2" Type="http://schemas.openxmlformats.org/officeDocument/2006/relationships/image" Target="../media/image-116-2.png"/><Relationship Id="rId3" Type="http://schemas.openxmlformats.org/officeDocument/2006/relationships/image" Target="../media/image-116-3.png"/><Relationship Id="rId4" Type="http://schemas.openxmlformats.org/officeDocument/2006/relationships/image" Target="../media/image-116-4.png"/><Relationship Id="rId6" Type="http://schemas.openxmlformats.org/officeDocument/2006/relationships/slideLayout" Target="../slideLayouts/slideLayout2.xml"/><Relationship Id="rId7"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117-1.png"/><Relationship Id="rId2" Type="http://schemas.openxmlformats.org/officeDocument/2006/relationships/image" Target="../media/image-117-2.png"/><Relationship Id="rId3" Type="http://schemas.openxmlformats.org/officeDocument/2006/relationships/image" Target="../media/image-117-3.png"/><Relationship Id="rId5" Type="http://schemas.openxmlformats.org/officeDocument/2006/relationships/slideLayout" Target="../slideLayouts/slideLayout2.xml"/><Relationship Id="rId6"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118-1.png"/><Relationship Id="rId2" Type="http://schemas.openxmlformats.org/officeDocument/2006/relationships/image" Target="../media/image-118-2.png"/><Relationship Id="rId3" Type="http://schemas.openxmlformats.org/officeDocument/2006/relationships/image" Target="../media/image-118-3.png"/><Relationship Id="rId5" Type="http://schemas.openxmlformats.org/officeDocument/2006/relationships/slideLayout" Target="../slideLayouts/slideLayout2.xml"/><Relationship Id="rId6"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119-1.png"/><Relationship Id="rId2" Type="http://schemas.openxmlformats.org/officeDocument/2006/relationships/image" Target="../media/image-119-2.png"/><Relationship Id="rId3" Type="http://schemas.openxmlformats.org/officeDocument/2006/relationships/image" Target="../media/image-119-3.png"/><Relationship Id="rId5" Type="http://schemas.openxmlformats.org/officeDocument/2006/relationships/slideLayout" Target="../slideLayouts/slideLayout2.xml"/><Relationship Id="rId6"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120-1.png"/><Relationship Id="rId2" Type="http://schemas.openxmlformats.org/officeDocument/2006/relationships/image" Target="../media/image-120-2.png"/><Relationship Id="rId3" Type="http://schemas.openxmlformats.org/officeDocument/2006/relationships/image" Target="../media/image-120-3.png"/><Relationship Id="rId5" Type="http://schemas.openxmlformats.org/officeDocument/2006/relationships/slideLayout" Target="../slideLayouts/slideLayout2.xml"/><Relationship Id="rId6"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3" Type="http://schemas.openxmlformats.org/officeDocument/2006/relationships/slide" Target="slide2.xml"/><Relationship Id="rId1" Type="http://schemas.openxmlformats.org/officeDocument/2006/relationships/image" Target="../media/image-121-1.png"/><Relationship Id="rId2" Type="http://schemas.openxmlformats.org/officeDocument/2006/relationships/image" Target="../media/image-121-2.png"/><Relationship Id="rId4" Type="http://schemas.openxmlformats.org/officeDocument/2006/relationships/slideLayout" Target="../slideLayouts/slideLayout2.xml"/><Relationship Id="rId5"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122-1.png"/><Relationship Id="rId2" Type="http://schemas.openxmlformats.org/officeDocument/2006/relationships/image" Target="../media/image-122-2.png"/><Relationship Id="rId3" Type="http://schemas.openxmlformats.org/officeDocument/2006/relationships/image" Target="../media/image-122-3.png"/><Relationship Id="rId5" Type="http://schemas.openxmlformats.org/officeDocument/2006/relationships/slideLayout" Target="../slideLayouts/slideLayout2.xml"/><Relationship Id="rId6"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5" Type="http://schemas.openxmlformats.org/officeDocument/2006/relationships/slide" Target="slide2.xml"/><Relationship Id="rId1" Type="http://schemas.openxmlformats.org/officeDocument/2006/relationships/image" Target="../media/image-123-1.png"/><Relationship Id="rId2" Type="http://schemas.openxmlformats.org/officeDocument/2006/relationships/image" Target="../media/image-123-2.png"/><Relationship Id="rId3" Type="http://schemas.openxmlformats.org/officeDocument/2006/relationships/image" Target="../media/image-123-3.png"/><Relationship Id="rId4" Type="http://schemas.openxmlformats.org/officeDocument/2006/relationships/image" Target="../media/image-123-4.png"/><Relationship Id="rId6" Type="http://schemas.openxmlformats.org/officeDocument/2006/relationships/slideLayout" Target="../slideLayouts/slideLayout2.xml"/><Relationship Id="rId7"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image" Target="../media/image-124-1.png"/><Relationship Id="rId3" Type="http://schemas.openxmlformats.org/officeDocument/2006/relationships/slideLayout" Target="../slideLayouts/slideLayout3.xml"/><Relationship Id="rId4"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125-1.png"/><Relationship Id="rId2" Type="http://schemas.openxmlformats.org/officeDocument/2006/relationships/image" Target="../media/image-125-2.png"/><Relationship Id="rId3" Type="http://schemas.openxmlformats.org/officeDocument/2006/relationships/image" Target="../media/image-125-3.png"/><Relationship Id="rId5" Type="http://schemas.openxmlformats.org/officeDocument/2006/relationships/slideLayout" Target="../slideLayouts/slideLayout2.xml"/><Relationship Id="rId6"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5" Type="http://schemas.openxmlformats.org/officeDocument/2006/relationships/slide" Target="slide2.xml"/><Relationship Id="rId1" Type="http://schemas.openxmlformats.org/officeDocument/2006/relationships/image" Target="../media/image-126-1.png"/><Relationship Id="rId2" Type="http://schemas.openxmlformats.org/officeDocument/2006/relationships/image" Target="../media/image-126-2.png"/><Relationship Id="rId3" Type="http://schemas.openxmlformats.org/officeDocument/2006/relationships/image" Target="../media/image-126-3.png"/><Relationship Id="rId4" Type="http://schemas.openxmlformats.org/officeDocument/2006/relationships/image" Target="../media/image-126-4.png"/><Relationship Id="rId6" Type="http://schemas.openxmlformats.org/officeDocument/2006/relationships/slideLayout" Target="../slideLayouts/slideLayout2.xml"/><Relationship Id="rId7"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3" Type="http://schemas.openxmlformats.org/officeDocument/2006/relationships/slide" Target="slide2.xml"/><Relationship Id="rId1" Type="http://schemas.openxmlformats.org/officeDocument/2006/relationships/image" Target="../media/image-127-1.png"/><Relationship Id="rId2" Type="http://schemas.openxmlformats.org/officeDocument/2006/relationships/image" Target="../media/image-127-2.png"/><Relationship Id="rId4" Type="http://schemas.openxmlformats.org/officeDocument/2006/relationships/slideLayout" Target="../slideLayouts/slideLayout2.xml"/><Relationship Id="rId5"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128-1.png"/><Relationship Id="rId2" Type="http://schemas.openxmlformats.org/officeDocument/2006/relationships/image" Target="../media/image-128-2.png"/><Relationship Id="rId3" Type="http://schemas.openxmlformats.org/officeDocument/2006/relationships/image" Target="../media/image-128-3.png"/><Relationship Id="rId5" Type="http://schemas.openxmlformats.org/officeDocument/2006/relationships/slideLayout" Target="../slideLayouts/slideLayout2.xml"/><Relationship Id="rId6"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129-1.png"/><Relationship Id="rId2" Type="http://schemas.openxmlformats.org/officeDocument/2006/relationships/image" Target="../media/image-129-2.png"/><Relationship Id="rId3" Type="http://schemas.openxmlformats.org/officeDocument/2006/relationships/image" Target="../media/image-129-3.png"/><Relationship Id="rId5" Type="http://schemas.openxmlformats.org/officeDocument/2006/relationships/slideLayout" Target="../slideLayouts/slideLayout2.xml"/><Relationship Id="rId6"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6" Type="http://schemas.openxmlformats.org/officeDocument/2006/relationships/slide" Target="slide2.xml"/><Relationship Id="rId1" Type="http://schemas.openxmlformats.org/officeDocument/2006/relationships/image" Target="../media/image-130-1.png"/><Relationship Id="rId2" Type="http://schemas.openxmlformats.org/officeDocument/2006/relationships/image" Target="../media/image-130-2.png"/><Relationship Id="rId3" Type="http://schemas.openxmlformats.org/officeDocument/2006/relationships/image" Target="../media/image-130-3.png"/><Relationship Id="rId4" Type="http://schemas.openxmlformats.org/officeDocument/2006/relationships/image" Target="../media/image-130-4.png"/><Relationship Id="rId5" Type="http://schemas.openxmlformats.org/officeDocument/2006/relationships/image" Target="../media/image-130-5.png"/><Relationship Id="rId7" Type="http://schemas.openxmlformats.org/officeDocument/2006/relationships/slideLayout" Target="../slideLayouts/slideLayout2.xml"/><Relationship Id="rId8"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131-1.png"/><Relationship Id="rId2" Type="http://schemas.openxmlformats.org/officeDocument/2006/relationships/image" Target="../media/image-131-2.png"/><Relationship Id="rId3" Type="http://schemas.openxmlformats.org/officeDocument/2006/relationships/image" Target="../media/image-131-3.png"/><Relationship Id="rId5" Type="http://schemas.openxmlformats.org/officeDocument/2006/relationships/slideLayout" Target="../slideLayouts/slideLayout2.xml"/><Relationship Id="rId6"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3" Type="http://schemas.openxmlformats.org/officeDocument/2006/relationships/slide" Target="slide2.xml"/><Relationship Id="rId1" Type="http://schemas.openxmlformats.org/officeDocument/2006/relationships/image" Target="../media/image-132-1.png"/><Relationship Id="rId2" Type="http://schemas.openxmlformats.org/officeDocument/2006/relationships/image" Target="../media/image-132-2.png"/><Relationship Id="rId4" Type="http://schemas.openxmlformats.org/officeDocument/2006/relationships/slideLayout" Target="../slideLayouts/slideLayout2.xml"/><Relationship Id="rId5"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133-1.png"/><Relationship Id="rId2" Type="http://schemas.openxmlformats.org/officeDocument/2006/relationships/image" Target="../media/image-133-2.png"/><Relationship Id="rId3" Type="http://schemas.openxmlformats.org/officeDocument/2006/relationships/image" Target="../media/image-133-3.png"/><Relationship Id="rId5" Type="http://schemas.openxmlformats.org/officeDocument/2006/relationships/slideLayout" Target="../slideLayouts/slideLayout2.xml"/><Relationship Id="rId6"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5" Type="http://schemas.openxmlformats.org/officeDocument/2006/relationships/slide" Target="slide2.xml"/><Relationship Id="rId1" Type="http://schemas.openxmlformats.org/officeDocument/2006/relationships/image" Target="../media/image-134-1.png"/><Relationship Id="rId2" Type="http://schemas.openxmlformats.org/officeDocument/2006/relationships/image" Target="../media/image-134-2.png"/><Relationship Id="rId3" Type="http://schemas.openxmlformats.org/officeDocument/2006/relationships/image" Target="../media/image-134-3.png"/><Relationship Id="rId4" Type="http://schemas.openxmlformats.org/officeDocument/2006/relationships/image" Target="../media/image-134-4.png"/><Relationship Id="rId6" Type="http://schemas.openxmlformats.org/officeDocument/2006/relationships/slideLayout" Target="../slideLayouts/slideLayout2.xml"/><Relationship Id="rId7"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image" Target="../media/image-135-1.png"/><Relationship Id="rId3" Type="http://schemas.openxmlformats.org/officeDocument/2006/relationships/slideLayout" Target="../slideLayouts/slideLayout3.xml"/><Relationship Id="rId4"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136-1.png"/><Relationship Id="rId2" Type="http://schemas.openxmlformats.org/officeDocument/2006/relationships/image" Target="../media/image-136-2.png"/><Relationship Id="rId3" Type="http://schemas.openxmlformats.org/officeDocument/2006/relationships/image" Target="../media/image-136-3.png"/><Relationship Id="rId5" Type="http://schemas.openxmlformats.org/officeDocument/2006/relationships/slideLayout" Target="../slideLayouts/slideLayout2.xml"/><Relationship Id="rId6"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5" Type="http://schemas.openxmlformats.org/officeDocument/2006/relationships/slide" Target="slide2.xml"/><Relationship Id="rId1" Type="http://schemas.openxmlformats.org/officeDocument/2006/relationships/image" Target="../media/image-137-1.png"/><Relationship Id="rId2" Type="http://schemas.openxmlformats.org/officeDocument/2006/relationships/image" Target="../media/image-137-2.png"/><Relationship Id="rId3" Type="http://schemas.openxmlformats.org/officeDocument/2006/relationships/image" Target="../media/image-137-3.png"/><Relationship Id="rId4" Type="http://schemas.openxmlformats.org/officeDocument/2006/relationships/image" Target="../media/image-137-4.png"/><Relationship Id="rId6" Type="http://schemas.openxmlformats.org/officeDocument/2006/relationships/slideLayout" Target="../slideLayouts/slideLayout2.xml"/><Relationship Id="rId7"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138-1.png"/><Relationship Id="rId2" Type="http://schemas.openxmlformats.org/officeDocument/2006/relationships/image" Target="../media/image-138-2.png"/><Relationship Id="rId3" Type="http://schemas.openxmlformats.org/officeDocument/2006/relationships/image" Target="../media/image-138-3.png"/><Relationship Id="rId5" Type="http://schemas.openxmlformats.org/officeDocument/2006/relationships/slideLayout" Target="../slideLayouts/slideLayout2.xml"/><Relationship Id="rId6"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139-1.png"/><Relationship Id="rId2" Type="http://schemas.openxmlformats.org/officeDocument/2006/relationships/image" Target="../media/image-139-2.png"/><Relationship Id="rId3" Type="http://schemas.openxmlformats.org/officeDocument/2006/relationships/image" Target="../media/image-139-3.png"/><Relationship Id="rId5" Type="http://schemas.openxmlformats.org/officeDocument/2006/relationships/slideLayout" Target="../slideLayouts/slideLayout2.xml"/><Relationship Id="rId6"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140-1.png"/><Relationship Id="rId2" Type="http://schemas.openxmlformats.org/officeDocument/2006/relationships/image" Target="../media/image-140-2.png"/><Relationship Id="rId3" Type="http://schemas.openxmlformats.org/officeDocument/2006/relationships/image" Target="../media/image-140-3.png"/><Relationship Id="rId5" Type="http://schemas.openxmlformats.org/officeDocument/2006/relationships/slideLayout" Target="../slideLayouts/slideLayout2.xml"/><Relationship Id="rId6"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141-1.png"/><Relationship Id="rId2" Type="http://schemas.openxmlformats.org/officeDocument/2006/relationships/image" Target="../media/image-141-2.png"/><Relationship Id="rId3" Type="http://schemas.openxmlformats.org/officeDocument/2006/relationships/image" Target="../media/image-141-3.png"/><Relationship Id="rId5" Type="http://schemas.openxmlformats.org/officeDocument/2006/relationships/slideLayout" Target="../slideLayouts/slideLayout2.xml"/><Relationship Id="rId6"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142-1.png"/><Relationship Id="rId2" Type="http://schemas.openxmlformats.org/officeDocument/2006/relationships/image" Target="../media/image-142-2.png"/><Relationship Id="rId3" Type="http://schemas.openxmlformats.org/officeDocument/2006/relationships/image" Target="../media/image-142-3.png"/><Relationship Id="rId5" Type="http://schemas.openxmlformats.org/officeDocument/2006/relationships/slideLayout" Target="../slideLayouts/slideLayout2.xml"/><Relationship Id="rId6"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3" Type="http://schemas.openxmlformats.org/officeDocument/2006/relationships/slide" Target="slide2.xml"/><Relationship Id="rId1" Type="http://schemas.openxmlformats.org/officeDocument/2006/relationships/image" Target="../media/image-143-1.png"/><Relationship Id="rId2" Type="http://schemas.openxmlformats.org/officeDocument/2006/relationships/image" Target="../media/image-143-2.png"/><Relationship Id="rId4" Type="http://schemas.openxmlformats.org/officeDocument/2006/relationships/slideLayout" Target="../slideLayouts/slideLayout2.xml"/><Relationship Id="rId5"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144-1.png"/><Relationship Id="rId2" Type="http://schemas.openxmlformats.org/officeDocument/2006/relationships/image" Target="../media/image-144-2.png"/><Relationship Id="rId3" Type="http://schemas.openxmlformats.org/officeDocument/2006/relationships/image" Target="../media/image-144-3.png"/><Relationship Id="rId5" Type="http://schemas.openxmlformats.org/officeDocument/2006/relationships/slideLayout" Target="../slideLayouts/slideLayout2.xml"/><Relationship Id="rId6"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3" Type="http://schemas.openxmlformats.org/officeDocument/2006/relationships/slide" Target="slide2.xml"/><Relationship Id="rId1" Type="http://schemas.openxmlformats.org/officeDocument/2006/relationships/image" Target="../media/image-145-1.png"/><Relationship Id="rId2" Type="http://schemas.openxmlformats.org/officeDocument/2006/relationships/image" Target="../media/image-145-2.png"/><Relationship Id="rId4" Type="http://schemas.openxmlformats.org/officeDocument/2006/relationships/slideLayout" Target="../slideLayouts/slideLayout2.xml"/><Relationship Id="rId5"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146-1.png"/><Relationship Id="rId2" Type="http://schemas.openxmlformats.org/officeDocument/2006/relationships/image" Target="../media/image-146-2.png"/><Relationship Id="rId3" Type="http://schemas.openxmlformats.org/officeDocument/2006/relationships/image" Target="../media/image-146-3.png"/><Relationship Id="rId5" Type="http://schemas.openxmlformats.org/officeDocument/2006/relationships/slideLayout" Target="../slideLayouts/slideLayout2.xml"/><Relationship Id="rId6"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147-1.png"/><Relationship Id="rId2" Type="http://schemas.openxmlformats.org/officeDocument/2006/relationships/image" Target="../media/image-147-2.png"/><Relationship Id="rId3" Type="http://schemas.openxmlformats.org/officeDocument/2006/relationships/image" Target="../media/image-147-3.png"/><Relationship Id="rId5" Type="http://schemas.openxmlformats.org/officeDocument/2006/relationships/slideLayout" Target="../slideLayouts/slideLayout2.xml"/><Relationship Id="rId6"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5" Type="http://schemas.openxmlformats.org/officeDocument/2006/relationships/slide" Target="slide2.xml"/><Relationship Id="rId1" Type="http://schemas.openxmlformats.org/officeDocument/2006/relationships/image" Target="../media/image-148-1.png"/><Relationship Id="rId2" Type="http://schemas.openxmlformats.org/officeDocument/2006/relationships/image" Target="../media/image-148-2.png"/><Relationship Id="rId3" Type="http://schemas.openxmlformats.org/officeDocument/2006/relationships/image" Target="../media/image-148-3.png"/><Relationship Id="rId4" Type="http://schemas.openxmlformats.org/officeDocument/2006/relationships/image" Target="../media/image-148-4.png"/><Relationship Id="rId6" Type="http://schemas.openxmlformats.org/officeDocument/2006/relationships/slideLayout" Target="../slideLayouts/slideLayout2.xml"/><Relationship Id="rId7"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3" Type="http://schemas.openxmlformats.org/officeDocument/2006/relationships/slide" Target="slide2.xml"/><Relationship Id="rId1" Type="http://schemas.openxmlformats.org/officeDocument/2006/relationships/image" Target="../media/image-149-1.png"/><Relationship Id="rId2" Type="http://schemas.openxmlformats.org/officeDocument/2006/relationships/image" Target="../media/image-149-2.png"/><Relationship Id="rId4" Type="http://schemas.openxmlformats.org/officeDocument/2006/relationships/slideLayout" Target="../slideLayouts/slideLayout2.xml"/><Relationship Id="rId5"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8" Type="http://schemas.openxmlformats.org/officeDocument/2006/relationships/slide" Target="slide2.xml"/><Relationship Id="rId1" Type="http://schemas.openxmlformats.org/officeDocument/2006/relationships/image" Target="../media/image-150-1.png"/><Relationship Id="rId2" Type="http://schemas.openxmlformats.org/officeDocument/2006/relationships/image" Target="../media/image-150-2.png"/><Relationship Id="rId3" Type="http://schemas.openxmlformats.org/officeDocument/2006/relationships/image" Target="../media/image-150-3.png"/><Relationship Id="rId4" Type="http://schemas.openxmlformats.org/officeDocument/2006/relationships/image" Target="../media/image-150-4.png"/><Relationship Id="rId5" Type="http://schemas.openxmlformats.org/officeDocument/2006/relationships/image" Target="../media/image-150-5.png"/><Relationship Id="rId6" Type="http://schemas.openxmlformats.org/officeDocument/2006/relationships/image" Target="../media/image-150-6.png"/><Relationship Id="rId7" Type="http://schemas.openxmlformats.org/officeDocument/2006/relationships/image" Target="../media/image-150-7.png"/><Relationship Id="rId9" Type="http://schemas.openxmlformats.org/officeDocument/2006/relationships/slideLayout" Target="../slideLayouts/slideLayout2.xml"/><Relationship Id="rId10"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151-1.png"/><Relationship Id="rId2" Type="http://schemas.openxmlformats.org/officeDocument/2006/relationships/image" Target="../media/image-151-2.png"/><Relationship Id="rId3" Type="http://schemas.openxmlformats.org/officeDocument/2006/relationships/image" Target="../media/image-151-3.png"/><Relationship Id="rId5" Type="http://schemas.openxmlformats.org/officeDocument/2006/relationships/slideLayout" Target="../slideLayouts/slideLayout2.xml"/><Relationship Id="rId6"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5" Type="http://schemas.openxmlformats.org/officeDocument/2006/relationships/slide" Target="slide2.xml"/><Relationship Id="rId1" Type="http://schemas.openxmlformats.org/officeDocument/2006/relationships/image" Target="../media/image-152-1.png"/><Relationship Id="rId2" Type="http://schemas.openxmlformats.org/officeDocument/2006/relationships/image" Target="../media/image-152-2.png"/><Relationship Id="rId3" Type="http://schemas.openxmlformats.org/officeDocument/2006/relationships/image" Target="../media/image-152-3.png"/><Relationship Id="rId4" Type="http://schemas.openxmlformats.org/officeDocument/2006/relationships/image" Target="../media/image-152-4.png"/><Relationship Id="rId6" Type="http://schemas.openxmlformats.org/officeDocument/2006/relationships/slideLayout" Target="../slideLayouts/slideLayout2.xml"/><Relationship Id="rId7"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image" Target="../media/image-153-1.png"/><Relationship Id="rId3" Type="http://schemas.openxmlformats.org/officeDocument/2006/relationships/slideLayout" Target="../slideLayouts/slideLayout3.xml"/><Relationship Id="rId4"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154-1.png"/><Relationship Id="rId2" Type="http://schemas.openxmlformats.org/officeDocument/2006/relationships/image" Target="../media/image-154-2.png"/><Relationship Id="rId3" Type="http://schemas.openxmlformats.org/officeDocument/2006/relationships/image" Target="../media/image-154-3.png"/><Relationship Id="rId5" Type="http://schemas.openxmlformats.org/officeDocument/2006/relationships/slideLayout" Target="../slideLayouts/slideLayout2.xml"/><Relationship Id="rId6"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3" Type="http://schemas.openxmlformats.org/officeDocument/2006/relationships/slide" Target="slide2.xml"/><Relationship Id="rId1" Type="http://schemas.openxmlformats.org/officeDocument/2006/relationships/image" Target="../media/image-155-1.png"/><Relationship Id="rId2" Type="http://schemas.openxmlformats.org/officeDocument/2006/relationships/image" Target="../media/image-155-2.png"/><Relationship Id="rId4" Type="http://schemas.openxmlformats.org/officeDocument/2006/relationships/slideLayout" Target="../slideLayouts/slideLayout2.xml"/><Relationship Id="rId5"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3" Type="http://schemas.openxmlformats.org/officeDocument/2006/relationships/slide" Target="slide2.xml"/><Relationship Id="rId1" Type="http://schemas.openxmlformats.org/officeDocument/2006/relationships/image" Target="../media/image-156-1.png"/><Relationship Id="rId2" Type="http://schemas.openxmlformats.org/officeDocument/2006/relationships/image" Target="../media/image-156-2.png"/><Relationship Id="rId4" Type="http://schemas.openxmlformats.org/officeDocument/2006/relationships/slideLayout" Target="../slideLayouts/slideLayout2.xml"/><Relationship Id="rId5"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157-1.png"/><Relationship Id="rId2" Type="http://schemas.openxmlformats.org/officeDocument/2006/relationships/image" Target="../media/image-157-2.png"/><Relationship Id="rId3" Type="http://schemas.openxmlformats.org/officeDocument/2006/relationships/image" Target="../media/image-157-3.png"/><Relationship Id="rId5" Type="http://schemas.openxmlformats.org/officeDocument/2006/relationships/slideLayout" Target="../slideLayouts/slideLayout2.xml"/><Relationship Id="rId6"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158-1.png"/><Relationship Id="rId2" Type="http://schemas.openxmlformats.org/officeDocument/2006/relationships/image" Target="../media/image-158-2.png"/><Relationship Id="rId3" Type="http://schemas.openxmlformats.org/officeDocument/2006/relationships/image" Target="../media/image-158-3.png"/><Relationship Id="rId5" Type="http://schemas.openxmlformats.org/officeDocument/2006/relationships/slideLayout" Target="../slideLayouts/slideLayout2.xml"/><Relationship Id="rId6"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8" Type="http://schemas.openxmlformats.org/officeDocument/2006/relationships/slide" Target="slide2.xml"/><Relationship Id="rId1" Type="http://schemas.openxmlformats.org/officeDocument/2006/relationships/image" Target="../media/image-159-1.png"/><Relationship Id="rId2" Type="http://schemas.openxmlformats.org/officeDocument/2006/relationships/image" Target="../media/image-159-2.png"/><Relationship Id="rId3" Type="http://schemas.openxmlformats.org/officeDocument/2006/relationships/image" Target="../media/image-159-3.png"/><Relationship Id="rId4" Type="http://schemas.openxmlformats.org/officeDocument/2006/relationships/image" Target="../media/image-159-4.png"/><Relationship Id="rId5" Type="http://schemas.openxmlformats.org/officeDocument/2006/relationships/image" Target="../media/image-159-5.png"/><Relationship Id="rId6" Type="http://schemas.openxmlformats.org/officeDocument/2006/relationships/image" Target="../media/image-159-6.png"/><Relationship Id="rId7" Type="http://schemas.openxmlformats.org/officeDocument/2006/relationships/image" Target="../media/image-159-7.png"/><Relationship Id="rId9" Type="http://schemas.openxmlformats.org/officeDocument/2006/relationships/slideLayout" Target="../slideLayouts/slideLayout2.xml"/><Relationship Id="rId10"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5" Type="http://schemas.openxmlformats.org/officeDocument/2006/relationships/slide" Target="slide2.xml"/><Relationship Id="rId1" Type="http://schemas.openxmlformats.org/officeDocument/2006/relationships/image" Target="../media/image-160-1.png"/><Relationship Id="rId2" Type="http://schemas.openxmlformats.org/officeDocument/2006/relationships/image" Target="../media/image-160-2.png"/><Relationship Id="rId3" Type="http://schemas.openxmlformats.org/officeDocument/2006/relationships/image" Target="../media/image-160-3.png"/><Relationship Id="rId4" Type="http://schemas.openxmlformats.org/officeDocument/2006/relationships/image" Target="../media/image-160-4.png"/><Relationship Id="rId6" Type="http://schemas.openxmlformats.org/officeDocument/2006/relationships/slideLayout" Target="../slideLayouts/slideLayout2.xml"/><Relationship Id="rId7"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4" Type="http://schemas.openxmlformats.org/officeDocument/2006/relationships/slide" Target="slide2.xml"/><Relationship Id="rId1" Type="http://schemas.openxmlformats.org/officeDocument/2006/relationships/image" Target="../media/image-161-1.png"/><Relationship Id="rId2" Type="http://schemas.openxmlformats.org/officeDocument/2006/relationships/image" Target="../media/image-161-2.png"/><Relationship Id="rId3" Type="http://schemas.openxmlformats.org/officeDocument/2006/relationships/image" Target="../media/image-161-3.png"/><Relationship Id="rId5" Type="http://schemas.openxmlformats.org/officeDocument/2006/relationships/slideLayout" Target="../slideLayouts/slideLayout2.xml"/><Relationship Id="rId6" Type="http://schemas.openxmlformats.org/officeDocument/2006/relationships/notesSlide" Target="../notesSlides/notesSlide16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097280"/>
            <a:ext cx="10698480" cy="914400"/>
          </a:xfrm>
          <a:prstGeom prst="rect">
            <a:avLst/>
          </a:prstGeom>
          <a:noFill/>
          <a:ln/>
        </p:spPr>
        <p:txBody>
          <a:bodyPr wrap="square" lIns="0" tIns="0" rIns="0" bIns="0" rtlCol="0" anchor="ctr"/>
          <a:lstStyle/>
          <a:p>
            <a:pPr algn="l" indent="0" marL="0">
              <a:buNone/>
            </a:pPr>
            <a:r>
              <a:rPr lang="en-US" sz="4800" b="1" dirty="0">
                <a:solidFill>
                  <a:srgbClr val="FFFFFF"/>
                </a:solidFill>
                <a:latin typeface="Calibri" pitchFamily="34" charset="0"/>
                <a:ea typeface="Calibri" pitchFamily="34" charset="-122"/>
                <a:cs typeface="Calibri" pitchFamily="34" charset="-120"/>
              </a:rPr>
              <a:t>The Infrastructure Behind AI</a:t>
            </a:r>
            <a:endParaRPr lang="en-US" sz="4800" dirty="0"/>
          </a:p>
        </p:txBody>
      </p:sp>
      <p:sp>
        <p:nvSpPr>
          <p:cNvPr id="3" name="Text 0"/>
          <p:cNvSpPr/>
          <p:nvPr>
            <p:ph idx="101" type="body" hasCustomPrompt="1"/>
          </p:nvPr>
        </p:nvSpPr>
        <p:spPr>
          <a:xfrm>
            <a:off x="731520" y="2011680"/>
            <a:ext cx="10698480" cy="548640"/>
          </a:xfrm>
          <a:prstGeom prst="rect">
            <a:avLst/>
          </a:prstGeom>
          <a:noFill/>
          <a:ln/>
        </p:spPr>
        <p:txBody>
          <a:bodyPr wrap="square" lIns="0" tIns="0" rIns="0" bIns="0" rtlCol="0" anchor="ctr"/>
          <a:lstStyle/>
          <a:p>
            <a:pPr algn="l" indent="0" marL="0">
              <a:buNone/>
            </a:pPr>
            <a:r>
              <a:rPr lang="en-US" sz="2200" dirty="0">
                <a:solidFill>
                  <a:srgbClr val="22D3EE"/>
                </a:solidFill>
                <a:latin typeface="Calibri" pitchFamily="34" charset="0"/>
                <a:ea typeface="Calibri" pitchFamily="34" charset="-122"/>
                <a:cs typeface="Calibri" pitchFamily="34" charset="-120"/>
              </a:rPr>
              <a:t>What really happens after you press Enter — from one GPU to a whole fleet</a:t>
            </a:r>
            <a:endParaRPr lang="en-US" sz="2200" dirty="0"/>
          </a:p>
        </p:txBody>
      </p:sp>
      <p:pic>
        <p:nvPicPr>
          <p:cNvPr id="4" name="layer_0" descr="The Infrastructure Behind AI — illustration part 1">    </p:cNvPr>
          <p:cNvPicPr>
            <a:picLocks noChangeAspect="1"/>
          </p:cNvPicPr>
          <p:nvPr/>
        </p:nvPicPr>
        <p:blipFill>
          <a:blip r:embed="rId1"/>
          <a:stretch>
            <a:fillRect/>
          </a:stretch>
        </p:blipFill>
        <p:spPr>
          <a:xfrm>
            <a:off x="813408" y="3024709"/>
            <a:ext cx="2855381" cy="1940368"/>
          </a:xfrm>
          <a:prstGeom prst="rect">
            <a:avLst/>
          </a:prstGeom>
        </p:spPr>
      </p:pic>
      <p:pic>
        <p:nvPicPr>
          <p:cNvPr id="5" name="layer_1" descr="The Infrastructure Behind AI — illustration part 2">    </p:cNvPr>
          <p:cNvPicPr>
            <a:picLocks noChangeAspect="1"/>
          </p:cNvPicPr>
          <p:nvPr/>
        </p:nvPicPr>
        <p:blipFill>
          <a:blip r:embed="rId2"/>
          <a:stretch>
            <a:fillRect/>
          </a:stretch>
        </p:blipFill>
        <p:spPr>
          <a:xfrm>
            <a:off x="3746411" y="3717697"/>
            <a:ext cx="1070075" cy="376986"/>
          </a:xfrm>
          <a:prstGeom prst="rect">
            <a:avLst/>
          </a:prstGeom>
        </p:spPr>
      </p:pic>
      <p:pic>
        <p:nvPicPr>
          <p:cNvPr id="6" name="layer_2" descr="The Infrastructure Behind AI — illustration part 3">    </p:cNvPr>
          <p:cNvPicPr>
            <a:picLocks noChangeAspect="1"/>
          </p:cNvPicPr>
          <p:nvPr/>
        </p:nvPicPr>
        <p:blipFill>
          <a:blip r:embed="rId3"/>
          <a:stretch>
            <a:fillRect/>
          </a:stretch>
        </p:blipFill>
        <p:spPr>
          <a:xfrm>
            <a:off x="5021629" y="3113411"/>
            <a:ext cx="2999536" cy="1624365"/>
          </a:xfrm>
          <a:prstGeom prst="rect">
            <a:avLst/>
          </a:prstGeom>
        </p:spPr>
      </p:pic>
      <p:pic>
        <p:nvPicPr>
          <p:cNvPr id="7" name="layer_3" descr="The Infrastructure Behind AI — illustration part 4">    </p:cNvPr>
          <p:cNvPicPr>
            <a:picLocks noChangeAspect="1"/>
          </p:cNvPicPr>
          <p:nvPr/>
        </p:nvPicPr>
        <p:blipFill>
          <a:blip r:embed="rId4"/>
          <a:stretch>
            <a:fillRect/>
          </a:stretch>
        </p:blipFill>
        <p:spPr>
          <a:xfrm>
            <a:off x="7965721" y="3207658"/>
            <a:ext cx="3298935" cy="3093501"/>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par>
                    <p:cTn id="15" fill="hold">
                      <p:stCondLst>
                        <p:cond delay="indefinite"/>
                      </p:stCondLst>
                      <p:childTnLst>
                        <p:par>
                          <p:cTn id="16" fill="hold">
                            <p:stCondLst>
                              <p:cond delay="0"/>
                            </p:stCondLst>
                            <p:childTnLst>
                              <p:par>
                                <p:cTn id="20" presetID="42"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p:cTn id="18" dur="600" fill="hold"/>
                                        <p:tgtEl>
                                          <p:spTgt spid="7"/>
                                        </p:tgtEl>
                                        <p:attrNameLst>
                                          <p:attrName>ppt_y</p:attrName>
                                        </p:attrNameLst>
                                      </p:cBhvr>
                                      <p:tavLst>
                                        <p:tav tm="0">
                                          <p:val>
                                            <p:strVal val="#ppt_y+0.03"/>
                                          </p:val>
                                        </p:tav>
                                        <p:tav tm="100000">
                                          <p:val>
                                            <p:strVal val="#ppt_y"/>
                                          </p:val>
                                        </p:tav>
                                      </p:tavLst>
                                    </p:anim>
                                    <p:animEffect transition="in" filter="fade">
                                      <p:cBhvr>
                                        <p:cTn id="19" dur="6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Agenda</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Click any section to jump straight to it — every slide has an Agenda button to come back</a:t>
            </a:r>
            <a:endParaRPr lang="en-US" sz="1700" dirty="0"/>
          </a:p>
        </p:txBody>
      </p:sp>
      <p:sp>
        <p:nvSpPr>
          <p:cNvPr id="4" name="agenda_card_0"/>
          <p:cNvSpPr/>
          <p:nvPr/>
        </p:nvSpPr>
        <p:spPr>
          <a:xfrm>
            <a:off x="640080" y="1810512"/>
            <a:ext cx="5303520" cy="640080"/>
          </a:xfrm>
          <a:prstGeom prst="roundRect">
            <a:avLst>
              <a:gd name="adj" fmla="val 20000"/>
            </a:avLst>
          </a:prstGeom>
          <a:solidFill>
            <a:srgbClr val="0A1430">
              <a:alpha val="75000"/>
            </a:srgbClr>
          </a:solidFill>
          <a:ln w="15875">
            <a:solidFill>
              <a:srgbClr val="22D3EE"/>
            </a:solidFill>
            <a:prstDash val="solid"/>
          </a:ln>
        </p:spPr>
      </p:sp>
      <p:sp>
        <p:nvSpPr>
          <p:cNvPr id="5" name="agenda_link_0"/>
          <p:cNvSpPr txBox="1"/>
          <p:nvPr/>
        </p:nvSpPr>
        <p:spPr>
          <a:xfrm>
            <a:off x="822960" y="1810512"/>
            <a:ext cx="4983480" cy="640080"/>
          </a:xfrm>
          <a:prstGeom prst="rect">
            <a:avLst/>
          </a:prstGeom>
          <a:noFill/>
          <a:ln/>
        </p:spPr>
        <p:txBody>
          <a:bodyPr wrap="square" lIns="0" tIns="0" rIns="0" bIns="0" rtlCol="0" anchor="ctr"/>
          <a:lstStyle/>
          <a:p>
            <a:pPr indent="0" marL="0">
              <a:buNone/>
            </a:pPr>
            <a:r>
              <a:rPr lang="en-US" sz="2200" b="1" u="sng" dirty="0">
                <a:solidFill>
                  <a:srgbClr val="22D3EE"/>
                </a:solidFill>
                <a:latin typeface="Calibri" pitchFamily="34" charset="0"/>
                <a:ea typeface="Calibri" pitchFamily="34" charset="-122"/>
                <a:cs typeface="Calibri" pitchFamily="34" charset="-120"/>
                <a:hlinkClick r:id="rId1" action="ppaction://hlinksldjump" tooltip="Introduction">
                  <a:extLst>
                    <a:ext uri="{A12FA001-AC4F-418D-AE19-62706E023703}">
                      <ahyp:hlinkClr xmlns:ahyp="http://schemas.microsoft.com/office/drawing/2018/hyperlinkcolor" val="tx"/>
                    </a:ext>
                  </a:extLst>
                </a:hlinkClick>
              </a:rPr>
              <a:t>00   </a:t>
            </a:r>
            <a:pPr indent="0" marL="0">
              <a:buNone/>
            </a:pPr>
            <a:r>
              <a:rPr lang="en-US" sz="1600" b="1" u="sng" dirty="0">
                <a:solidFill>
                  <a:srgbClr val="FFFFFF"/>
                </a:solidFill>
                <a:latin typeface="Calibri" pitchFamily="34" charset="0"/>
                <a:ea typeface="Calibri" pitchFamily="34" charset="-122"/>
                <a:cs typeface="Calibri" pitchFamily="34" charset="-120"/>
                <a:hlinkClick r:id="rId2" action="ppaction://hlinksldjump" tooltip="Introduction">
                  <a:extLst>
                    <a:ext uri="{A12FA001-AC4F-418D-AE19-62706E023703}">
                      <ahyp:hlinkClr xmlns:ahyp="http://schemas.microsoft.com/office/drawing/2018/hyperlinkcolor" val="tx"/>
                    </a:ext>
                  </a:extLst>
                </a:hlinkClick>
              </a:rPr>
              <a:t>Introduction</a:t>
            </a:r>
            <a:endParaRPr lang="en-US" sz="2200" dirty="0"/>
          </a:p>
        </p:txBody>
      </p:sp>
      <p:sp>
        <p:nvSpPr>
          <p:cNvPr id="6" name="agenda_card_1"/>
          <p:cNvSpPr/>
          <p:nvPr/>
        </p:nvSpPr>
        <p:spPr>
          <a:xfrm>
            <a:off x="640080" y="2560320"/>
            <a:ext cx="5303520" cy="640080"/>
          </a:xfrm>
          <a:prstGeom prst="roundRect">
            <a:avLst>
              <a:gd name="adj" fmla="val 20000"/>
            </a:avLst>
          </a:prstGeom>
          <a:solidFill>
            <a:srgbClr val="0A1430">
              <a:alpha val="75000"/>
            </a:srgbClr>
          </a:solidFill>
          <a:ln w="15875">
            <a:solidFill>
              <a:srgbClr val="FFD166"/>
            </a:solidFill>
            <a:prstDash val="solid"/>
          </a:ln>
        </p:spPr>
      </p:sp>
      <p:sp>
        <p:nvSpPr>
          <p:cNvPr id="7" name="agenda_link_1"/>
          <p:cNvSpPr txBox="1"/>
          <p:nvPr/>
        </p:nvSpPr>
        <p:spPr>
          <a:xfrm>
            <a:off x="822960" y="2560320"/>
            <a:ext cx="4983480" cy="640080"/>
          </a:xfrm>
          <a:prstGeom prst="rect">
            <a:avLst/>
          </a:prstGeom>
          <a:noFill/>
          <a:ln/>
        </p:spPr>
        <p:txBody>
          <a:bodyPr wrap="square" lIns="0" tIns="0" rIns="0" bIns="0" rtlCol="0" anchor="ctr"/>
          <a:lstStyle/>
          <a:p>
            <a:pPr indent="0" marL="0">
              <a:buNone/>
            </a:pPr>
            <a:r>
              <a:rPr lang="en-US" sz="2200" b="1" u="sng" dirty="0">
                <a:solidFill>
                  <a:srgbClr val="FFD166"/>
                </a:solidFill>
                <a:latin typeface="Calibri" pitchFamily="34" charset="0"/>
                <a:ea typeface="Calibri" pitchFamily="34" charset="-122"/>
                <a:cs typeface="Calibri" pitchFamily="34" charset="-120"/>
                <a:hlinkClick r:id="rId3" action="ppaction://hlinksldjump" tooltip="What Is a Model?">
                  <a:extLst>
                    <a:ext uri="{A12FA001-AC4F-418D-AE19-62706E023703}">
                      <ahyp:hlinkClr xmlns:ahyp="http://schemas.microsoft.com/office/drawing/2018/hyperlinkcolor" val="tx"/>
                    </a:ext>
                  </a:extLst>
                </a:hlinkClick>
              </a:rPr>
              <a:t>01   </a:t>
            </a:r>
            <a:pPr indent="0" marL="0">
              <a:buNone/>
            </a:pPr>
            <a:r>
              <a:rPr lang="en-US" sz="1600" b="1" u="sng" dirty="0">
                <a:solidFill>
                  <a:srgbClr val="FFFFFF"/>
                </a:solidFill>
                <a:latin typeface="Calibri" pitchFamily="34" charset="0"/>
                <a:ea typeface="Calibri" pitchFamily="34" charset="-122"/>
                <a:cs typeface="Calibri" pitchFamily="34" charset="-120"/>
                <a:hlinkClick r:id="rId4" action="ppaction://hlinksldjump" tooltip="What Is a Model?">
                  <a:extLst>
                    <a:ext uri="{A12FA001-AC4F-418D-AE19-62706E023703}">
                      <ahyp:hlinkClr xmlns:ahyp="http://schemas.microsoft.com/office/drawing/2018/hyperlinkcolor" val="tx"/>
                    </a:ext>
                  </a:extLst>
                </a:hlinkClick>
              </a:rPr>
              <a:t>What Is a Model?</a:t>
            </a:r>
            <a:endParaRPr lang="en-US" sz="2200" dirty="0"/>
          </a:p>
        </p:txBody>
      </p:sp>
      <p:sp>
        <p:nvSpPr>
          <p:cNvPr id="8" name="agenda_card_2"/>
          <p:cNvSpPr/>
          <p:nvPr/>
        </p:nvSpPr>
        <p:spPr>
          <a:xfrm>
            <a:off x="640080" y="3310128"/>
            <a:ext cx="5303520" cy="640080"/>
          </a:xfrm>
          <a:prstGeom prst="roundRect">
            <a:avLst>
              <a:gd name="adj" fmla="val 20000"/>
            </a:avLst>
          </a:prstGeom>
          <a:solidFill>
            <a:srgbClr val="0A1430">
              <a:alpha val="75000"/>
            </a:srgbClr>
          </a:solidFill>
          <a:ln w="15875">
            <a:solidFill>
              <a:srgbClr val="5EE6A8"/>
            </a:solidFill>
            <a:prstDash val="solid"/>
          </a:ln>
        </p:spPr>
      </p:sp>
      <p:sp>
        <p:nvSpPr>
          <p:cNvPr id="9" name="agenda_link_2"/>
          <p:cNvSpPr txBox="1"/>
          <p:nvPr/>
        </p:nvSpPr>
        <p:spPr>
          <a:xfrm>
            <a:off x="822960" y="3310128"/>
            <a:ext cx="4983480" cy="640080"/>
          </a:xfrm>
          <a:prstGeom prst="rect">
            <a:avLst/>
          </a:prstGeom>
          <a:noFill/>
          <a:ln/>
        </p:spPr>
        <p:txBody>
          <a:bodyPr wrap="square" lIns="0" tIns="0" rIns="0" bIns="0" rtlCol="0" anchor="ctr"/>
          <a:lstStyle/>
          <a:p>
            <a:pPr indent="0" marL="0">
              <a:buNone/>
            </a:pPr>
            <a:r>
              <a:rPr lang="en-US" sz="2200" b="1" u="sng" dirty="0">
                <a:solidFill>
                  <a:srgbClr val="5EE6A8"/>
                </a:solidFill>
                <a:latin typeface="Calibri" pitchFamily="34" charset="0"/>
                <a:ea typeface="Calibri" pitchFamily="34" charset="-122"/>
                <a:cs typeface="Calibri" pitchFamily="34" charset="-120"/>
                <a:hlinkClick r:id="rId5" action="ppaction://hlinksldjump" tooltip="Why Not Just Use Your Laptop?">
                  <a:extLst>
                    <a:ext uri="{A12FA001-AC4F-418D-AE19-62706E023703}">
                      <ahyp:hlinkClr xmlns:ahyp="http://schemas.microsoft.com/office/drawing/2018/hyperlinkcolor" val="tx"/>
                    </a:ext>
                  </a:extLst>
                </a:hlinkClick>
              </a:rPr>
              <a:t>02   </a:t>
            </a:r>
            <a:pPr indent="0" marL="0">
              <a:buNone/>
            </a:pPr>
            <a:r>
              <a:rPr lang="en-US" sz="1600" b="1" u="sng" dirty="0">
                <a:solidFill>
                  <a:srgbClr val="FFFFFF"/>
                </a:solidFill>
                <a:latin typeface="Calibri" pitchFamily="34" charset="0"/>
                <a:ea typeface="Calibri" pitchFamily="34" charset="-122"/>
                <a:cs typeface="Calibri" pitchFamily="34" charset="-120"/>
                <a:hlinkClick r:id="rId6" action="ppaction://hlinksldjump" tooltip="Why Not Just Use Your Laptop?">
                  <a:extLst>
                    <a:ext uri="{A12FA001-AC4F-418D-AE19-62706E023703}">
                      <ahyp:hlinkClr xmlns:ahyp="http://schemas.microsoft.com/office/drawing/2018/hyperlinkcolor" val="tx"/>
                    </a:ext>
                  </a:extLst>
                </a:hlinkClick>
              </a:rPr>
              <a:t>Why Not Just Use Your Laptop?</a:t>
            </a:r>
            <a:endParaRPr lang="en-US" sz="2200" dirty="0"/>
          </a:p>
        </p:txBody>
      </p:sp>
      <p:sp>
        <p:nvSpPr>
          <p:cNvPr id="10" name="agenda_card_3"/>
          <p:cNvSpPr/>
          <p:nvPr/>
        </p:nvSpPr>
        <p:spPr>
          <a:xfrm>
            <a:off x="640080" y="4059936"/>
            <a:ext cx="5303520" cy="640080"/>
          </a:xfrm>
          <a:prstGeom prst="roundRect">
            <a:avLst>
              <a:gd name="adj" fmla="val 20000"/>
            </a:avLst>
          </a:prstGeom>
          <a:solidFill>
            <a:srgbClr val="0A1430">
              <a:alpha val="75000"/>
            </a:srgbClr>
          </a:solidFill>
          <a:ln w="15875">
            <a:solidFill>
              <a:srgbClr val="FF7EB3"/>
            </a:solidFill>
            <a:prstDash val="solid"/>
          </a:ln>
        </p:spPr>
      </p:sp>
      <p:sp>
        <p:nvSpPr>
          <p:cNvPr id="11" name="agenda_link_3"/>
          <p:cNvSpPr txBox="1"/>
          <p:nvPr/>
        </p:nvSpPr>
        <p:spPr>
          <a:xfrm>
            <a:off x="822960" y="4059936"/>
            <a:ext cx="4983480" cy="640080"/>
          </a:xfrm>
          <a:prstGeom prst="rect">
            <a:avLst/>
          </a:prstGeom>
          <a:noFill/>
          <a:ln/>
        </p:spPr>
        <p:txBody>
          <a:bodyPr wrap="square" lIns="0" tIns="0" rIns="0" bIns="0" rtlCol="0" anchor="ctr"/>
          <a:lstStyle/>
          <a:p>
            <a:pPr indent="0" marL="0">
              <a:buNone/>
            </a:pPr>
            <a:r>
              <a:rPr lang="en-US" sz="2200" b="1" u="sng" dirty="0">
                <a:solidFill>
                  <a:srgbClr val="FF7EB3"/>
                </a:solidFill>
                <a:latin typeface="Calibri" pitchFamily="34" charset="0"/>
                <a:ea typeface="Calibri" pitchFamily="34" charset="-122"/>
                <a:cs typeface="Calibri" pitchFamily="34" charset="-120"/>
                <a:hlinkClick r:id="rId7" action="ppaction://hlinksldjump" tooltip="From Script to Model Server">
                  <a:extLst>
                    <a:ext uri="{A12FA001-AC4F-418D-AE19-62706E023703}">
                      <ahyp:hlinkClr xmlns:ahyp="http://schemas.microsoft.com/office/drawing/2018/hyperlinkcolor" val="tx"/>
                    </a:ext>
                  </a:extLst>
                </a:hlinkClick>
              </a:rPr>
              <a:t>03   </a:t>
            </a:r>
            <a:pPr indent="0" marL="0">
              <a:buNone/>
            </a:pPr>
            <a:r>
              <a:rPr lang="en-US" sz="1600" b="1" u="sng" dirty="0">
                <a:solidFill>
                  <a:srgbClr val="FFFFFF"/>
                </a:solidFill>
                <a:latin typeface="Calibri" pitchFamily="34" charset="0"/>
                <a:ea typeface="Calibri" pitchFamily="34" charset="-122"/>
                <a:cs typeface="Calibri" pitchFamily="34" charset="-120"/>
                <a:hlinkClick r:id="rId8" action="ppaction://hlinksldjump" tooltip="From Script to Model Server">
                  <a:extLst>
                    <a:ext uri="{A12FA001-AC4F-418D-AE19-62706E023703}">
                      <ahyp:hlinkClr xmlns:ahyp="http://schemas.microsoft.com/office/drawing/2018/hyperlinkcolor" val="tx"/>
                    </a:ext>
                  </a:extLst>
                </a:hlinkClick>
              </a:rPr>
              <a:t>From Script to Model Server</a:t>
            </a:r>
            <a:endParaRPr lang="en-US" sz="2200" dirty="0"/>
          </a:p>
        </p:txBody>
      </p:sp>
      <p:sp>
        <p:nvSpPr>
          <p:cNvPr id="12" name="agenda_card_4"/>
          <p:cNvSpPr/>
          <p:nvPr/>
        </p:nvSpPr>
        <p:spPr>
          <a:xfrm>
            <a:off x="640080" y="4809744"/>
            <a:ext cx="5303520" cy="640080"/>
          </a:xfrm>
          <a:prstGeom prst="roundRect">
            <a:avLst>
              <a:gd name="adj" fmla="val 20000"/>
            </a:avLst>
          </a:prstGeom>
          <a:solidFill>
            <a:srgbClr val="0A1430">
              <a:alpha val="75000"/>
            </a:srgbClr>
          </a:solidFill>
          <a:ln w="15875">
            <a:solidFill>
              <a:srgbClr val="5AAEFF"/>
            </a:solidFill>
            <a:prstDash val="solid"/>
          </a:ln>
        </p:spPr>
      </p:sp>
      <p:sp>
        <p:nvSpPr>
          <p:cNvPr id="13" name="agenda_link_4"/>
          <p:cNvSpPr txBox="1"/>
          <p:nvPr/>
        </p:nvSpPr>
        <p:spPr>
          <a:xfrm>
            <a:off x="822960" y="4809744"/>
            <a:ext cx="4983480" cy="640080"/>
          </a:xfrm>
          <a:prstGeom prst="rect">
            <a:avLst/>
          </a:prstGeom>
          <a:noFill/>
          <a:ln/>
        </p:spPr>
        <p:txBody>
          <a:bodyPr wrap="square" lIns="0" tIns="0" rIns="0" bIns="0" rtlCol="0" anchor="ctr"/>
          <a:lstStyle/>
          <a:p>
            <a:pPr indent="0" marL="0">
              <a:buNone/>
            </a:pPr>
            <a:r>
              <a:rPr lang="en-US" sz="2200" b="1" u="sng" dirty="0">
                <a:solidFill>
                  <a:srgbClr val="5AAEFF"/>
                </a:solidFill>
                <a:latin typeface="Calibri" pitchFamily="34" charset="0"/>
                <a:ea typeface="Calibri" pitchFamily="34" charset="-122"/>
                <a:cs typeface="Calibri" pitchFamily="34" charset="-120"/>
                <a:hlinkClick r:id="rId9" action="ppaction://hlinksldjump" tooltip="Prefill, Decode &amp; the KV Cache">
                  <a:extLst>
                    <a:ext uri="{A12FA001-AC4F-418D-AE19-62706E023703}">
                      <ahyp:hlinkClr xmlns:ahyp="http://schemas.microsoft.com/office/drawing/2018/hyperlinkcolor" val="tx"/>
                    </a:ext>
                  </a:extLst>
                </a:hlinkClick>
              </a:rPr>
              <a:t>04   </a:t>
            </a:r>
            <a:pPr indent="0" marL="0">
              <a:buNone/>
            </a:pPr>
            <a:r>
              <a:rPr lang="en-US" sz="1600" b="1" u="sng" dirty="0">
                <a:solidFill>
                  <a:srgbClr val="FFFFFF"/>
                </a:solidFill>
                <a:latin typeface="Calibri" pitchFamily="34" charset="0"/>
                <a:ea typeface="Calibri" pitchFamily="34" charset="-122"/>
                <a:cs typeface="Calibri" pitchFamily="34" charset="-120"/>
                <a:hlinkClick r:id="rId10" action="ppaction://hlinksldjump" tooltip="Prefill, Decode &amp; the KV Cache">
                  <a:extLst>
                    <a:ext uri="{A12FA001-AC4F-418D-AE19-62706E023703}">
                      <ahyp:hlinkClr xmlns:ahyp="http://schemas.microsoft.com/office/drawing/2018/hyperlinkcolor" val="tx"/>
                    </a:ext>
                  </a:extLst>
                </a:hlinkClick>
              </a:rPr>
              <a:t>Prefill, Decode &amp; the KV Cache</a:t>
            </a:r>
            <a:endParaRPr lang="en-US" sz="2200" dirty="0"/>
          </a:p>
        </p:txBody>
      </p:sp>
      <p:sp>
        <p:nvSpPr>
          <p:cNvPr id="14" name="agenda_card_5"/>
          <p:cNvSpPr/>
          <p:nvPr/>
        </p:nvSpPr>
        <p:spPr>
          <a:xfrm>
            <a:off x="640080" y="5559552"/>
            <a:ext cx="5303520" cy="640080"/>
          </a:xfrm>
          <a:prstGeom prst="roundRect">
            <a:avLst>
              <a:gd name="adj" fmla="val 20000"/>
            </a:avLst>
          </a:prstGeom>
          <a:solidFill>
            <a:srgbClr val="0A1430">
              <a:alpha val="75000"/>
            </a:srgbClr>
          </a:solidFill>
          <a:ln w="15875">
            <a:solidFill>
              <a:srgbClr val="22D3EE"/>
            </a:solidFill>
            <a:prstDash val="solid"/>
          </a:ln>
        </p:spPr>
      </p:sp>
      <p:sp>
        <p:nvSpPr>
          <p:cNvPr id="15" name="agenda_link_5"/>
          <p:cNvSpPr txBox="1"/>
          <p:nvPr/>
        </p:nvSpPr>
        <p:spPr>
          <a:xfrm>
            <a:off x="822960" y="5559552"/>
            <a:ext cx="4983480" cy="640080"/>
          </a:xfrm>
          <a:prstGeom prst="rect">
            <a:avLst/>
          </a:prstGeom>
          <a:noFill/>
          <a:ln/>
        </p:spPr>
        <p:txBody>
          <a:bodyPr wrap="square" lIns="0" tIns="0" rIns="0" bIns="0" rtlCol="0" anchor="ctr"/>
          <a:lstStyle/>
          <a:p>
            <a:pPr indent="0" marL="0">
              <a:buNone/>
            </a:pPr>
            <a:r>
              <a:rPr lang="en-US" sz="2200" b="1" u="sng" dirty="0">
                <a:solidFill>
                  <a:srgbClr val="22D3EE"/>
                </a:solidFill>
                <a:latin typeface="Calibri" pitchFamily="34" charset="0"/>
                <a:ea typeface="Calibri" pitchFamily="34" charset="-122"/>
                <a:cs typeface="Calibri" pitchFamily="34" charset="-120"/>
                <a:hlinkClick r:id="rId11" action="ppaction://hlinksldjump" tooltip="Batching: Many Users, One GPU">
                  <a:extLst>
                    <a:ext uri="{A12FA001-AC4F-418D-AE19-62706E023703}">
                      <ahyp:hlinkClr xmlns:ahyp="http://schemas.microsoft.com/office/drawing/2018/hyperlinkcolor" val="tx"/>
                    </a:ext>
                  </a:extLst>
                </a:hlinkClick>
              </a:rPr>
              <a:t>05   </a:t>
            </a:r>
            <a:pPr indent="0" marL="0">
              <a:buNone/>
            </a:pPr>
            <a:r>
              <a:rPr lang="en-US" sz="1600" b="1" u="sng" dirty="0">
                <a:solidFill>
                  <a:srgbClr val="FFFFFF"/>
                </a:solidFill>
                <a:latin typeface="Calibri" pitchFamily="34" charset="0"/>
                <a:ea typeface="Calibri" pitchFamily="34" charset="-122"/>
                <a:cs typeface="Calibri" pitchFamily="34" charset="-120"/>
                <a:hlinkClick r:id="rId12" action="ppaction://hlinksldjump" tooltip="Batching: Many Users, One GPU">
                  <a:extLst>
                    <a:ext uri="{A12FA001-AC4F-418D-AE19-62706E023703}">
                      <ahyp:hlinkClr xmlns:ahyp="http://schemas.microsoft.com/office/drawing/2018/hyperlinkcolor" val="tx"/>
                    </a:ext>
                  </a:extLst>
                </a:hlinkClick>
              </a:rPr>
              <a:t>Batching: Many Users, One GPU</a:t>
            </a:r>
            <a:endParaRPr lang="en-US" sz="2200" dirty="0"/>
          </a:p>
        </p:txBody>
      </p:sp>
      <p:sp>
        <p:nvSpPr>
          <p:cNvPr id="16" name="agenda_card_6"/>
          <p:cNvSpPr/>
          <p:nvPr/>
        </p:nvSpPr>
        <p:spPr>
          <a:xfrm>
            <a:off x="6217920" y="1810512"/>
            <a:ext cx="5303520" cy="640080"/>
          </a:xfrm>
          <a:prstGeom prst="roundRect">
            <a:avLst>
              <a:gd name="adj" fmla="val 20000"/>
            </a:avLst>
          </a:prstGeom>
          <a:solidFill>
            <a:srgbClr val="0A1430">
              <a:alpha val="75000"/>
            </a:srgbClr>
          </a:solidFill>
          <a:ln w="15875">
            <a:solidFill>
              <a:srgbClr val="FFD166"/>
            </a:solidFill>
            <a:prstDash val="solid"/>
          </a:ln>
        </p:spPr>
      </p:sp>
      <p:sp>
        <p:nvSpPr>
          <p:cNvPr id="17" name="agenda_link_6"/>
          <p:cNvSpPr txBox="1"/>
          <p:nvPr/>
        </p:nvSpPr>
        <p:spPr>
          <a:xfrm>
            <a:off x="6400800" y="1810512"/>
            <a:ext cx="4983480" cy="640080"/>
          </a:xfrm>
          <a:prstGeom prst="rect">
            <a:avLst/>
          </a:prstGeom>
          <a:noFill/>
          <a:ln/>
        </p:spPr>
        <p:txBody>
          <a:bodyPr wrap="square" lIns="0" tIns="0" rIns="0" bIns="0" rtlCol="0" anchor="ctr"/>
          <a:lstStyle/>
          <a:p>
            <a:pPr indent="0" marL="0">
              <a:buNone/>
            </a:pPr>
            <a:r>
              <a:rPr lang="en-US" sz="2200" b="1" u="sng" dirty="0">
                <a:solidFill>
                  <a:srgbClr val="FFD166"/>
                </a:solidFill>
                <a:latin typeface="Calibri" pitchFamily="34" charset="0"/>
                <a:ea typeface="Calibri" pitchFamily="34" charset="-122"/>
                <a:cs typeface="Calibri" pitchFamily="34" charset="-120"/>
                <a:hlinkClick r:id="rId13" action="ppaction://hlinksldjump" tooltip="Sharding Giant Models">
                  <a:extLst>
                    <a:ext uri="{A12FA001-AC4F-418D-AE19-62706E023703}">
                      <ahyp:hlinkClr xmlns:ahyp="http://schemas.microsoft.com/office/drawing/2018/hyperlinkcolor" val="tx"/>
                    </a:ext>
                  </a:extLst>
                </a:hlinkClick>
              </a:rPr>
              <a:t>06   </a:t>
            </a:r>
            <a:pPr indent="0" marL="0">
              <a:buNone/>
            </a:pPr>
            <a:r>
              <a:rPr lang="en-US" sz="1600" b="1" u="sng" dirty="0">
                <a:solidFill>
                  <a:srgbClr val="FFFFFF"/>
                </a:solidFill>
                <a:latin typeface="Calibri" pitchFamily="34" charset="0"/>
                <a:ea typeface="Calibri" pitchFamily="34" charset="-122"/>
                <a:cs typeface="Calibri" pitchFamily="34" charset="-120"/>
                <a:hlinkClick r:id="rId14" action="ppaction://hlinksldjump" tooltip="Sharding Giant Models">
                  <a:extLst>
                    <a:ext uri="{A12FA001-AC4F-418D-AE19-62706E023703}">
                      <ahyp:hlinkClr xmlns:ahyp="http://schemas.microsoft.com/office/drawing/2018/hyperlinkcolor" val="tx"/>
                    </a:ext>
                  </a:extLst>
                </a:hlinkClick>
              </a:rPr>
              <a:t>Sharding Giant Models</a:t>
            </a:r>
            <a:endParaRPr lang="en-US" sz="2200" dirty="0"/>
          </a:p>
        </p:txBody>
      </p:sp>
      <p:sp>
        <p:nvSpPr>
          <p:cNvPr id="18" name="agenda_card_7"/>
          <p:cNvSpPr/>
          <p:nvPr/>
        </p:nvSpPr>
        <p:spPr>
          <a:xfrm>
            <a:off x="6217920" y="2560320"/>
            <a:ext cx="5303520" cy="640080"/>
          </a:xfrm>
          <a:prstGeom prst="roundRect">
            <a:avLst>
              <a:gd name="adj" fmla="val 20000"/>
            </a:avLst>
          </a:prstGeom>
          <a:solidFill>
            <a:srgbClr val="0A1430">
              <a:alpha val="75000"/>
            </a:srgbClr>
          </a:solidFill>
          <a:ln w="15875">
            <a:solidFill>
              <a:srgbClr val="5EE6A8"/>
            </a:solidFill>
            <a:prstDash val="solid"/>
          </a:ln>
        </p:spPr>
      </p:sp>
      <p:sp>
        <p:nvSpPr>
          <p:cNvPr id="19" name="agenda_link_7"/>
          <p:cNvSpPr txBox="1"/>
          <p:nvPr/>
        </p:nvSpPr>
        <p:spPr>
          <a:xfrm>
            <a:off x="6400800" y="2560320"/>
            <a:ext cx="4983480" cy="640080"/>
          </a:xfrm>
          <a:prstGeom prst="rect">
            <a:avLst/>
          </a:prstGeom>
          <a:noFill/>
          <a:ln/>
        </p:spPr>
        <p:txBody>
          <a:bodyPr wrap="square" lIns="0" tIns="0" rIns="0" bIns="0" rtlCol="0" anchor="ctr"/>
          <a:lstStyle/>
          <a:p>
            <a:pPr indent="0" marL="0">
              <a:buNone/>
            </a:pPr>
            <a:r>
              <a:rPr lang="en-US" sz="2200" b="1" u="sng" dirty="0">
                <a:solidFill>
                  <a:srgbClr val="5EE6A8"/>
                </a:solidFill>
                <a:latin typeface="Calibri" pitchFamily="34" charset="0"/>
                <a:ea typeface="Calibri" pitchFamily="34" charset="-122"/>
                <a:cs typeface="Calibri" pitchFamily="34" charset="-120"/>
                <a:hlinkClick r:id="rId15" action="ppaction://hlinksldjump" tooltip="Fleets &amp; Why Load Balancing Breaks">
                  <a:extLst>
                    <a:ext uri="{A12FA001-AC4F-418D-AE19-62706E023703}">
                      <ahyp:hlinkClr xmlns:ahyp="http://schemas.microsoft.com/office/drawing/2018/hyperlinkcolor" val="tx"/>
                    </a:ext>
                  </a:extLst>
                </a:hlinkClick>
              </a:rPr>
              <a:t>07   </a:t>
            </a:r>
            <a:pPr indent="0" marL="0">
              <a:buNone/>
            </a:pPr>
            <a:r>
              <a:rPr lang="en-US" sz="1600" b="1" u="sng" dirty="0">
                <a:solidFill>
                  <a:srgbClr val="FFFFFF"/>
                </a:solidFill>
                <a:latin typeface="Calibri" pitchFamily="34" charset="0"/>
                <a:ea typeface="Calibri" pitchFamily="34" charset="-122"/>
                <a:cs typeface="Calibri" pitchFamily="34" charset="-120"/>
                <a:hlinkClick r:id="rId16" action="ppaction://hlinksldjump" tooltip="Fleets &amp; Why Load Balancing Breaks">
                  <a:extLst>
                    <a:ext uri="{A12FA001-AC4F-418D-AE19-62706E023703}">
                      <ahyp:hlinkClr xmlns:ahyp="http://schemas.microsoft.com/office/drawing/2018/hyperlinkcolor" val="tx"/>
                    </a:ext>
                  </a:extLst>
                </a:hlinkClick>
              </a:rPr>
              <a:t>Fleets &amp; Why Load Balancing Breaks</a:t>
            </a:r>
            <a:endParaRPr lang="en-US" sz="2200" dirty="0"/>
          </a:p>
        </p:txBody>
      </p:sp>
      <p:sp>
        <p:nvSpPr>
          <p:cNvPr id="20" name="agenda_card_8"/>
          <p:cNvSpPr/>
          <p:nvPr/>
        </p:nvSpPr>
        <p:spPr>
          <a:xfrm>
            <a:off x="6217920" y="3310128"/>
            <a:ext cx="5303520" cy="640080"/>
          </a:xfrm>
          <a:prstGeom prst="roundRect">
            <a:avLst>
              <a:gd name="adj" fmla="val 20000"/>
            </a:avLst>
          </a:prstGeom>
          <a:solidFill>
            <a:srgbClr val="0A1430">
              <a:alpha val="75000"/>
            </a:srgbClr>
          </a:solidFill>
          <a:ln w="15875">
            <a:solidFill>
              <a:srgbClr val="FF7EB3"/>
            </a:solidFill>
            <a:prstDash val="solid"/>
          </a:ln>
        </p:spPr>
      </p:sp>
      <p:sp>
        <p:nvSpPr>
          <p:cNvPr id="21" name="agenda_link_8"/>
          <p:cNvSpPr txBox="1"/>
          <p:nvPr/>
        </p:nvSpPr>
        <p:spPr>
          <a:xfrm>
            <a:off x="6400800" y="3310128"/>
            <a:ext cx="4983480" cy="640080"/>
          </a:xfrm>
          <a:prstGeom prst="rect">
            <a:avLst/>
          </a:prstGeom>
          <a:noFill/>
          <a:ln/>
        </p:spPr>
        <p:txBody>
          <a:bodyPr wrap="square" lIns="0" tIns="0" rIns="0" bIns="0" rtlCol="0" anchor="ctr"/>
          <a:lstStyle/>
          <a:p>
            <a:pPr indent="0" marL="0">
              <a:buNone/>
            </a:pPr>
            <a:r>
              <a:rPr lang="en-US" sz="2200" b="1" u="sng" dirty="0">
                <a:solidFill>
                  <a:srgbClr val="FF7EB3"/>
                </a:solidFill>
                <a:latin typeface="Calibri" pitchFamily="34" charset="0"/>
                <a:ea typeface="Calibri" pitchFamily="34" charset="-122"/>
                <a:cs typeface="Calibri" pitchFamily="34" charset="-120"/>
                <a:hlinkClick r:id="rId17" action="ppaction://hlinksldjump" tooltip="llm-d: Smart Routing for LLMs">
                  <a:extLst>
                    <a:ext uri="{A12FA001-AC4F-418D-AE19-62706E023703}">
                      <ahyp:hlinkClr xmlns:ahyp="http://schemas.microsoft.com/office/drawing/2018/hyperlinkcolor" val="tx"/>
                    </a:ext>
                  </a:extLst>
                </a:hlinkClick>
              </a:rPr>
              <a:t>08   </a:t>
            </a:r>
            <a:pPr indent="0" marL="0">
              <a:buNone/>
            </a:pPr>
            <a:r>
              <a:rPr lang="en-US" sz="1600" b="1" u="sng" dirty="0">
                <a:solidFill>
                  <a:srgbClr val="FFFFFF"/>
                </a:solidFill>
                <a:latin typeface="Calibri" pitchFamily="34" charset="0"/>
                <a:ea typeface="Calibri" pitchFamily="34" charset="-122"/>
                <a:cs typeface="Calibri" pitchFamily="34" charset="-120"/>
                <a:hlinkClick r:id="rId18" action="ppaction://hlinksldjump" tooltip="llm-d: Smart Routing for LLMs">
                  <a:extLst>
                    <a:ext uri="{A12FA001-AC4F-418D-AE19-62706E023703}">
                      <ahyp:hlinkClr xmlns:ahyp="http://schemas.microsoft.com/office/drawing/2018/hyperlinkcolor" val="tx"/>
                    </a:ext>
                  </a:extLst>
                </a:hlinkClick>
              </a:rPr>
              <a:t>llm-d: Smart Routing for LLMs</a:t>
            </a:r>
            <a:endParaRPr lang="en-US" sz="2200" dirty="0"/>
          </a:p>
        </p:txBody>
      </p:sp>
      <p:sp>
        <p:nvSpPr>
          <p:cNvPr id="22" name="agenda_card_9"/>
          <p:cNvSpPr/>
          <p:nvPr/>
        </p:nvSpPr>
        <p:spPr>
          <a:xfrm>
            <a:off x="6217920" y="4059936"/>
            <a:ext cx="5303520" cy="640080"/>
          </a:xfrm>
          <a:prstGeom prst="roundRect">
            <a:avLst>
              <a:gd name="adj" fmla="val 20000"/>
            </a:avLst>
          </a:prstGeom>
          <a:solidFill>
            <a:srgbClr val="0A1430">
              <a:alpha val="75000"/>
            </a:srgbClr>
          </a:solidFill>
          <a:ln w="15875">
            <a:solidFill>
              <a:srgbClr val="5AAEFF"/>
            </a:solidFill>
            <a:prstDash val="solid"/>
          </a:ln>
        </p:spPr>
      </p:sp>
      <p:sp>
        <p:nvSpPr>
          <p:cNvPr id="23" name="agenda_link_9"/>
          <p:cNvSpPr txBox="1"/>
          <p:nvPr/>
        </p:nvSpPr>
        <p:spPr>
          <a:xfrm>
            <a:off x="6400800" y="4059936"/>
            <a:ext cx="4983480" cy="640080"/>
          </a:xfrm>
          <a:prstGeom prst="rect">
            <a:avLst/>
          </a:prstGeom>
          <a:noFill/>
          <a:ln/>
        </p:spPr>
        <p:txBody>
          <a:bodyPr wrap="square" lIns="0" tIns="0" rIns="0" bIns="0" rtlCol="0" anchor="ctr"/>
          <a:lstStyle/>
          <a:p>
            <a:pPr indent="0" marL="0">
              <a:buNone/>
            </a:pPr>
            <a:r>
              <a:rPr lang="en-US" sz="2200" b="1" u="sng" dirty="0">
                <a:solidFill>
                  <a:srgbClr val="5AAEFF"/>
                </a:solidFill>
                <a:latin typeface="Calibri" pitchFamily="34" charset="0"/>
                <a:ea typeface="Calibri" pitchFamily="34" charset="-122"/>
                <a:cs typeface="Calibri" pitchFamily="34" charset="-120"/>
                <a:hlinkClick r:id="rId19" action="ppaction://hlinksldjump" tooltip="Running llm-d on Kubernetes">
                  <a:extLst>
                    <a:ext uri="{A12FA001-AC4F-418D-AE19-62706E023703}">
                      <ahyp:hlinkClr xmlns:ahyp="http://schemas.microsoft.com/office/drawing/2018/hyperlinkcolor" val="tx"/>
                    </a:ext>
                  </a:extLst>
                </a:hlinkClick>
              </a:rPr>
              <a:t>09   </a:t>
            </a:r>
            <a:pPr indent="0" marL="0">
              <a:buNone/>
            </a:pPr>
            <a:r>
              <a:rPr lang="en-US" sz="1600" b="1" u="sng" dirty="0">
                <a:solidFill>
                  <a:srgbClr val="FFFFFF"/>
                </a:solidFill>
                <a:latin typeface="Calibri" pitchFamily="34" charset="0"/>
                <a:ea typeface="Calibri" pitchFamily="34" charset="-122"/>
                <a:cs typeface="Calibri" pitchFamily="34" charset="-120"/>
                <a:hlinkClick r:id="rId20" action="ppaction://hlinksldjump" tooltip="Running llm-d on Kubernetes">
                  <a:extLst>
                    <a:ext uri="{A12FA001-AC4F-418D-AE19-62706E023703}">
                      <ahyp:hlinkClr xmlns:ahyp="http://schemas.microsoft.com/office/drawing/2018/hyperlinkcolor" val="tx"/>
                    </a:ext>
                  </a:extLst>
                </a:hlinkClick>
              </a:rPr>
              <a:t>Running llm-d on Kubernetes</a:t>
            </a:r>
            <a:endParaRPr lang="en-US" sz="2200" dirty="0"/>
          </a:p>
        </p:txBody>
      </p:sp>
      <p:sp>
        <p:nvSpPr>
          <p:cNvPr id="24" name="agenda_card_10"/>
          <p:cNvSpPr/>
          <p:nvPr/>
        </p:nvSpPr>
        <p:spPr>
          <a:xfrm>
            <a:off x="6217920" y="4809744"/>
            <a:ext cx="5303520" cy="640080"/>
          </a:xfrm>
          <a:prstGeom prst="roundRect">
            <a:avLst>
              <a:gd name="adj" fmla="val 20000"/>
            </a:avLst>
          </a:prstGeom>
          <a:solidFill>
            <a:srgbClr val="0A1430">
              <a:alpha val="75000"/>
            </a:srgbClr>
          </a:solidFill>
          <a:ln w="15875">
            <a:solidFill>
              <a:srgbClr val="22D3EE"/>
            </a:solidFill>
            <a:prstDash val="solid"/>
          </a:ln>
        </p:spPr>
      </p:sp>
      <p:sp>
        <p:nvSpPr>
          <p:cNvPr id="25" name="agenda_link_10"/>
          <p:cNvSpPr txBox="1"/>
          <p:nvPr/>
        </p:nvSpPr>
        <p:spPr>
          <a:xfrm>
            <a:off x="6400800" y="4809744"/>
            <a:ext cx="4983480" cy="640080"/>
          </a:xfrm>
          <a:prstGeom prst="rect">
            <a:avLst/>
          </a:prstGeom>
          <a:noFill/>
          <a:ln/>
        </p:spPr>
        <p:txBody>
          <a:bodyPr wrap="square" lIns="0" tIns="0" rIns="0" bIns="0" rtlCol="0" anchor="ctr"/>
          <a:lstStyle/>
          <a:p>
            <a:pPr indent="0" marL="0">
              <a:buNone/>
            </a:pPr>
            <a:r>
              <a:rPr lang="en-US" sz="2200" b="1" u="sng" dirty="0">
                <a:solidFill>
                  <a:srgbClr val="22D3EE"/>
                </a:solidFill>
                <a:latin typeface="Calibri" pitchFamily="34" charset="0"/>
                <a:ea typeface="Calibri" pitchFamily="34" charset="-122"/>
                <a:cs typeface="Calibri" pitchFamily="34" charset="-120"/>
                <a:hlinkClick r:id="rId21" action="ppaction://hlinksldjump" tooltip="Where You Go From Here">
                  <a:extLst>
                    <a:ext uri="{A12FA001-AC4F-418D-AE19-62706E023703}">
                      <ahyp:hlinkClr xmlns:ahyp="http://schemas.microsoft.com/office/drawing/2018/hyperlinkcolor" val="tx"/>
                    </a:ext>
                  </a:extLst>
                </a:hlinkClick>
              </a:rPr>
              <a:t>10   </a:t>
            </a:r>
            <a:pPr indent="0" marL="0">
              <a:buNone/>
            </a:pPr>
            <a:r>
              <a:rPr lang="en-US" sz="1600" b="1" u="sng" dirty="0">
                <a:solidFill>
                  <a:srgbClr val="FFFFFF"/>
                </a:solidFill>
                <a:latin typeface="Calibri" pitchFamily="34" charset="0"/>
                <a:ea typeface="Calibri" pitchFamily="34" charset="-122"/>
                <a:cs typeface="Calibri" pitchFamily="34" charset="-120"/>
                <a:hlinkClick r:id="rId22" action="ppaction://hlinksldjump" tooltip="Where You Go From Here">
                  <a:extLst>
                    <a:ext uri="{A12FA001-AC4F-418D-AE19-62706E023703}">
                      <ahyp:hlinkClr xmlns:ahyp="http://schemas.microsoft.com/office/drawing/2018/hyperlinkcolor" val="tx"/>
                    </a:ext>
                  </a:extLst>
                </a:hlinkClick>
              </a:rPr>
              <a:t>Where You Go From Here</a:t>
            </a:r>
            <a:endParaRPr lang="en-US" sz="22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2</a:t>
            </a:fld>
            <a:endParaRPr lang="en-US"/>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731520" y="2834640"/>
            <a:ext cx="5669280" cy="1371600"/>
          </a:xfrm>
          <a:prstGeom prst="rect">
            <a:avLst/>
          </a:prstGeom>
          <a:noFill/>
          <a:ln/>
        </p:spPr>
        <p:txBody>
          <a:bodyPr wrap="square" lIns="0" tIns="0" rIns="0" bIns="0" rtlCol="0" anchor="t"/>
          <a:lstStyle/>
          <a:p>
            <a:pPr algn="l" indent="0" marL="0">
              <a:buNone/>
            </a:pPr>
            <a:r>
              <a:rPr lang="en-US" sz="4000" b="1" dirty="0">
                <a:solidFill>
                  <a:srgbClr val="FFFFFF"/>
                </a:solidFill>
                <a:latin typeface="Calibri" pitchFamily="34" charset="0"/>
                <a:ea typeface="Calibri" pitchFamily="34" charset="-122"/>
                <a:cs typeface="Calibri" pitchFamily="34" charset="-120"/>
              </a:rPr>
              <a:t>Introduction</a:t>
            </a:r>
            <a:endParaRPr lang="en-US" sz="4000" dirty="0"/>
          </a:p>
        </p:txBody>
      </p:sp>
      <p:sp>
        <p:nvSpPr>
          <p:cNvPr id="3" name="Text 0"/>
          <p:cNvSpPr/>
          <p:nvPr>
            <p:ph idx="101" type="body" hasCustomPrompt="1"/>
          </p:nvPr>
        </p:nvSpPr>
        <p:spPr>
          <a:xfrm>
            <a:off x="731520" y="4251960"/>
            <a:ext cx="5120640" cy="822960"/>
          </a:xfrm>
          <a:prstGeom prst="rect">
            <a:avLst/>
          </a:prstGeom>
          <a:noFill/>
          <a:ln/>
        </p:spPr>
        <p:txBody>
          <a:bodyPr wrap="square" lIns="0" tIns="0" rIns="0" bIns="0" rtlCol="0" anchor="t"/>
          <a:lstStyle/>
          <a:p>
            <a:pPr algn="l" indent="0" marL="0">
              <a:buNone/>
            </a:pPr>
            <a:r>
              <a:rPr lang="en-US" sz="2000" dirty="0">
                <a:solidFill>
                  <a:srgbClr val="22D3EE"/>
                </a:solidFill>
                <a:latin typeface="Calibri" pitchFamily="34" charset="0"/>
                <a:ea typeface="Calibri" pitchFamily="34" charset="-122"/>
                <a:cs typeface="Calibri" pitchFamily="34" charset="-120"/>
              </a:rPr>
              <a:t>Why AI infrastructure — and the story we're about to follow</a:t>
            </a:r>
            <a:endParaRPr lang="en-US" sz="2000" dirty="0"/>
          </a:p>
        </p:txBody>
      </p:sp>
      <p:sp>
        <p:nvSpPr>
          <p:cNvPr id="4" name="Text 2"/>
          <p:cNvSpPr txBox="1"/>
          <p:nvPr/>
        </p:nvSpPr>
        <p:spPr>
          <a:xfrm>
            <a:off x="731520" y="1371600"/>
            <a:ext cx="2743200" cy="1371600"/>
          </a:xfrm>
          <a:prstGeom prst="rect">
            <a:avLst/>
          </a:prstGeom>
          <a:noFill/>
          <a:ln/>
        </p:spPr>
        <p:txBody>
          <a:bodyPr wrap="square" lIns="0" tIns="0" rIns="0" bIns="0" rtlCol="0" anchor="ctr"/>
          <a:lstStyle/>
          <a:p>
            <a:pPr indent="0" marL="0">
              <a:buNone/>
            </a:pPr>
            <a:r>
              <a:rPr lang="en-US" sz="9600" b="1" dirty="0">
                <a:solidFill>
                  <a:srgbClr val="22D3EE">
                    <a:alpha val="80000"/>
                  </a:srgbClr>
                </a:solidFill>
                <a:latin typeface="Calibri" pitchFamily="34" charset="0"/>
                <a:ea typeface="Calibri" pitchFamily="34" charset="-122"/>
                <a:cs typeface="Calibri" pitchFamily="34" charset="-120"/>
              </a:rPr>
              <a:t>00</a:t>
            </a:r>
            <a:endParaRPr lang="en-US" sz="9600" dirty="0"/>
          </a:p>
        </p:txBody>
      </p:sp>
      <p:pic>
        <p:nvPicPr>
          <p:cNvPr id="5" name="layer_0" descr="Introduction — illustration part 1">    </p:cNvPr>
          <p:cNvPicPr>
            <a:picLocks noChangeAspect="1"/>
          </p:cNvPicPr>
          <p:nvPr/>
        </p:nvPicPr>
        <p:blipFill>
          <a:blip r:embed="rId1"/>
          <a:stretch>
            <a:fillRect/>
          </a:stretch>
        </p:blipFill>
        <p:spPr>
          <a:xfrm>
            <a:off x="6942558" y="1903884"/>
            <a:ext cx="3947633" cy="2550198"/>
          </a:xfrm>
          <a:prstGeom prst="rect">
            <a:avLst/>
          </a:prstGeom>
        </p:spPr>
      </p:pic>
      <p:sp>
        <p:nvSpPr>
          <p:cNvPr id="6" name="nav_agenda"/>
          <p:cNvSpPr txBox="1"/>
          <p:nvPr/>
        </p:nvSpPr>
        <p:spPr>
          <a:xfrm>
            <a:off x="731520" y="5669280"/>
            <a:ext cx="1371600" cy="384048"/>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1300" u="sng" dirty="0">
                <a:solidFill>
                  <a:srgbClr val="22D3EE"/>
                </a:solidFill>
                <a:latin typeface="Calibri" pitchFamily="34" charset="0"/>
                <a:ea typeface="Calibri" pitchFamily="34" charset="-122"/>
                <a:cs typeface="Calibri" pitchFamily="34" charset="-120"/>
                <a:hlinkClick r:id="rId2" action="ppaction://hlinksldjump" tooltip="Back to agenda">
                  <a:extLst>
                    <a:ext uri="{A12FA001-AC4F-418D-AE19-62706E023703}">
                      <ahyp:hlinkClr xmlns:ahyp="http://schemas.microsoft.com/office/drawing/2018/hyperlinkcolor" val="tx"/>
                    </a:ext>
                  </a:extLst>
                </a:hlinkClick>
              </a:rPr>
              <a:t>⌂ Agenda</a:t>
            </a:r>
            <a:endParaRPr lang="en-US" sz="13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3</a:t>
            </a:fld>
            <a:endParaRPr lang="en-US"/>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Who This Course Is For</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The GPUs, servers and systems behind every AI product</a:t>
            </a:r>
            <a:endParaRPr lang="en-US" sz="1700" dirty="0"/>
          </a:p>
        </p:txBody>
      </p:sp>
      <p:pic>
        <p:nvPicPr>
          <p:cNvPr id="4" name="layer_0" descr="Who This Course Is For — illustration part 1">    </p:cNvPr>
          <p:cNvPicPr>
            <a:picLocks noChangeAspect="1"/>
          </p:cNvPicPr>
          <p:nvPr/>
        </p:nvPicPr>
        <p:blipFill>
          <a:blip r:embed="rId1"/>
          <a:stretch>
            <a:fillRect/>
          </a:stretch>
        </p:blipFill>
        <p:spPr>
          <a:xfrm>
            <a:off x="1468171" y="2471571"/>
            <a:ext cx="3577192" cy="2725464"/>
          </a:xfrm>
          <a:prstGeom prst="rect">
            <a:avLst/>
          </a:prstGeom>
        </p:spPr>
      </p:pic>
      <p:pic>
        <p:nvPicPr>
          <p:cNvPr id="5" name="layer_1" descr="Who This Course Is For — illustration part 2">    </p:cNvPr>
          <p:cNvPicPr>
            <a:picLocks noChangeAspect="1"/>
          </p:cNvPicPr>
          <p:nvPr/>
        </p:nvPicPr>
        <p:blipFill>
          <a:blip r:embed="rId2"/>
          <a:stretch>
            <a:fillRect/>
          </a:stretch>
        </p:blipFill>
        <p:spPr>
          <a:xfrm>
            <a:off x="5287201" y="1897259"/>
            <a:ext cx="5587472" cy="3551668"/>
          </a:xfrm>
          <a:prstGeom prst="rect">
            <a:avLst/>
          </a:prstGeom>
        </p:spPr>
      </p:pic>
      <p:pic>
        <p:nvPicPr>
          <p:cNvPr id="6" name="layer_2" descr="Who This Course Is For — illustration part 3">    </p:cNvPr>
          <p:cNvPicPr>
            <a:picLocks noChangeAspect="1"/>
          </p:cNvPicPr>
          <p:nvPr/>
        </p:nvPicPr>
        <p:blipFill>
          <a:blip r:embed="rId3"/>
          <a:stretch>
            <a:fillRect/>
          </a:stretch>
        </p:blipFill>
        <p:spPr>
          <a:xfrm>
            <a:off x="5080631" y="1806578"/>
            <a:ext cx="1173923" cy="1148624"/>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If you run servers today, you already speak most of this language</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This course covers the GPUs, servers and systems behind every AI product. If you're an SRE, sysadmin or DevOps engineer, it's built for you — and there's never been a better time to learn it.</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$700 Billion — This Year Alone</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Amazon, Google, Microsoft and Meta are all-in on AI infrastructure</a:t>
            </a:r>
            <a:endParaRPr lang="en-US" sz="1700" dirty="0"/>
          </a:p>
        </p:txBody>
      </p:sp>
      <p:pic>
        <p:nvPicPr>
          <p:cNvPr id="4" name="layer_0" descr="$700 Billion — This Year Alone — illustration part 1">    </p:cNvPr>
          <p:cNvPicPr>
            <a:picLocks noChangeAspect="1"/>
          </p:cNvPicPr>
          <p:nvPr/>
        </p:nvPicPr>
        <p:blipFill>
          <a:blip r:embed="rId1"/>
          <a:stretch>
            <a:fillRect/>
          </a:stretch>
        </p:blipFill>
        <p:spPr>
          <a:xfrm>
            <a:off x="1473209" y="4088714"/>
            <a:ext cx="4574775" cy="1435781"/>
          </a:xfrm>
          <a:prstGeom prst="rect">
            <a:avLst/>
          </a:prstGeom>
        </p:spPr>
      </p:pic>
      <p:pic>
        <p:nvPicPr>
          <p:cNvPr id="5" name="layer_1" descr="$700 Billion — This Year Alone — illustration part 2">    </p:cNvPr>
          <p:cNvPicPr>
            <a:picLocks noChangeAspect="1"/>
          </p:cNvPicPr>
          <p:nvPr/>
        </p:nvPicPr>
        <p:blipFill>
          <a:blip r:embed="rId2"/>
          <a:stretch>
            <a:fillRect/>
          </a:stretch>
        </p:blipFill>
        <p:spPr>
          <a:xfrm>
            <a:off x="2551405" y="1998016"/>
            <a:ext cx="2670298" cy="3526478"/>
          </a:xfrm>
          <a:prstGeom prst="rect">
            <a:avLst/>
          </a:prstGeom>
        </p:spPr>
      </p:pic>
      <p:pic>
        <p:nvPicPr>
          <p:cNvPr id="6" name="layer_2" descr="$700 Billion — This Year Alone — illustration part 3">    </p:cNvPr>
          <p:cNvPicPr>
            <a:picLocks noChangeAspect="1"/>
          </p:cNvPicPr>
          <p:nvPr/>
        </p:nvPicPr>
        <p:blipFill>
          <a:blip r:embed="rId3"/>
          <a:stretch>
            <a:fillRect/>
          </a:stretch>
        </p:blipFill>
        <p:spPr>
          <a:xfrm>
            <a:off x="5181397" y="2793992"/>
            <a:ext cx="831319" cy="1073057"/>
          </a:xfrm>
          <a:prstGeom prst="rect">
            <a:avLst/>
          </a:prstGeom>
        </p:spPr>
      </p:pic>
      <p:pic>
        <p:nvPicPr>
          <p:cNvPr id="7" name="layer_3" descr="$700 Billion — This Year Alone — illustration part 4">    </p:cNvPr>
          <p:cNvPicPr>
            <a:picLocks noChangeAspect="1"/>
          </p:cNvPicPr>
          <p:nvPr/>
        </p:nvPicPr>
        <p:blipFill>
          <a:blip r:embed="rId4"/>
          <a:stretch>
            <a:fillRect/>
          </a:stretch>
        </p:blipFill>
        <p:spPr>
          <a:xfrm>
            <a:off x="6783575" y="2834295"/>
            <a:ext cx="1602179" cy="2488686"/>
          </a:xfrm>
          <a:prstGeom prst="rect">
            <a:avLst/>
          </a:prstGeom>
        </p:spPr>
      </p:pic>
      <p:pic>
        <p:nvPicPr>
          <p:cNvPr id="8" name="layer_4" descr="$700 Billion — This Year Alone — illustration part 5">    </p:cNvPr>
          <p:cNvPicPr>
            <a:picLocks noChangeAspect="1"/>
          </p:cNvPicPr>
          <p:nvPr/>
        </p:nvPicPr>
        <p:blipFill>
          <a:blip r:embed="rId5"/>
          <a:stretch>
            <a:fillRect/>
          </a:stretch>
        </p:blipFill>
        <p:spPr>
          <a:xfrm>
            <a:off x="9146537" y="2562252"/>
            <a:ext cx="1375455" cy="2670048"/>
          </a:xfrm>
          <a:prstGeom prst="rect">
            <a:avLst/>
          </a:prstGeom>
        </p:spPr>
      </p:pic>
      <p:sp>
        <p:nvSpPr>
          <p:cNvPr id="9"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10"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~4.5× since 2023 · ~+75% vs 2025 · McKinsey: ~$6.7 trillion into data centers by 2030</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Big tech now spends about 4.5× what it did in 2023, and ~75% more than in 2025. Someone has to build and run all of that — which is why these engineers are so sought-after.</a:t>
            </a:r>
            <a:endParaRPr lang="en-US" sz="1200" dirty="0"/>
          </a:p>
        </p:txBody>
      </p:sp>
      <p:sp>
        <p:nvSpPr>
          <p:cNvPr id="11"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6"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par>
                    <p:cTn id="15" fill="hold">
                      <p:stCondLst>
                        <p:cond delay="indefinite"/>
                      </p:stCondLst>
                      <p:childTnLst>
                        <p:par>
                          <p:cTn id="16" fill="hold">
                            <p:stCondLst>
                              <p:cond delay="0"/>
                            </p:stCondLst>
                            <p:childTnLst>
                              <p:par>
                                <p:cTn id="20" presetID="42"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p:cTn id="18" dur="600" fill="hold"/>
                                        <p:tgtEl>
                                          <p:spTgt spid="7"/>
                                        </p:tgtEl>
                                        <p:attrNameLst>
                                          <p:attrName>ppt_y</p:attrName>
                                        </p:attrNameLst>
                                      </p:cBhvr>
                                      <p:tavLst>
                                        <p:tav tm="0">
                                          <p:val>
                                            <p:strVal val="#ppt_y+0.03"/>
                                          </p:val>
                                        </p:tav>
                                        <p:tav tm="100000">
                                          <p:val>
                                            <p:strVal val="#ppt_y"/>
                                          </p:val>
                                        </p:tav>
                                      </p:tavLst>
                                    </p:anim>
                                    <p:animEffect transition="in" filter="fade">
                                      <p:cBhvr>
                                        <p:cTn id="19" dur="600"/>
                                        <p:tgtEl>
                                          <p:spTgt spid="7"/>
                                        </p:tgtEl>
                                      </p:cBhvr>
                                    </p:animEffect>
                                  </p:childTnLst>
                                </p:cTn>
                              </p:par>
                            </p:childTnLst>
                          </p:cTn>
                        </p:par>
                      </p:childTnLst>
                    </p:cTn>
                  </p:par>
                  <p:par>
                    <p:cTn id="21" fill="hold">
                      <p:stCondLst>
                        <p:cond delay="indefinite"/>
                      </p:stCondLst>
                      <p:childTnLst>
                        <p:par>
                          <p:cTn id="22" fill="hold">
                            <p:stCondLst>
                              <p:cond delay="0"/>
                            </p:stCondLst>
                            <p:childTnLst>
                              <p:par>
                                <p:cTn id="26" presetID="42"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p:cTn id="24" dur="600" fill="hold"/>
                                        <p:tgtEl>
                                          <p:spTgt spid="8"/>
                                        </p:tgtEl>
                                        <p:attrNameLst>
                                          <p:attrName>ppt_y</p:attrName>
                                        </p:attrNameLst>
                                      </p:cBhvr>
                                      <p:tavLst>
                                        <p:tav tm="0">
                                          <p:val>
                                            <p:strVal val="#ppt_y+0.03"/>
                                          </p:val>
                                        </p:tav>
                                        <p:tav tm="100000">
                                          <p:val>
                                            <p:strVal val="#ppt_y"/>
                                          </p:val>
                                        </p:tav>
                                      </p:tavLst>
                                    </p:anim>
                                    <p:animEffect transition="in" filter="fade">
                                      <p:cBhvr>
                                        <p:cTn id="25" dur="6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One Simple Question</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What actually happens when you type into ChatGPT and press Enter?</a:t>
            </a:r>
            <a:endParaRPr lang="en-US" sz="1700" dirty="0"/>
          </a:p>
        </p:txBody>
      </p:sp>
      <p:pic>
        <p:nvPicPr>
          <p:cNvPr id="4" name="layer_0" descr="One Simple Question — illustration part 1">    </p:cNvPr>
          <p:cNvPicPr>
            <a:picLocks noChangeAspect="1"/>
          </p:cNvPicPr>
          <p:nvPr/>
        </p:nvPicPr>
        <p:blipFill>
          <a:blip r:embed="rId1"/>
          <a:stretch>
            <a:fillRect/>
          </a:stretch>
        </p:blipFill>
        <p:spPr>
          <a:xfrm>
            <a:off x="3957090" y="1746124"/>
            <a:ext cx="4257362" cy="1017641"/>
          </a:xfrm>
          <a:prstGeom prst="rect">
            <a:avLst/>
          </a:prstGeom>
        </p:spPr>
      </p:pic>
      <p:pic>
        <p:nvPicPr>
          <p:cNvPr id="5" name="layer_1" descr="One Simple Question — illustration part 2">    </p:cNvPr>
          <p:cNvPicPr>
            <a:picLocks noChangeAspect="1"/>
          </p:cNvPicPr>
          <p:nvPr/>
        </p:nvPicPr>
        <p:blipFill>
          <a:blip r:embed="rId2"/>
          <a:stretch>
            <a:fillRect/>
          </a:stretch>
        </p:blipFill>
        <p:spPr>
          <a:xfrm>
            <a:off x="1014724" y="2874598"/>
            <a:ext cx="10162247" cy="2790956"/>
          </a:xfrm>
          <a:prstGeom prst="rect">
            <a:avLst/>
          </a:prstGeom>
        </p:spPr>
      </p:pic>
      <p:pic>
        <p:nvPicPr>
          <p:cNvPr id="6" name="layer_2" descr="One Simple Question — illustration part 3">    </p:cNvPr>
          <p:cNvPicPr>
            <a:picLocks noChangeAspect="1"/>
          </p:cNvPicPr>
          <p:nvPr/>
        </p:nvPicPr>
        <p:blipFill>
          <a:blip r:embed="rId3"/>
          <a:stretch>
            <a:fillRect/>
          </a:stretch>
        </p:blipFill>
        <p:spPr>
          <a:xfrm>
            <a:off x="4274503" y="3746142"/>
            <a:ext cx="6524596" cy="1627218"/>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The chat box is the tip of the iceberg — the hard part is hidden underneath</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Typing into ChatGPT looks simple, but behind that answer is a system that's unreasonably hard to build. We'll take it apart piece by piece.</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The Story Map</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Ten problems, ten solutions — each solution reveals the next problem</a:t>
            </a:r>
            <a:endParaRPr lang="en-US" sz="1700" dirty="0"/>
          </a:p>
        </p:txBody>
      </p:sp>
      <p:pic>
        <p:nvPicPr>
          <p:cNvPr id="4" name="layer_0" descr="The Story Map — illustration part 1">    </p:cNvPr>
          <p:cNvPicPr>
            <a:picLocks noChangeAspect="1"/>
          </p:cNvPicPr>
          <p:nvPr/>
        </p:nvPicPr>
        <p:blipFill>
          <a:blip r:embed="rId1"/>
          <a:stretch>
            <a:fillRect/>
          </a:stretch>
        </p:blipFill>
        <p:spPr>
          <a:xfrm>
            <a:off x="1730162" y="2496761"/>
            <a:ext cx="8645719" cy="1768277"/>
          </a:xfrm>
          <a:prstGeom prst="rect">
            <a:avLst/>
          </a:prstGeom>
        </p:spPr>
      </p:pic>
      <p:pic>
        <p:nvPicPr>
          <p:cNvPr id="5" name="layer_1" descr="The Story Map — illustration part 2">    </p:cNvPr>
          <p:cNvPicPr>
            <a:picLocks noChangeAspect="1"/>
          </p:cNvPicPr>
          <p:nvPr/>
        </p:nvPicPr>
        <p:blipFill>
          <a:blip r:embed="rId2"/>
          <a:stretch>
            <a:fillRect/>
          </a:stretch>
        </p:blipFill>
        <p:spPr>
          <a:xfrm>
            <a:off x="1231371" y="2229756"/>
            <a:ext cx="1063081" cy="891695"/>
          </a:xfrm>
          <a:prstGeom prst="rect">
            <a:avLst/>
          </a:prstGeom>
        </p:spPr>
      </p:pic>
      <p:pic>
        <p:nvPicPr>
          <p:cNvPr id="6" name="layer_2" descr="The Story Map — illustration part 3">    </p:cNvPr>
          <p:cNvPicPr>
            <a:picLocks noChangeAspect="1"/>
          </p:cNvPicPr>
          <p:nvPr/>
        </p:nvPicPr>
        <p:blipFill>
          <a:blip r:embed="rId3"/>
          <a:stretch>
            <a:fillRect/>
          </a:stretch>
        </p:blipFill>
        <p:spPr>
          <a:xfrm>
            <a:off x="3251728" y="2229756"/>
            <a:ext cx="846434" cy="901771"/>
          </a:xfrm>
          <a:prstGeom prst="rect">
            <a:avLst/>
          </a:prstGeom>
        </p:spPr>
      </p:pic>
      <p:pic>
        <p:nvPicPr>
          <p:cNvPr id="7" name="layer_3" descr="The Story Map — illustration part 4">    </p:cNvPr>
          <p:cNvPicPr>
            <a:picLocks noChangeAspect="1"/>
          </p:cNvPicPr>
          <p:nvPr/>
        </p:nvPicPr>
        <p:blipFill>
          <a:blip r:embed="rId4"/>
          <a:stretch>
            <a:fillRect/>
          </a:stretch>
        </p:blipFill>
        <p:spPr>
          <a:xfrm>
            <a:off x="5176358" y="2229756"/>
            <a:ext cx="826281" cy="886657"/>
          </a:xfrm>
          <a:prstGeom prst="rect">
            <a:avLst/>
          </a:prstGeom>
        </p:spPr>
      </p:pic>
      <p:pic>
        <p:nvPicPr>
          <p:cNvPr id="8" name="layer_4" descr="The Story Map — illustration part 5">    </p:cNvPr>
          <p:cNvPicPr>
            <a:picLocks noChangeAspect="1"/>
          </p:cNvPicPr>
          <p:nvPr/>
        </p:nvPicPr>
        <p:blipFill>
          <a:blip r:embed="rId5"/>
          <a:stretch>
            <a:fillRect/>
          </a:stretch>
        </p:blipFill>
        <p:spPr>
          <a:xfrm>
            <a:off x="7176563" y="2229756"/>
            <a:ext cx="644902" cy="886657"/>
          </a:xfrm>
          <a:prstGeom prst="rect">
            <a:avLst/>
          </a:prstGeom>
        </p:spPr>
      </p:pic>
      <p:pic>
        <p:nvPicPr>
          <p:cNvPr id="9" name="layer_5" descr="The Story Map — illustration part 6">    </p:cNvPr>
          <p:cNvPicPr>
            <a:picLocks noChangeAspect="1"/>
          </p:cNvPicPr>
          <p:nvPr/>
        </p:nvPicPr>
        <p:blipFill>
          <a:blip r:embed="rId6"/>
          <a:stretch>
            <a:fillRect/>
          </a:stretch>
        </p:blipFill>
        <p:spPr>
          <a:xfrm>
            <a:off x="9091116" y="2229756"/>
            <a:ext cx="639864" cy="921922"/>
          </a:xfrm>
          <a:prstGeom prst="rect">
            <a:avLst/>
          </a:prstGeom>
        </p:spPr>
      </p:pic>
      <p:pic>
        <p:nvPicPr>
          <p:cNvPr id="10" name="layer_6" descr="The Story Map — illustration part 7">    </p:cNvPr>
          <p:cNvPicPr>
            <a:picLocks noChangeAspect="1"/>
          </p:cNvPicPr>
          <p:nvPr/>
        </p:nvPicPr>
        <p:blipFill>
          <a:blip r:embed="rId7"/>
          <a:stretch>
            <a:fillRect/>
          </a:stretch>
        </p:blipFill>
        <p:spPr>
          <a:xfrm>
            <a:off x="9091116" y="3892238"/>
            <a:ext cx="639864" cy="921922"/>
          </a:xfrm>
          <a:prstGeom prst="rect">
            <a:avLst/>
          </a:prstGeom>
        </p:spPr>
      </p:pic>
      <p:pic>
        <p:nvPicPr>
          <p:cNvPr id="11" name="layer_7" descr="The Story Map — illustration part 8">    </p:cNvPr>
          <p:cNvPicPr>
            <a:picLocks noChangeAspect="1"/>
          </p:cNvPicPr>
          <p:nvPr/>
        </p:nvPicPr>
        <p:blipFill>
          <a:blip r:embed="rId8"/>
          <a:stretch>
            <a:fillRect/>
          </a:stretch>
        </p:blipFill>
        <p:spPr>
          <a:xfrm>
            <a:off x="7176563" y="3892238"/>
            <a:ext cx="644902" cy="886657"/>
          </a:xfrm>
          <a:prstGeom prst="rect">
            <a:avLst/>
          </a:prstGeom>
        </p:spPr>
      </p:pic>
      <p:pic>
        <p:nvPicPr>
          <p:cNvPr id="12" name="layer_8" descr="The Story Map — illustration part 9">    </p:cNvPr>
          <p:cNvPicPr>
            <a:picLocks noChangeAspect="1"/>
          </p:cNvPicPr>
          <p:nvPr/>
        </p:nvPicPr>
        <p:blipFill>
          <a:blip r:embed="rId9"/>
          <a:stretch>
            <a:fillRect/>
          </a:stretch>
        </p:blipFill>
        <p:spPr>
          <a:xfrm>
            <a:off x="5151167" y="3892238"/>
            <a:ext cx="871626" cy="921922"/>
          </a:xfrm>
          <a:prstGeom prst="rect">
            <a:avLst/>
          </a:prstGeom>
        </p:spPr>
      </p:pic>
      <p:pic>
        <p:nvPicPr>
          <p:cNvPr id="13" name="layer_9" descr="The Story Map — illustration part 10">    </p:cNvPr>
          <p:cNvPicPr>
            <a:picLocks noChangeAspect="1"/>
          </p:cNvPicPr>
          <p:nvPr/>
        </p:nvPicPr>
        <p:blipFill>
          <a:blip r:embed="rId10"/>
          <a:stretch>
            <a:fillRect/>
          </a:stretch>
        </p:blipFill>
        <p:spPr>
          <a:xfrm>
            <a:off x="3307150" y="3892238"/>
            <a:ext cx="740630" cy="886657"/>
          </a:xfrm>
          <a:prstGeom prst="rect">
            <a:avLst/>
          </a:prstGeom>
        </p:spPr>
      </p:pic>
      <p:pic>
        <p:nvPicPr>
          <p:cNvPr id="14" name="layer_10" descr="The Story Map — illustration part 11">    </p:cNvPr>
          <p:cNvPicPr>
            <a:picLocks noChangeAspect="1"/>
          </p:cNvPicPr>
          <p:nvPr/>
        </p:nvPicPr>
        <p:blipFill>
          <a:blip r:embed="rId11"/>
          <a:stretch>
            <a:fillRect/>
          </a:stretch>
        </p:blipFill>
        <p:spPr>
          <a:xfrm>
            <a:off x="1442979" y="3892238"/>
            <a:ext cx="644902" cy="921922"/>
          </a:xfrm>
          <a:prstGeom prst="rect">
            <a:avLst/>
          </a:prstGeom>
        </p:spPr>
      </p:pic>
      <p:sp>
        <p:nvSpPr>
          <p:cNvPr id="15"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16"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Every chapter solves one problem — and that solution exposes the next one</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We'll follow ONE request from a chat box down to a fleet of GPUs. At each stop we hit a wall, fix it, and discover the next wall. This map comes back at the end of every chapter, so you always know where you are.</a:t>
            </a:r>
            <a:endParaRPr lang="en-US" sz="1200" dirty="0"/>
          </a:p>
        </p:txBody>
      </p:sp>
      <p:sp>
        <p:nvSpPr>
          <p:cNvPr id="17"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12"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350" fill="hold"/>
                                        <p:tgtEl>
                                          <p:spTgt spid="5"/>
                                        </p:tgtEl>
                                        <p:attrNameLst>
                                          <p:attrName>ppt_w</p:attrName>
                                        </p:attrNameLst>
                                      </p:cBhvr>
                                      <p:tavLst>
                                        <p:tav tm="0">
                                          <p:val>
                                            <p:fltVal val="0"/>
                                          </p:val>
                                        </p:tav>
                                        <p:tav tm="100000">
                                          <p:val>
                                            <p:strVal val="#ppt_w"/>
                                          </p:val>
                                        </p:tav>
                                      </p:tavLst>
                                    </p:anim>
                                    <p:anim calcmode="lin" valueType="num">
                                      <p:cBhvr>
                                        <p:cTn id="7" dur="350" fill="hold"/>
                                        <p:tgtEl>
                                          <p:spTgt spid="5"/>
                                        </p:tgtEl>
                                        <p:attrNameLst>
                                          <p:attrName>ppt_h</p:attrName>
                                        </p:attrNameLst>
                                      </p:cBhvr>
                                      <p:tavLst>
                                        <p:tav tm="0">
                                          <p:val>
                                            <p:fltVal val="0"/>
                                          </p:val>
                                        </p:tav>
                                        <p:tav tm="100000">
                                          <p:val>
                                            <p:strVal val="#ppt_h"/>
                                          </p:val>
                                        </p:tav>
                                      </p:tavLst>
                                    </p:anim>
                                    <p:animEffect transition="in" filter="fade">
                                      <p:cBhvr>
                                        <p:cTn id="8" dur="350"/>
                                        <p:tgtEl>
                                          <p:spTgt spid="5"/>
                                        </p:tgtEl>
                                      </p:cBhvr>
                                    </p:animEffect>
                                  </p:childTnLst>
                                </p:cTn>
                              </p:par>
                            </p:childTnLst>
                          </p:cTn>
                        </p:par>
                        <p:par>
                          <p:cTn id="10" fill="hold">
                            <p:stCondLst>
                              <p:cond delay="350"/>
                            </p:stCondLst>
                            <p:childTnLst>
                              <p:par>
                                <p:cTn id="15" presetID="53" presetClass="entr" presetSubtype="16" fill="hold" grpId="0" nodeType="after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350" fill="hold"/>
                                        <p:tgtEl>
                                          <p:spTgt spid="6"/>
                                        </p:tgtEl>
                                        <p:attrNameLst>
                                          <p:attrName>ppt_w</p:attrName>
                                        </p:attrNameLst>
                                      </p:cBhvr>
                                      <p:tavLst>
                                        <p:tav tm="0">
                                          <p:val>
                                            <p:fltVal val="0"/>
                                          </p:val>
                                        </p:tav>
                                        <p:tav tm="100000">
                                          <p:val>
                                            <p:strVal val="#ppt_w"/>
                                          </p:val>
                                        </p:tav>
                                      </p:tavLst>
                                    </p:anim>
                                    <p:anim calcmode="lin" valueType="num">
                                      <p:cBhvr>
                                        <p:cTn id="13" dur="350" fill="hold"/>
                                        <p:tgtEl>
                                          <p:spTgt spid="6"/>
                                        </p:tgtEl>
                                        <p:attrNameLst>
                                          <p:attrName>ppt_h</p:attrName>
                                        </p:attrNameLst>
                                      </p:cBhvr>
                                      <p:tavLst>
                                        <p:tav tm="0">
                                          <p:val>
                                            <p:fltVal val="0"/>
                                          </p:val>
                                        </p:tav>
                                        <p:tav tm="100000">
                                          <p:val>
                                            <p:strVal val="#ppt_h"/>
                                          </p:val>
                                        </p:tav>
                                      </p:tavLst>
                                    </p:anim>
                                    <p:animEffect transition="in" filter="fade">
                                      <p:cBhvr>
                                        <p:cTn id="14" dur="350"/>
                                        <p:tgtEl>
                                          <p:spTgt spid="6"/>
                                        </p:tgtEl>
                                      </p:cBhvr>
                                    </p:animEffect>
                                  </p:childTnLst>
                                </p:cTn>
                              </p:par>
                            </p:childTnLst>
                          </p:cTn>
                        </p:par>
                        <p:par>
                          <p:cTn id="16" fill="hold">
                            <p:stCondLst>
                              <p:cond delay="700"/>
                            </p:stCondLst>
                            <p:childTnLst>
                              <p:par>
                                <p:cTn id="21" presetID="53" presetClass="entr" presetSubtype="16" fill="hold" grpId="0" nodeType="after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p:cTn id="18" dur="350" fill="hold"/>
                                        <p:tgtEl>
                                          <p:spTgt spid="7"/>
                                        </p:tgtEl>
                                        <p:attrNameLst>
                                          <p:attrName>ppt_w</p:attrName>
                                        </p:attrNameLst>
                                      </p:cBhvr>
                                      <p:tavLst>
                                        <p:tav tm="0">
                                          <p:val>
                                            <p:fltVal val="0"/>
                                          </p:val>
                                        </p:tav>
                                        <p:tav tm="100000">
                                          <p:val>
                                            <p:strVal val="#ppt_w"/>
                                          </p:val>
                                        </p:tav>
                                      </p:tavLst>
                                    </p:anim>
                                    <p:anim calcmode="lin" valueType="num">
                                      <p:cBhvr>
                                        <p:cTn id="19" dur="350" fill="hold"/>
                                        <p:tgtEl>
                                          <p:spTgt spid="7"/>
                                        </p:tgtEl>
                                        <p:attrNameLst>
                                          <p:attrName>ppt_h</p:attrName>
                                        </p:attrNameLst>
                                      </p:cBhvr>
                                      <p:tavLst>
                                        <p:tav tm="0">
                                          <p:val>
                                            <p:fltVal val="0"/>
                                          </p:val>
                                        </p:tav>
                                        <p:tav tm="100000">
                                          <p:val>
                                            <p:strVal val="#ppt_h"/>
                                          </p:val>
                                        </p:tav>
                                      </p:tavLst>
                                    </p:anim>
                                    <p:animEffect transition="in" filter="fade">
                                      <p:cBhvr>
                                        <p:cTn id="20" dur="350"/>
                                        <p:tgtEl>
                                          <p:spTgt spid="7"/>
                                        </p:tgtEl>
                                      </p:cBhvr>
                                    </p:animEffect>
                                  </p:childTnLst>
                                </p:cTn>
                              </p:par>
                            </p:childTnLst>
                          </p:cTn>
                        </p:par>
                        <p:par>
                          <p:cTn id="22" fill="hold">
                            <p:stCondLst>
                              <p:cond delay="1050"/>
                            </p:stCondLst>
                            <p:childTnLst>
                              <p:par>
                                <p:cTn id="27" presetID="53" presetClass="entr" presetSubtype="16" fill="hold" grpId="0" nodeType="after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p:cTn id="24" dur="350" fill="hold"/>
                                        <p:tgtEl>
                                          <p:spTgt spid="8"/>
                                        </p:tgtEl>
                                        <p:attrNameLst>
                                          <p:attrName>ppt_w</p:attrName>
                                        </p:attrNameLst>
                                      </p:cBhvr>
                                      <p:tavLst>
                                        <p:tav tm="0">
                                          <p:val>
                                            <p:fltVal val="0"/>
                                          </p:val>
                                        </p:tav>
                                        <p:tav tm="100000">
                                          <p:val>
                                            <p:strVal val="#ppt_w"/>
                                          </p:val>
                                        </p:tav>
                                      </p:tavLst>
                                    </p:anim>
                                    <p:anim calcmode="lin" valueType="num">
                                      <p:cBhvr>
                                        <p:cTn id="25" dur="350" fill="hold"/>
                                        <p:tgtEl>
                                          <p:spTgt spid="8"/>
                                        </p:tgtEl>
                                        <p:attrNameLst>
                                          <p:attrName>ppt_h</p:attrName>
                                        </p:attrNameLst>
                                      </p:cBhvr>
                                      <p:tavLst>
                                        <p:tav tm="0">
                                          <p:val>
                                            <p:fltVal val="0"/>
                                          </p:val>
                                        </p:tav>
                                        <p:tav tm="100000">
                                          <p:val>
                                            <p:strVal val="#ppt_h"/>
                                          </p:val>
                                        </p:tav>
                                      </p:tavLst>
                                    </p:anim>
                                    <p:animEffect transition="in" filter="fade">
                                      <p:cBhvr>
                                        <p:cTn id="26" dur="350"/>
                                        <p:tgtEl>
                                          <p:spTgt spid="8"/>
                                        </p:tgtEl>
                                      </p:cBhvr>
                                    </p:animEffect>
                                  </p:childTnLst>
                                </p:cTn>
                              </p:par>
                            </p:childTnLst>
                          </p:cTn>
                        </p:par>
                        <p:par>
                          <p:cTn id="28" fill="hold">
                            <p:stCondLst>
                              <p:cond delay="1400"/>
                            </p:stCondLst>
                            <p:childTnLst>
                              <p:par>
                                <p:cTn id="33" presetID="53" presetClass="entr" presetSubtype="16"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 calcmode="lin" valueType="num">
                                      <p:cBhvr>
                                        <p:cTn id="30" dur="350" fill="hold"/>
                                        <p:tgtEl>
                                          <p:spTgt spid="9"/>
                                        </p:tgtEl>
                                        <p:attrNameLst>
                                          <p:attrName>ppt_w</p:attrName>
                                        </p:attrNameLst>
                                      </p:cBhvr>
                                      <p:tavLst>
                                        <p:tav tm="0">
                                          <p:val>
                                            <p:fltVal val="0"/>
                                          </p:val>
                                        </p:tav>
                                        <p:tav tm="100000">
                                          <p:val>
                                            <p:strVal val="#ppt_w"/>
                                          </p:val>
                                        </p:tav>
                                      </p:tavLst>
                                    </p:anim>
                                    <p:anim calcmode="lin" valueType="num">
                                      <p:cBhvr>
                                        <p:cTn id="31" dur="350" fill="hold"/>
                                        <p:tgtEl>
                                          <p:spTgt spid="9"/>
                                        </p:tgtEl>
                                        <p:attrNameLst>
                                          <p:attrName>ppt_h</p:attrName>
                                        </p:attrNameLst>
                                      </p:cBhvr>
                                      <p:tavLst>
                                        <p:tav tm="0">
                                          <p:val>
                                            <p:fltVal val="0"/>
                                          </p:val>
                                        </p:tav>
                                        <p:tav tm="100000">
                                          <p:val>
                                            <p:strVal val="#ppt_h"/>
                                          </p:val>
                                        </p:tav>
                                      </p:tavLst>
                                    </p:anim>
                                    <p:animEffect transition="in" filter="fade">
                                      <p:cBhvr>
                                        <p:cTn id="32" dur="350"/>
                                        <p:tgtEl>
                                          <p:spTgt spid="9"/>
                                        </p:tgtEl>
                                      </p:cBhvr>
                                    </p:animEffect>
                                  </p:childTnLst>
                                </p:cTn>
                              </p:par>
                            </p:childTnLst>
                          </p:cTn>
                        </p:par>
                        <p:par>
                          <p:cTn id="34" fill="hold">
                            <p:stCondLst>
                              <p:cond delay="1750"/>
                            </p:stCondLst>
                            <p:childTnLst>
                              <p:par>
                                <p:cTn id="39" presetID="53" presetClass="entr" presetSubtype="16" fill="hold" grpId="0" nodeType="afterEffect">
                                  <p:stCondLst>
                                    <p:cond delay="0"/>
                                  </p:stCondLst>
                                  <p:childTnLst>
                                    <p:set>
                                      <p:cBhvr>
                                        <p:cTn id="35" dur="1" fill="hold">
                                          <p:stCondLst>
                                            <p:cond delay="0"/>
                                          </p:stCondLst>
                                        </p:cTn>
                                        <p:tgtEl>
                                          <p:spTgt spid="10"/>
                                        </p:tgtEl>
                                        <p:attrNameLst>
                                          <p:attrName>style.visibility</p:attrName>
                                        </p:attrNameLst>
                                      </p:cBhvr>
                                      <p:to>
                                        <p:strVal val="visible"/>
                                      </p:to>
                                    </p:set>
                                    <p:anim calcmode="lin" valueType="num">
                                      <p:cBhvr>
                                        <p:cTn id="36" dur="350" fill="hold"/>
                                        <p:tgtEl>
                                          <p:spTgt spid="10"/>
                                        </p:tgtEl>
                                        <p:attrNameLst>
                                          <p:attrName>ppt_w</p:attrName>
                                        </p:attrNameLst>
                                      </p:cBhvr>
                                      <p:tavLst>
                                        <p:tav tm="0">
                                          <p:val>
                                            <p:fltVal val="0"/>
                                          </p:val>
                                        </p:tav>
                                        <p:tav tm="100000">
                                          <p:val>
                                            <p:strVal val="#ppt_w"/>
                                          </p:val>
                                        </p:tav>
                                      </p:tavLst>
                                    </p:anim>
                                    <p:anim calcmode="lin" valueType="num">
                                      <p:cBhvr>
                                        <p:cTn id="37" dur="350" fill="hold"/>
                                        <p:tgtEl>
                                          <p:spTgt spid="10"/>
                                        </p:tgtEl>
                                        <p:attrNameLst>
                                          <p:attrName>ppt_h</p:attrName>
                                        </p:attrNameLst>
                                      </p:cBhvr>
                                      <p:tavLst>
                                        <p:tav tm="0">
                                          <p:val>
                                            <p:fltVal val="0"/>
                                          </p:val>
                                        </p:tav>
                                        <p:tav tm="100000">
                                          <p:val>
                                            <p:strVal val="#ppt_h"/>
                                          </p:val>
                                        </p:tav>
                                      </p:tavLst>
                                    </p:anim>
                                    <p:animEffect transition="in" filter="fade">
                                      <p:cBhvr>
                                        <p:cTn id="38" dur="350"/>
                                        <p:tgtEl>
                                          <p:spTgt spid="10"/>
                                        </p:tgtEl>
                                      </p:cBhvr>
                                    </p:animEffect>
                                  </p:childTnLst>
                                </p:cTn>
                              </p:par>
                            </p:childTnLst>
                          </p:cTn>
                        </p:par>
                        <p:par>
                          <p:cTn id="40" fill="hold">
                            <p:stCondLst>
                              <p:cond delay="2100"/>
                            </p:stCondLst>
                            <p:childTnLst>
                              <p:par>
                                <p:cTn id="45" presetID="53" presetClass="entr" presetSubtype="16" fill="hold" grpId="0" nodeType="afterEffect">
                                  <p:stCondLst>
                                    <p:cond delay="0"/>
                                  </p:stCondLst>
                                  <p:childTnLst>
                                    <p:set>
                                      <p:cBhvr>
                                        <p:cTn id="41" dur="1" fill="hold">
                                          <p:stCondLst>
                                            <p:cond delay="0"/>
                                          </p:stCondLst>
                                        </p:cTn>
                                        <p:tgtEl>
                                          <p:spTgt spid="11"/>
                                        </p:tgtEl>
                                        <p:attrNameLst>
                                          <p:attrName>style.visibility</p:attrName>
                                        </p:attrNameLst>
                                      </p:cBhvr>
                                      <p:to>
                                        <p:strVal val="visible"/>
                                      </p:to>
                                    </p:set>
                                    <p:anim calcmode="lin" valueType="num">
                                      <p:cBhvr>
                                        <p:cTn id="42" dur="350" fill="hold"/>
                                        <p:tgtEl>
                                          <p:spTgt spid="11"/>
                                        </p:tgtEl>
                                        <p:attrNameLst>
                                          <p:attrName>ppt_w</p:attrName>
                                        </p:attrNameLst>
                                      </p:cBhvr>
                                      <p:tavLst>
                                        <p:tav tm="0">
                                          <p:val>
                                            <p:fltVal val="0"/>
                                          </p:val>
                                        </p:tav>
                                        <p:tav tm="100000">
                                          <p:val>
                                            <p:strVal val="#ppt_w"/>
                                          </p:val>
                                        </p:tav>
                                      </p:tavLst>
                                    </p:anim>
                                    <p:anim calcmode="lin" valueType="num">
                                      <p:cBhvr>
                                        <p:cTn id="43" dur="350" fill="hold"/>
                                        <p:tgtEl>
                                          <p:spTgt spid="11"/>
                                        </p:tgtEl>
                                        <p:attrNameLst>
                                          <p:attrName>ppt_h</p:attrName>
                                        </p:attrNameLst>
                                      </p:cBhvr>
                                      <p:tavLst>
                                        <p:tav tm="0">
                                          <p:val>
                                            <p:fltVal val="0"/>
                                          </p:val>
                                        </p:tav>
                                        <p:tav tm="100000">
                                          <p:val>
                                            <p:strVal val="#ppt_h"/>
                                          </p:val>
                                        </p:tav>
                                      </p:tavLst>
                                    </p:anim>
                                    <p:animEffect transition="in" filter="fade">
                                      <p:cBhvr>
                                        <p:cTn id="44" dur="350"/>
                                        <p:tgtEl>
                                          <p:spTgt spid="11"/>
                                        </p:tgtEl>
                                      </p:cBhvr>
                                    </p:animEffect>
                                  </p:childTnLst>
                                </p:cTn>
                              </p:par>
                            </p:childTnLst>
                          </p:cTn>
                        </p:par>
                        <p:par>
                          <p:cTn id="46" fill="hold">
                            <p:stCondLst>
                              <p:cond delay="2450"/>
                            </p:stCondLst>
                            <p:childTnLst>
                              <p:par>
                                <p:cTn id="51" presetID="53" presetClass="entr" presetSubtype="16" fill="hold" grpId="0" nodeType="afterEffect">
                                  <p:stCondLst>
                                    <p:cond delay="0"/>
                                  </p:stCondLst>
                                  <p:childTnLst>
                                    <p:set>
                                      <p:cBhvr>
                                        <p:cTn id="47" dur="1" fill="hold">
                                          <p:stCondLst>
                                            <p:cond delay="0"/>
                                          </p:stCondLst>
                                        </p:cTn>
                                        <p:tgtEl>
                                          <p:spTgt spid="12"/>
                                        </p:tgtEl>
                                        <p:attrNameLst>
                                          <p:attrName>style.visibility</p:attrName>
                                        </p:attrNameLst>
                                      </p:cBhvr>
                                      <p:to>
                                        <p:strVal val="visible"/>
                                      </p:to>
                                    </p:set>
                                    <p:anim calcmode="lin" valueType="num">
                                      <p:cBhvr>
                                        <p:cTn id="48" dur="350" fill="hold"/>
                                        <p:tgtEl>
                                          <p:spTgt spid="12"/>
                                        </p:tgtEl>
                                        <p:attrNameLst>
                                          <p:attrName>ppt_w</p:attrName>
                                        </p:attrNameLst>
                                      </p:cBhvr>
                                      <p:tavLst>
                                        <p:tav tm="0">
                                          <p:val>
                                            <p:fltVal val="0"/>
                                          </p:val>
                                        </p:tav>
                                        <p:tav tm="100000">
                                          <p:val>
                                            <p:strVal val="#ppt_w"/>
                                          </p:val>
                                        </p:tav>
                                      </p:tavLst>
                                    </p:anim>
                                    <p:anim calcmode="lin" valueType="num">
                                      <p:cBhvr>
                                        <p:cTn id="49" dur="350" fill="hold"/>
                                        <p:tgtEl>
                                          <p:spTgt spid="12"/>
                                        </p:tgtEl>
                                        <p:attrNameLst>
                                          <p:attrName>ppt_h</p:attrName>
                                        </p:attrNameLst>
                                      </p:cBhvr>
                                      <p:tavLst>
                                        <p:tav tm="0">
                                          <p:val>
                                            <p:fltVal val="0"/>
                                          </p:val>
                                        </p:tav>
                                        <p:tav tm="100000">
                                          <p:val>
                                            <p:strVal val="#ppt_h"/>
                                          </p:val>
                                        </p:tav>
                                      </p:tavLst>
                                    </p:anim>
                                    <p:animEffect transition="in" filter="fade">
                                      <p:cBhvr>
                                        <p:cTn id="50" dur="350"/>
                                        <p:tgtEl>
                                          <p:spTgt spid="12"/>
                                        </p:tgtEl>
                                      </p:cBhvr>
                                    </p:animEffect>
                                  </p:childTnLst>
                                </p:cTn>
                              </p:par>
                            </p:childTnLst>
                          </p:cTn>
                        </p:par>
                        <p:par>
                          <p:cTn id="52" fill="hold">
                            <p:stCondLst>
                              <p:cond delay="2800"/>
                            </p:stCondLst>
                            <p:childTnLst>
                              <p:par>
                                <p:cTn id="57" presetID="53" presetClass="entr" presetSubtype="16" fill="hold" grpId="0" nodeType="afterEffect">
                                  <p:stCondLst>
                                    <p:cond delay="0"/>
                                  </p:stCondLst>
                                  <p:childTnLst>
                                    <p:set>
                                      <p:cBhvr>
                                        <p:cTn id="53" dur="1" fill="hold">
                                          <p:stCondLst>
                                            <p:cond delay="0"/>
                                          </p:stCondLst>
                                        </p:cTn>
                                        <p:tgtEl>
                                          <p:spTgt spid="13"/>
                                        </p:tgtEl>
                                        <p:attrNameLst>
                                          <p:attrName>style.visibility</p:attrName>
                                        </p:attrNameLst>
                                      </p:cBhvr>
                                      <p:to>
                                        <p:strVal val="visible"/>
                                      </p:to>
                                    </p:set>
                                    <p:anim calcmode="lin" valueType="num">
                                      <p:cBhvr>
                                        <p:cTn id="54" dur="350" fill="hold"/>
                                        <p:tgtEl>
                                          <p:spTgt spid="13"/>
                                        </p:tgtEl>
                                        <p:attrNameLst>
                                          <p:attrName>ppt_w</p:attrName>
                                        </p:attrNameLst>
                                      </p:cBhvr>
                                      <p:tavLst>
                                        <p:tav tm="0">
                                          <p:val>
                                            <p:fltVal val="0"/>
                                          </p:val>
                                        </p:tav>
                                        <p:tav tm="100000">
                                          <p:val>
                                            <p:strVal val="#ppt_w"/>
                                          </p:val>
                                        </p:tav>
                                      </p:tavLst>
                                    </p:anim>
                                    <p:anim calcmode="lin" valueType="num">
                                      <p:cBhvr>
                                        <p:cTn id="55" dur="350" fill="hold"/>
                                        <p:tgtEl>
                                          <p:spTgt spid="13"/>
                                        </p:tgtEl>
                                        <p:attrNameLst>
                                          <p:attrName>ppt_h</p:attrName>
                                        </p:attrNameLst>
                                      </p:cBhvr>
                                      <p:tavLst>
                                        <p:tav tm="0">
                                          <p:val>
                                            <p:fltVal val="0"/>
                                          </p:val>
                                        </p:tav>
                                        <p:tav tm="100000">
                                          <p:val>
                                            <p:strVal val="#ppt_h"/>
                                          </p:val>
                                        </p:tav>
                                      </p:tavLst>
                                    </p:anim>
                                    <p:animEffect transition="in" filter="fade">
                                      <p:cBhvr>
                                        <p:cTn id="56" dur="350"/>
                                        <p:tgtEl>
                                          <p:spTgt spid="13"/>
                                        </p:tgtEl>
                                      </p:cBhvr>
                                    </p:animEffect>
                                  </p:childTnLst>
                                </p:cTn>
                              </p:par>
                            </p:childTnLst>
                          </p:cTn>
                        </p:par>
                        <p:par>
                          <p:cTn id="58" fill="hold">
                            <p:stCondLst>
                              <p:cond delay="3150"/>
                            </p:stCondLst>
                            <p:childTnLst>
                              <p:par>
                                <p:cTn id="63" presetID="53" presetClass="entr" presetSubtype="16" fill="hold" grpId="0" nodeType="afterEffect">
                                  <p:stCondLst>
                                    <p:cond delay="0"/>
                                  </p:stCondLst>
                                  <p:childTnLst>
                                    <p:set>
                                      <p:cBhvr>
                                        <p:cTn id="59" dur="1" fill="hold">
                                          <p:stCondLst>
                                            <p:cond delay="0"/>
                                          </p:stCondLst>
                                        </p:cTn>
                                        <p:tgtEl>
                                          <p:spTgt spid="14"/>
                                        </p:tgtEl>
                                        <p:attrNameLst>
                                          <p:attrName>style.visibility</p:attrName>
                                        </p:attrNameLst>
                                      </p:cBhvr>
                                      <p:to>
                                        <p:strVal val="visible"/>
                                      </p:to>
                                    </p:set>
                                    <p:anim calcmode="lin" valueType="num">
                                      <p:cBhvr>
                                        <p:cTn id="60" dur="350" fill="hold"/>
                                        <p:tgtEl>
                                          <p:spTgt spid="14"/>
                                        </p:tgtEl>
                                        <p:attrNameLst>
                                          <p:attrName>ppt_w</p:attrName>
                                        </p:attrNameLst>
                                      </p:cBhvr>
                                      <p:tavLst>
                                        <p:tav tm="0">
                                          <p:val>
                                            <p:fltVal val="0"/>
                                          </p:val>
                                        </p:tav>
                                        <p:tav tm="100000">
                                          <p:val>
                                            <p:strVal val="#ppt_w"/>
                                          </p:val>
                                        </p:tav>
                                      </p:tavLst>
                                    </p:anim>
                                    <p:anim calcmode="lin" valueType="num">
                                      <p:cBhvr>
                                        <p:cTn id="61" dur="350" fill="hold"/>
                                        <p:tgtEl>
                                          <p:spTgt spid="14"/>
                                        </p:tgtEl>
                                        <p:attrNameLst>
                                          <p:attrName>ppt_h</p:attrName>
                                        </p:attrNameLst>
                                      </p:cBhvr>
                                      <p:tavLst>
                                        <p:tav tm="0">
                                          <p:val>
                                            <p:fltVal val="0"/>
                                          </p:val>
                                        </p:tav>
                                        <p:tav tm="100000">
                                          <p:val>
                                            <p:strVal val="#ppt_h"/>
                                          </p:val>
                                        </p:tav>
                                      </p:tavLst>
                                    </p:anim>
                                    <p:animEffect transition="in" filter="fade">
                                      <p:cBhvr>
                                        <p:cTn id="62" dur="3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Meet llm-d</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Open source, built by Red Hat, Google, IBM and NVIDIA</a:t>
            </a:r>
            <a:endParaRPr lang="en-US" sz="1700" dirty="0"/>
          </a:p>
        </p:txBody>
      </p:sp>
      <p:pic>
        <p:nvPicPr>
          <p:cNvPr id="4" name="layer_0" descr="Meet llm-d — illustration part 1">    </p:cNvPr>
          <p:cNvPicPr>
            <a:picLocks noChangeAspect="1"/>
          </p:cNvPicPr>
          <p:nvPr/>
        </p:nvPicPr>
        <p:blipFill>
          <a:blip r:embed="rId1"/>
          <a:stretch>
            <a:fillRect/>
          </a:stretch>
        </p:blipFill>
        <p:spPr>
          <a:xfrm>
            <a:off x="1629396" y="1912373"/>
            <a:ext cx="8912749" cy="1350137"/>
          </a:xfrm>
          <a:prstGeom prst="rect">
            <a:avLst/>
          </a:prstGeom>
        </p:spPr>
      </p:pic>
      <p:pic>
        <p:nvPicPr>
          <p:cNvPr id="5" name="layer_1" descr="Meet llm-d — illustration part 2">    </p:cNvPr>
          <p:cNvPicPr>
            <a:picLocks noChangeAspect="1"/>
          </p:cNvPicPr>
          <p:nvPr/>
        </p:nvPicPr>
        <p:blipFill>
          <a:blip r:embed="rId2"/>
          <a:stretch>
            <a:fillRect/>
          </a:stretch>
        </p:blipFill>
        <p:spPr>
          <a:xfrm>
            <a:off x="5458503" y="3247397"/>
            <a:ext cx="1259574" cy="1259457"/>
          </a:xfrm>
          <a:prstGeom prst="rect">
            <a:avLst/>
          </a:prstGeom>
        </p:spPr>
      </p:pic>
      <p:pic>
        <p:nvPicPr>
          <p:cNvPr id="6" name="layer_2" descr="Meet llm-d — illustration part 3">    </p:cNvPr>
          <p:cNvPicPr>
            <a:picLocks noChangeAspect="1"/>
          </p:cNvPicPr>
          <p:nvPr/>
        </p:nvPicPr>
        <p:blipFill>
          <a:blip r:embed="rId3"/>
          <a:stretch>
            <a:fillRect/>
          </a:stretch>
        </p:blipFill>
        <p:spPr>
          <a:xfrm>
            <a:off x="1543745" y="3453948"/>
            <a:ext cx="9084051" cy="2176341"/>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llm-d runs the whole fleet: it routes, moves caches, shares GPUs fairly and scales down</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llm-d is the open-source project that ties it all together: it decides which server gets each request, moves cached work around, shares GPUs fairly and scales down when traffic stops.</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No Machine-Learning Background Needed</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If you can follow a request through a system, you can follow this</a:t>
            </a:r>
            <a:endParaRPr lang="en-US" sz="1700" dirty="0"/>
          </a:p>
        </p:txBody>
      </p:sp>
      <p:pic>
        <p:nvPicPr>
          <p:cNvPr id="4" name="layer_0" descr="No Machine-Learning Background Needed — illustration part 1">    </p:cNvPr>
          <p:cNvPicPr>
            <a:picLocks noChangeAspect="1"/>
          </p:cNvPicPr>
          <p:nvPr/>
        </p:nvPicPr>
        <p:blipFill>
          <a:blip r:embed="rId1"/>
          <a:stretch>
            <a:fillRect/>
          </a:stretch>
        </p:blipFill>
        <p:spPr>
          <a:xfrm>
            <a:off x="1044954" y="3242359"/>
            <a:ext cx="4348051" cy="937036"/>
          </a:xfrm>
          <a:prstGeom prst="rect">
            <a:avLst/>
          </a:prstGeom>
        </p:spPr>
      </p:pic>
      <p:pic>
        <p:nvPicPr>
          <p:cNvPr id="5" name="layer_1" descr="No Machine-Learning Background Needed — illustration part 2">    </p:cNvPr>
          <p:cNvPicPr>
            <a:picLocks noChangeAspect="1"/>
          </p:cNvPicPr>
          <p:nvPr/>
        </p:nvPicPr>
        <p:blipFill>
          <a:blip r:embed="rId2"/>
          <a:stretch>
            <a:fillRect/>
          </a:stretch>
        </p:blipFill>
        <p:spPr>
          <a:xfrm>
            <a:off x="5367814" y="3242359"/>
            <a:ext cx="5758775" cy="937036"/>
          </a:xfrm>
          <a:prstGeom prst="rect">
            <a:avLst/>
          </a:prstGeom>
        </p:spPr>
      </p:pic>
      <p:pic>
        <p:nvPicPr>
          <p:cNvPr id="6" name="layer_2" descr="No Machine-Learning Background Needed — illustration part 3">    </p:cNvPr>
          <p:cNvPicPr>
            <a:picLocks noChangeAspect="1"/>
          </p:cNvPicPr>
          <p:nvPr/>
        </p:nvPicPr>
        <p:blipFill>
          <a:blip r:embed="rId3"/>
          <a:stretch>
            <a:fillRect/>
          </a:stretch>
        </p:blipFill>
        <p:spPr>
          <a:xfrm>
            <a:off x="3271882" y="4683177"/>
            <a:ext cx="6116494" cy="513858"/>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Taught by Mumshad Mannambeth · the part of AI nobody shows you</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No machine-learning background is needed. If you can trace a request from the user, through a gateway, to a server and back, you can follow every lesson here.</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731520" y="2834640"/>
            <a:ext cx="5669280" cy="1371600"/>
          </a:xfrm>
          <a:prstGeom prst="rect">
            <a:avLst/>
          </a:prstGeom>
          <a:noFill/>
          <a:ln/>
        </p:spPr>
        <p:txBody>
          <a:bodyPr wrap="square" lIns="0" tIns="0" rIns="0" bIns="0" rtlCol="0" anchor="t"/>
          <a:lstStyle/>
          <a:p>
            <a:pPr algn="l" indent="0" marL="0">
              <a:buNone/>
            </a:pPr>
            <a:r>
              <a:rPr lang="en-US" sz="4000" b="1" dirty="0">
                <a:solidFill>
                  <a:srgbClr val="FFFFFF"/>
                </a:solidFill>
                <a:latin typeface="Calibri" pitchFamily="34" charset="0"/>
                <a:ea typeface="Calibri" pitchFamily="34" charset="-122"/>
                <a:cs typeface="Calibri" pitchFamily="34" charset="-120"/>
              </a:rPr>
              <a:t>What Is a Model?</a:t>
            </a:r>
            <a:endParaRPr lang="en-US" sz="4000" dirty="0"/>
          </a:p>
        </p:txBody>
      </p:sp>
      <p:sp>
        <p:nvSpPr>
          <p:cNvPr id="3" name="Text 0"/>
          <p:cNvSpPr/>
          <p:nvPr>
            <p:ph idx="101" type="body" hasCustomPrompt="1"/>
          </p:nvPr>
        </p:nvSpPr>
        <p:spPr>
          <a:xfrm>
            <a:off x="731520" y="4251960"/>
            <a:ext cx="5120640" cy="822960"/>
          </a:xfrm>
          <a:prstGeom prst="rect">
            <a:avLst/>
          </a:prstGeom>
          <a:noFill/>
          <a:ln/>
        </p:spPr>
        <p:txBody>
          <a:bodyPr wrap="square" lIns="0" tIns="0" rIns="0" bIns="0" rtlCol="0" anchor="t"/>
          <a:lstStyle/>
          <a:p>
            <a:pPr algn="l" indent="0" marL="0">
              <a:buNone/>
            </a:pPr>
            <a:r>
              <a:rPr lang="en-US" sz="2000" dirty="0">
                <a:solidFill>
                  <a:srgbClr val="22D3EE"/>
                </a:solidFill>
                <a:latin typeface="Calibri" pitchFamily="34" charset="0"/>
                <a:ea typeface="Calibri" pitchFamily="34" charset="-122"/>
                <a:cs typeface="Calibri" pitchFamily="34" charset="-120"/>
              </a:rPr>
              <a:t>Before we can serve a model, what IS a model?</a:t>
            </a:r>
            <a:endParaRPr lang="en-US" sz="2000" dirty="0"/>
          </a:p>
        </p:txBody>
      </p:sp>
      <p:sp>
        <p:nvSpPr>
          <p:cNvPr id="4" name="Text 2"/>
          <p:cNvSpPr txBox="1"/>
          <p:nvPr/>
        </p:nvSpPr>
        <p:spPr>
          <a:xfrm>
            <a:off x="731520" y="1371600"/>
            <a:ext cx="2743200" cy="1371600"/>
          </a:xfrm>
          <a:prstGeom prst="rect">
            <a:avLst/>
          </a:prstGeom>
          <a:noFill/>
          <a:ln/>
        </p:spPr>
        <p:txBody>
          <a:bodyPr wrap="square" lIns="0" tIns="0" rIns="0" bIns="0" rtlCol="0" anchor="ctr"/>
          <a:lstStyle/>
          <a:p>
            <a:pPr indent="0" marL="0">
              <a:buNone/>
            </a:pPr>
            <a:r>
              <a:rPr lang="en-US" sz="9600" b="1" dirty="0">
                <a:solidFill>
                  <a:srgbClr val="22D3EE">
                    <a:alpha val="80000"/>
                  </a:srgbClr>
                </a:solidFill>
                <a:latin typeface="Calibri" pitchFamily="34" charset="0"/>
                <a:ea typeface="Calibri" pitchFamily="34" charset="-122"/>
                <a:cs typeface="Calibri" pitchFamily="34" charset="-120"/>
              </a:rPr>
              <a:t>01</a:t>
            </a:r>
            <a:endParaRPr lang="en-US" sz="9600" dirty="0"/>
          </a:p>
        </p:txBody>
      </p:sp>
      <p:pic>
        <p:nvPicPr>
          <p:cNvPr id="5" name="layer_0" descr="What Is a Model? — illustration part 1">    </p:cNvPr>
          <p:cNvPicPr>
            <a:picLocks noChangeAspect="1"/>
          </p:cNvPicPr>
          <p:nvPr/>
        </p:nvPicPr>
        <p:blipFill>
          <a:blip r:embed="rId1"/>
          <a:stretch>
            <a:fillRect/>
          </a:stretch>
        </p:blipFill>
        <p:spPr>
          <a:xfrm>
            <a:off x="6033272" y="2796454"/>
            <a:ext cx="4640687" cy="1574470"/>
          </a:xfrm>
          <a:prstGeom prst="rect">
            <a:avLst/>
          </a:prstGeom>
        </p:spPr>
      </p:pic>
      <p:sp>
        <p:nvSpPr>
          <p:cNvPr id="6" name="nav_agenda"/>
          <p:cNvSpPr txBox="1"/>
          <p:nvPr/>
        </p:nvSpPr>
        <p:spPr>
          <a:xfrm>
            <a:off x="731520" y="5669280"/>
            <a:ext cx="1371600" cy="384048"/>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1300" u="sng" dirty="0">
                <a:solidFill>
                  <a:srgbClr val="22D3EE"/>
                </a:solidFill>
                <a:latin typeface="Calibri" pitchFamily="34" charset="0"/>
                <a:ea typeface="Calibri" pitchFamily="34" charset="-122"/>
                <a:cs typeface="Calibri" pitchFamily="34" charset="-120"/>
                <a:hlinkClick r:id="rId2" action="ppaction://hlinksldjump" tooltip="Back to agenda">
                  <a:extLst>
                    <a:ext uri="{A12FA001-AC4F-418D-AE19-62706E023703}">
                      <ahyp:hlinkClr xmlns:ahyp="http://schemas.microsoft.com/office/drawing/2018/hyperlinkcolor" val="tx"/>
                    </a:ext>
                  </a:extLst>
                </a:hlinkClick>
              </a:rPr>
              <a:t>⌂ Agenda</a:t>
            </a:r>
            <a:endParaRPr lang="en-US" sz="13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10</a:t>
            </a:fld>
            <a:endParaRPr lang="en-US"/>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ChatGPT Is Two Things Stuck Together</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The application you see + the model doing the thinking</a:t>
            </a:r>
            <a:endParaRPr lang="en-US" sz="1700" dirty="0"/>
          </a:p>
        </p:txBody>
      </p:sp>
      <p:pic>
        <p:nvPicPr>
          <p:cNvPr id="4" name="layer_0" descr="ChatGPT Is Two Things Stuck Together — illustration part 1">    </p:cNvPr>
          <p:cNvPicPr>
            <a:picLocks noChangeAspect="1"/>
          </p:cNvPicPr>
          <p:nvPr/>
        </p:nvPicPr>
        <p:blipFill>
          <a:blip r:embed="rId1"/>
          <a:stretch>
            <a:fillRect/>
          </a:stretch>
        </p:blipFill>
        <p:spPr>
          <a:xfrm>
            <a:off x="5085669" y="1937562"/>
            <a:ext cx="1849055" cy="478594"/>
          </a:xfrm>
          <a:prstGeom prst="rect">
            <a:avLst/>
          </a:prstGeom>
        </p:spPr>
      </p:pic>
      <p:pic>
        <p:nvPicPr>
          <p:cNvPr id="5" name="layer_1" descr="ChatGPT Is Two Things Stuck Together — illustration part 2">    </p:cNvPr>
          <p:cNvPicPr>
            <a:picLocks noChangeAspect="1"/>
          </p:cNvPicPr>
          <p:nvPr/>
        </p:nvPicPr>
        <p:blipFill>
          <a:blip r:embed="rId2"/>
          <a:stretch>
            <a:fillRect/>
          </a:stretch>
        </p:blipFill>
        <p:spPr>
          <a:xfrm>
            <a:off x="1629396" y="2577366"/>
            <a:ext cx="3587268" cy="2846372"/>
          </a:xfrm>
          <a:prstGeom prst="rect">
            <a:avLst/>
          </a:prstGeom>
        </p:spPr>
      </p:pic>
      <p:pic>
        <p:nvPicPr>
          <p:cNvPr id="6" name="layer_2" descr="ChatGPT Is Two Things Stuck Together — illustration part 3">    </p:cNvPr>
          <p:cNvPicPr>
            <a:picLocks noChangeAspect="1"/>
          </p:cNvPicPr>
          <p:nvPr/>
        </p:nvPicPr>
        <p:blipFill>
          <a:blip r:embed="rId3"/>
          <a:stretch>
            <a:fillRect/>
          </a:stretch>
        </p:blipFill>
        <p:spPr>
          <a:xfrm>
            <a:off x="6954877" y="2582404"/>
            <a:ext cx="3587268" cy="2841334"/>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Chat = the app (the website)  ·  GPT = the model behind the scenes</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The name is two things stuck together: 'Chat' is the application you type into, and 'GPT' is the model behind the scenes that reads your question and works out the answer.</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11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Many Models, One Idea</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GPT is just one of them</a:t>
            </a:r>
            <a:endParaRPr lang="en-US" sz="1700" dirty="0"/>
          </a:p>
        </p:txBody>
      </p:sp>
      <p:pic>
        <p:nvPicPr>
          <p:cNvPr id="4" name="layer_0" descr="Many Models, One Idea — illustration part 1">    </p:cNvPr>
          <p:cNvPicPr>
            <a:picLocks noChangeAspect="1"/>
          </p:cNvPicPr>
          <p:nvPr/>
        </p:nvPicPr>
        <p:blipFill>
          <a:blip r:embed="rId1"/>
          <a:stretch>
            <a:fillRect/>
          </a:stretch>
        </p:blipFill>
        <p:spPr>
          <a:xfrm>
            <a:off x="1296869" y="2078621"/>
            <a:ext cx="4922417" cy="1758201"/>
          </a:xfrm>
          <a:prstGeom prst="rect">
            <a:avLst/>
          </a:prstGeom>
        </p:spPr>
      </p:pic>
      <p:pic>
        <p:nvPicPr>
          <p:cNvPr id="5" name="layer_1" descr="Many Models, One Idea — illustration part 2">    </p:cNvPr>
          <p:cNvPicPr>
            <a:picLocks noChangeAspect="1"/>
          </p:cNvPicPr>
          <p:nvPr/>
        </p:nvPicPr>
        <p:blipFill>
          <a:blip r:embed="rId2"/>
          <a:stretch>
            <a:fillRect/>
          </a:stretch>
        </p:blipFill>
        <p:spPr>
          <a:xfrm>
            <a:off x="6783575" y="1998016"/>
            <a:ext cx="4091098" cy="3425722"/>
          </a:xfrm>
          <a:prstGeom prst="rect">
            <a:avLst/>
          </a:prstGeom>
        </p:spPr>
      </p:pic>
      <p:pic>
        <p:nvPicPr>
          <p:cNvPr id="6" name="layer_2" descr="Many Models, One Idea — illustration part 3">    </p:cNvPr>
          <p:cNvPicPr>
            <a:picLocks noChangeAspect="1"/>
          </p:cNvPicPr>
          <p:nvPr/>
        </p:nvPicPr>
        <p:blipFill>
          <a:blip r:embed="rId3"/>
          <a:stretch>
            <a:fillRect/>
          </a:stretch>
        </p:blipFill>
        <p:spPr>
          <a:xfrm>
            <a:off x="5791031" y="3524477"/>
            <a:ext cx="1723098" cy="609577"/>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Every AI product = a model doing the thinking + an application wrapped around it</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GPT, Claude, Gemini and Llama have different names, but underneath they share one idea: a model doing the thinking, wrapped in an application.</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12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The Simplest Possible Model</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Forget AI for a second — picture a tiny machine</a:t>
            </a:r>
            <a:endParaRPr lang="en-US" sz="1700" dirty="0"/>
          </a:p>
        </p:txBody>
      </p:sp>
      <p:pic>
        <p:nvPicPr>
          <p:cNvPr id="4" name="layer_0" descr="The Simplest Possible Model — illustration part 1">    </p:cNvPr>
          <p:cNvPicPr>
            <a:picLocks noChangeAspect="1"/>
          </p:cNvPicPr>
          <p:nvPr/>
        </p:nvPicPr>
        <p:blipFill>
          <a:blip r:embed="rId1"/>
          <a:stretch>
            <a:fillRect/>
          </a:stretch>
        </p:blipFill>
        <p:spPr>
          <a:xfrm>
            <a:off x="4622145" y="2330512"/>
            <a:ext cx="2095932" cy="2760729"/>
          </a:xfrm>
          <a:prstGeom prst="rect">
            <a:avLst/>
          </a:prstGeom>
        </p:spPr>
      </p:pic>
      <p:pic>
        <p:nvPicPr>
          <p:cNvPr id="5" name="layer_1" descr="The Simplest Possible Model — illustration part 2">    </p:cNvPr>
          <p:cNvPicPr>
            <a:picLocks noChangeAspect="1"/>
          </p:cNvPicPr>
          <p:nvPr/>
        </p:nvPicPr>
        <p:blipFill>
          <a:blip r:embed="rId2"/>
          <a:stretch>
            <a:fillRect/>
          </a:stretch>
        </p:blipFill>
        <p:spPr>
          <a:xfrm>
            <a:off x="3171116" y="2043356"/>
            <a:ext cx="4831728" cy="3335041"/>
          </a:xfrm>
          <a:prstGeom prst="rect">
            <a:avLst/>
          </a:prstGeom>
        </p:spPr>
      </p:pic>
      <p:pic>
        <p:nvPicPr>
          <p:cNvPr id="6" name="layer_2" descr="The Simplest Possible Model — illustration part 3">    </p:cNvPr>
          <p:cNvPicPr>
            <a:picLocks noChangeAspect="1"/>
          </p:cNvPicPr>
          <p:nvPr/>
        </p:nvPicPr>
        <p:blipFill>
          <a:blip r:embed="rId3"/>
          <a:stretch>
            <a:fillRect/>
          </a:stretch>
        </p:blipFill>
        <p:spPr>
          <a:xfrm>
            <a:off x="1841005" y="2411118"/>
            <a:ext cx="7985702" cy="2967280"/>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Drop a number in, a different number comes out: it doubles whatever you give it</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Drop in 3, get 6. Drop in 10, get 20. This tiny machine always doubles its input — and it's the simplest possible example of what a model is.</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13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Two Things in One Line</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The formula (fixed structure) and the number inside (learned)</a:t>
            </a:r>
            <a:endParaRPr lang="en-US" sz="1700" dirty="0"/>
          </a:p>
        </p:txBody>
      </p:sp>
      <p:pic>
        <p:nvPicPr>
          <p:cNvPr id="4" name="layer_0" descr="Two Things in One Line — illustration part 1">    </p:cNvPr>
          <p:cNvPicPr>
            <a:picLocks noChangeAspect="1"/>
          </p:cNvPicPr>
          <p:nvPr/>
        </p:nvPicPr>
        <p:blipFill>
          <a:blip r:embed="rId1"/>
          <a:stretch>
            <a:fillRect/>
          </a:stretch>
        </p:blipFill>
        <p:spPr>
          <a:xfrm>
            <a:off x="4118316" y="2945127"/>
            <a:ext cx="5204562" cy="574312"/>
          </a:xfrm>
          <a:prstGeom prst="rect">
            <a:avLst/>
          </a:prstGeom>
        </p:spPr>
      </p:pic>
      <p:pic>
        <p:nvPicPr>
          <p:cNvPr id="5" name="layer_1" descr="Two Things in One Line — illustration part 2">    </p:cNvPr>
          <p:cNvPicPr>
            <a:picLocks noChangeAspect="1"/>
          </p:cNvPicPr>
          <p:nvPr/>
        </p:nvPicPr>
        <p:blipFill>
          <a:blip r:embed="rId2"/>
          <a:stretch>
            <a:fillRect/>
          </a:stretch>
        </p:blipFill>
        <p:spPr>
          <a:xfrm>
            <a:off x="2128188" y="2496761"/>
            <a:ext cx="6585055" cy="2408081"/>
          </a:xfrm>
          <a:prstGeom prst="rect">
            <a:avLst/>
          </a:prstGeom>
        </p:spPr>
      </p:pic>
      <p:pic>
        <p:nvPicPr>
          <p:cNvPr id="6" name="layer_2" descr="Two Things in One Line — illustration part 3">    </p:cNvPr>
          <p:cNvPicPr>
            <a:picLocks noChangeAspect="1"/>
          </p:cNvPicPr>
          <p:nvPr/>
        </p:nvPicPr>
        <p:blipFill>
          <a:blip r:embed="rId3"/>
          <a:stretch>
            <a:fillRect/>
          </a:stretch>
        </p:blipFill>
        <p:spPr>
          <a:xfrm>
            <a:off x="8179184" y="2657971"/>
            <a:ext cx="2312579" cy="1929488"/>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Formula = the shape of the calculation · the number 2 = the part the machine learned</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Look closely and the line has two parts: the formula (input, multiply, output), which is fixed, and the number 2, which is what the machine actually learned.</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14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That Number Is Called a Weight</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Change the weight, change the behaviour</a:t>
            </a:r>
            <a:endParaRPr lang="en-US" sz="1700" dirty="0"/>
          </a:p>
        </p:txBody>
      </p:sp>
      <p:pic>
        <p:nvPicPr>
          <p:cNvPr id="4" name="layer_0" descr="That Number Is Called a Weight — illustration part 1">    </p:cNvPr>
          <p:cNvPicPr>
            <a:picLocks noChangeAspect="1"/>
          </p:cNvPicPr>
          <p:nvPr/>
        </p:nvPicPr>
        <p:blipFill>
          <a:blip r:embed="rId1"/>
          <a:stretch>
            <a:fillRect/>
          </a:stretch>
        </p:blipFill>
        <p:spPr>
          <a:xfrm>
            <a:off x="1674741" y="2829257"/>
            <a:ext cx="4332936" cy="1964752"/>
          </a:xfrm>
          <a:prstGeom prst="rect">
            <a:avLst/>
          </a:prstGeom>
        </p:spPr>
      </p:pic>
      <p:pic>
        <p:nvPicPr>
          <p:cNvPr id="5" name="layer_1" descr="That Number Is Called a Weight — illustration part 2">    </p:cNvPr>
          <p:cNvPicPr>
            <a:picLocks noChangeAspect="1"/>
          </p:cNvPicPr>
          <p:nvPr/>
        </p:nvPicPr>
        <p:blipFill>
          <a:blip r:embed="rId2"/>
          <a:stretch>
            <a:fillRect/>
          </a:stretch>
        </p:blipFill>
        <p:spPr>
          <a:xfrm>
            <a:off x="6496392" y="2829257"/>
            <a:ext cx="4332936" cy="2020168"/>
          </a:xfrm>
          <a:prstGeom prst="rect">
            <a:avLst/>
          </a:prstGeom>
        </p:spPr>
      </p:pic>
      <p:pic>
        <p:nvPicPr>
          <p:cNvPr id="6" name="layer_2" descr="That Number Is Called a Weight — illustration part 3">    </p:cNvPr>
          <p:cNvPicPr>
            <a:picLocks noChangeAspect="1"/>
          </p:cNvPicPr>
          <p:nvPr/>
        </p:nvPicPr>
        <p:blipFill>
          <a:blip r:embed="rId3"/>
          <a:stretch>
            <a:fillRect/>
          </a:stretch>
        </p:blipFill>
        <p:spPr>
          <a:xfrm>
            <a:off x="4758179" y="1917411"/>
            <a:ext cx="2655183" cy="3581895"/>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Same structure + different weight = completely different behaviour</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That learned number is called a weight. Turn it from 2 to 3 and the very same formula triples instead of doubles.</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15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Let's Do Something Real: Price a House</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Several things you can measure, each with its own weight</a:t>
            </a:r>
            <a:endParaRPr lang="en-US" sz="1700" dirty="0"/>
          </a:p>
        </p:txBody>
      </p:sp>
      <p:pic>
        <p:nvPicPr>
          <p:cNvPr id="4" name="layer_0" descr="Let's Do Something Real: Price a House — illustration part 1">    </p:cNvPr>
          <p:cNvPicPr>
            <a:picLocks noChangeAspect="1"/>
          </p:cNvPicPr>
          <p:nvPr/>
        </p:nvPicPr>
        <p:blipFill>
          <a:blip r:embed="rId1"/>
          <a:stretch>
            <a:fillRect/>
          </a:stretch>
        </p:blipFill>
        <p:spPr>
          <a:xfrm>
            <a:off x="1296869" y="2476609"/>
            <a:ext cx="1697906" cy="2261984"/>
          </a:xfrm>
          <a:prstGeom prst="rect">
            <a:avLst/>
          </a:prstGeom>
        </p:spPr>
      </p:pic>
      <p:pic>
        <p:nvPicPr>
          <p:cNvPr id="5" name="layer_1" descr="Let's Do Something Real: Price a House — illustration part 2">    </p:cNvPr>
          <p:cNvPicPr>
            <a:picLocks noChangeAspect="1"/>
          </p:cNvPicPr>
          <p:nvPr/>
        </p:nvPicPr>
        <p:blipFill>
          <a:blip r:embed="rId2"/>
          <a:stretch>
            <a:fillRect/>
          </a:stretch>
        </p:blipFill>
        <p:spPr>
          <a:xfrm>
            <a:off x="3639677" y="2330512"/>
            <a:ext cx="7320647" cy="1163738"/>
          </a:xfrm>
          <a:prstGeom prst="rect">
            <a:avLst/>
          </a:prstGeom>
        </p:spPr>
      </p:pic>
      <p:pic>
        <p:nvPicPr>
          <p:cNvPr id="6" name="layer_2" descr="Let's Do Something Real: Price a House — illustration part 3">    </p:cNvPr>
          <p:cNvPicPr>
            <a:picLocks noChangeAspect="1"/>
          </p:cNvPicPr>
          <p:nvPr/>
        </p:nvPicPr>
        <p:blipFill>
          <a:blip r:embed="rId3"/>
          <a:stretch>
            <a:fillRect/>
          </a:stretch>
        </p:blipFill>
        <p:spPr>
          <a:xfrm>
            <a:off x="3624562" y="3907352"/>
            <a:ext cx="7250111" cy="1516386"/>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Still just multiply and add — each weight says how much that one thing matters</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To guess a house price, each measurable thing — size, bedrooms, age — gets its own weight, and the formula multiplies and adds them up, exactly like the doubling box.</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16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Where Do the Weights Come From? Training</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You don't make them up — the formula learns them from examples</a:t>
            </a:r>
            <a:endParaRPr lang="en-US" sz="1700" dirty="0"/>
          </a:p>
        </p:txBody>
      </p:sp>
      <p:pic>
        <p:nvPicPr>
          <p:cNvPr id="4" name="layer_0" descr="Where Do the Weights Come From? Training — illustration part 1">    </p:cNvPr>
          <p:cNvPicPr>
            <a:picLocks noChangeAspect="1"/>
          </p:cNvPicPr>
          <p:nvPr/>
        </p:nvPicPr>
        <p:blipFill>
          <a:blip r:embed="rId1"/>
          <a:stretch>
            <a:fillRect/>
          </a:stretch>
        </p:blipFill>
        <p:spPr>
          <a:xfrm>
            <a:off x="1301907" y="2249907"/>
            <a:ext cx="2453651" cy="3314890"/>
          </a:xfrm>
          <a:prstGeom prst="rect">
            <a:avLst/>
          </a:prstGeom>
        </p:spPr>
      </p:pic>
      <p:pic>
        <p:nvPicPr>
          <p:cNvPr id="5" name="layer_1" descr="Where Do the Weights Come From? Training — illustration part 2">    </p:cNvPr>
          <p:cNvPicPr>
            <a:picLocks noChangeAspect="1"/>
          </p:cNvPicPr>
          <p:nvPr/>
        </p:nvPicPr>
        <p:blipFill>
          <a:blip r:embed="rId2"/>
          <a:stretch>
            <a:fillRect/>
          </a:stretch>
        </p:blipFill>
        <p:spPr>
          <a:xfrm>
            <a:off x="3629601" y="2270058"/>
            <a:ext cx="4751115" cy="3073074"/>
          </a:xfrm>
          <a:prstGeom prst="rect">
            <a:avLst/>
          </a:prstGeom>
        </p:spPr>
      </p:pic>
      <p:pic>
        <p:nvPicPr>
          <p:cNvPr id="6" name="layer_2" descr="Where Do the Weights Come From? Training — illustration part 3">    </p:cNvPr>
          <p:cNvPicPr>
            <a:picLocks noChangeAspect="1"/>
          </p:cNvPicPr>
          <p:nvPr/>
        </p:nvPicPr>
        <p:blipFill>
          <a:blip r:embed="rId3"/>
          <a:stretch>
            <a:fillRect/>
          </a:stretch>
        </p:blipFill>
        <p:spPr>
          <a:xfrm>
            <a:off x="8778741" y="2441344"/>
            <a:ext cx="2257157" cy="3037809"/>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Training = working out the weights from thousands of real examples</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Nobody invents the weights. You show the formula thousands of real houses and their sale prices, and it works out the weights that fit best. That process is training.</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17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Bigger Problems Need Bigger Formulas</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Language is far more tangled than house prices</a:t>
            </a:r>
            <a:endParaRPr lang="en-US" sz="1700" dirty="0"/>
          </a:p>
        </p:txBody>
      </p:sp>
      <p:pic>
        <p:nvPicPr>
          <p:cNvPr id="4" name="layer_0" descr="Bigger Problems Need Bigger Formulas — illustration part 1">    </p:cNvPr>
          <p:cNvPicPr>
            <a:picLocks noChangeAspect="1"/>
          </p:cNvPicPr>
          <p:nvPr/>
        </p:nvPicPr>
        <p:blipFill>
          <a:blip r:embed="rId1"/>
          <a:stretch>
            <a:fillRect/>
          </a:stretch>
        </p:blipFill>
        <p:spPr>
          <a:xfrm>
            <a:off x="1760392" y="2310361"/>
            <a:ext cx="503830" cy="3304814"/>
          </a:xfrm>
          <a:prstGeom prst="rect">
            <a:avLst/>
          </a:prstGeom>
        </p:spPr>
      </p:pic>
      <p:pic>
        <p:nvPicPr>
          <p:cNvPr id="5" name="layer_1" descr="Bigger Problems Need Bigger Formulas — illustration part 2">    </p:cNvPr>
          <p:cNvPicPr>
            <a:picLocks noChangeAspect="1"/>
          </p:cNvPicPr>
          <p:nvPr/>
        </p:nvPicPr>
        <p:blipFill>
          <a:blip r:embed="rId2"/>
          <a:stretch>
            <a:fillRect/>
          </a:stretch>
        </p:blipFill>
        <p:spPr>
          <a:xfrm>
            <a:off x="1977039" y="2224718"/>
            <a:ext cx="4302706" cy="3390457"/>
          </a:xfrm>
          <a:prstGeom prst="rect">
            <a:avLst/>
          </a:prstGeom>
        </p:spPr>
      </p:pic>
      <p:pic>
        <p:nvPicPr>
          <p:cNvPr id="6" name="layer_2" descr="Bigger Problems Need Bigger Formulas — illustration part 3">    </p:cNvPr>
          <p:cNvPicPr>
            <a:picLocks noChangeAspect="1"/>
          </p:cNvPicPr>
          <p:nvPr/>
        </p:nvPicPr>
        <p:blipFill>
          <a:blip r:embed="rId3"/>
          <a:stretch>
            <a:fillRect/>
          </a:stretch>
        </p:blipFill>
        <p:spPr>
          <a:xfrm>
            <a:off x="5967371" y="2224718"/>
            <a:ext cx="4121328" cy="3390457"/>
          </a:xfrm>
          <a:prstGeom prst="rect">
            <a:avLst/>
          </a:prstGeom>
        </p:spPr>
      </p:pic>
      <p:pic>
        <p:nvPicPr>
          <p:cNvPr id="7" name="layer_3" descr="Bigger Problems Need Bigger Formulas — illustration part 4">    </p:cNvPr>
          <p:cNvPicPr>
            <a:picLocks noChangeAspect="1"/>
          </p:cNvPicPr>
          <p:nvPr/>
        </p:nvPicPr>
        <p:blipFill>
          <a:blip r:embed="rId4"/>
          <a:stretch>
            <a:fillRect/>
          </a:stretch>
        </p:blipFill>
        <p:spPr>
          <a:xfrm>
            <a:off x="3518758" y="1761238"/>
            <a:ext cx="2977634" cy="246853"/>
          </a:xfrm>
          <a:prstGeom prst="rect">
            <a:avLst/>
          </a:prstGeom>
        </p:spPr>
      </p:pic>
      <p:sp>
        <p:nvSpPr>
          <p:cNvPr id="8"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9"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More inputs, more multiplications, more weights — stacked in layers, each feeding the next</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Understanding language needs far more than a handful of weights, so the formula grows into layers of multiplications, where each layer's output becomes the next layer's input.</a:t>
            </a:r>
            <a:endParaRPr lang="en-US" sz="1200" dirty="0"/>
          </a:p>
        </p:txBody>
      </p:sp>
      <p:sp>
        <p:nvSpPr>
          <p:cNvPr id="10"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5"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18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par>
                    <p:cTn id="15" fill="hold">
                      <p:stCondLst>
                        <p:cond delay="indefinite"/>
                      </p:stCondLst>
                      <p:childTnLst>
                        <p:par>
                          <p:cTn id="16" fill="hold">
                            <p:stCondLst>
                              <p:cond delay="0"/>
                            </p:stCondLst>
                            <p:childTnLst>
                              <p:par>
                                <p:cTn id="20" presetID="42"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p:cTn id="18" dur="600" fill="hold"/>
                                        <p:tgtEl>
                                          <p:spTgt spid="7"/>
                                        </p:tgtEl>
                                        <p:attrNameLst>
                                          <p:attrName>ppt_y</p:attrName>
                                        </p:attrNameLst>
                                      </p:cBhvr>
                                      <p:tavLst>
                                        <p:tav tm="0">
                                          <p:val>
                                            <p:strVal val="#ppt_y+0.03"/>
                                          </p:val>
                                        </p:tav>
                                        <p:tav tm="100000">
                                          <p:val>
                                            <p:strVal val="#ppt_y"/>
                                          </p:val>
                                        </p:tav>
                                      </p:tavLst>
                                    </p:anim>
                                    <p:animEffect transition="in" filter="fade">
                                      <p:cBhvr>
                                        <p:cTn id="19" dur="6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The Transformer</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The shape behind every modern language model</a:t>
            </a:r>
            <a:endParaRPr lang="en-US" sz="1700" dirty="0"/>
          </a:p>
        </p:txBody>
      </p:sp>
      <p:pic>
        <p:nvPicPr>
          <p:cNvPr id="4" name="layer_0" descr="The Transformer — illustration part 1">    </p:cNvPr>
          <p:cNvPicPr>
            <a:picLocks noChangeAspect="1"/>
          </p:cNvPicPr>
          <p:nvPr/>
        </p:nvPicPr>
        <p:blipFill>
          <a:blip r:embed="rId1"/>
          <a:stretch>
            <a:fillRect/>
          </a:stretch>
        </p:blipFill>
        <p:spPr>
          <a:xfrm>
            <a:off x="1463133" y="3161754"/>
            <a:ext cx="1597140" cy="1743088"/>
          </a:xfrm>
          <a:prstGeom prst="rect">
            <a:avLst/>
          </a:prstGeom>
        </p:spPr>
      </p:pic>
      <p:pic>
        <p:nvPicPr>
          <p:cNvPr id="5" name="layer_1" descr="The Transformer — illustration part 2">    </p:cNvPr>
          <p:cNvPicPr>
            <a:picLocks noChangeAspect="1"/>
          </p:cNvPicPr>
          <p:nvPr/>
        </p:nvPicPr>
        <p:blipFill>
          <a:blip r:embed="rId2"/>
          <a:stretch>
            <a:fillRect/>
          </a:stretch>
        </p:blipFill>
        <p:spPr>
          <a:xfrm>
            <a:off x="3297073" y="2149151"/>
            <a:ext cx="4882111" cy="3269549"/>
          </a:xfrm>
          <a:prstGeom prst="rect">
            <a:avLst/>
          </a:prstGeom>
        </p:spPr>
      </p:pic>
      <p:pic>
        <p:nvPicPr>
          <p:cNvPr id="6" name="layer_2" descr="The Transformer — illustration part 3">    </p:cNvPr>
          <p:cNvPicPr>
            <a:picLocks noChangeAspect="1"/>
          </p:cNvPicPr>
          <p:nvPr/>
        </p:nvPicPr>
        <p:blipFill>
          <a:blip r:embed="rId3"/>
          <a:stretch>
            <a:fillRect/>
          </a:stretch>
        </p:blipFill>
        <p:spPr>
          <a:xfrm>
            <a:off x="8718282" y="3060997"/>
            <a:ext cx="1723098" cy="1314873"/>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Same idea as the doubling box — inputs, multiplications, weights, output — just enormous and wired a specific way</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Keep growing that idea in one particular arrangement and you get the transformer — the shape behind every modern language model. Same math as the doubling box, just enormous.</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19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Same Formula, Different Weights</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The transformer is broadly the same across GPT, Claude and Llama</a:t>
            </a:r>
            <a:endParaRPr lang="en-US" sz="1700" dirty="0"/>
          </a:p>
        </p:txBody>
      </p:sp>
      <p:pic>
        <p:nvPicPr>
          <p:cNvPr id="4" name="layer_0" descr="Same Formula, Different Weights — illustration part 1">    </p:cNvPr>
          <p:cNvPicPr>
            <a:picLocks noChangeAspect="1"/>
          </p:cNvPicPr>
          <p:nvPr/>
        </p:nvPicPr>
        <p:blipFill>
          <a:blip r:embed="rId1"/>
          <a:stretch>
            <a:fillRect/>
          </a:stretch>
        </p:blipFill>
        <p:spPr>
          <a:xfrm>
            <a:off x="4455882" y="2829257"/>
            <a:ext cx="3259779" cy="1596991"/>
          </a:xfrm>
          <a:prstGeom prst="rect">
            <a:avLst/>
          </a:prstGeom>
        </p:spPr>
      </p:pic>
      <p:pic>
        <p:nvPicPr>
          <p:cNvPr id="5" name="layer_1" descr="Same Formula, Different Weights — illustration part 2">    </p:cNvPr>
          <p:cNvPicPr>
            <a:picLocks noChangeAspect="1"/>
          </p:cNvPicPr>
          <p:nvPr/>
        </p:nvPicPr>
        <p:blipFill>
          <a:blip r:embed="rId2"/>
          <a:stretch>
            <a:fillRect/>
          </a:stretch>
        </p:blipFill>
        <p:spPr>
          <a:xfrm>
            <a:off x="1463133" y="2078621"/>
            <a:ext cx="3022979" cy="3264512"/>
          </a:xfrm>
          <a:prstGeom prst="rect">
            <a:avLst/>
          </a:prstGeom>
        </p:spPr>
      </p:pic>
      <p:pic>
        <p:nvPicPr>
          <p:cNvPr id="6" name="layer_2" descr="Same Formula, Different Weights — illustration part 3">    </p:cNvPr>
          <p:cNvPicPr>
            <a:picLocks noChangeAspect="1"/>
          </p:cNvPicPr>
          <p:nvPr/>
        </p:nvPicPr>
        <p:blipFill>
          <a:blip r:embed="rId3"/>
          <a:stretch>
            <a:fillRect/>
          </a:stretch>
        </p:blipFill>
        <p:spPr>
          <a:xfrm>
            <a:off x="7705584" y="2164264"/>
            <a:ext cx="2922213" cy="3093225"/>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What makes each model different isn't the formula — it's the weights</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The transformer is written once in code and is broadly the same in GPT, Claude and Llama. Plug in different weights and you get a different model.</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20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All the Knowledge Lives in the Weights</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The formula is only about a page of code</a:t>
            </a:r>
            <a:endParaRPr lang="en-US" sz="1700" dirty="0"/>
          </a:p>
        </p:txBody>
      </p:sp>
      <p:pic>
        <p:nvPicPr>
          <p:cNvPr id="4" name="layer_0" descr="All the Knowledge Lives in the Weights — illustration part 1">    </p:cNvPr>
          <p:cNvPicPr>
            <a:picLocks noChangeAspect="1"/>
          </p:cNvPicPr>
          <p:nvPr/>
        </p:nvPicPr>
        <p:blipFill>
          <a:blip r:embed="rId1"/>
          <a:stretch>
            <a:fillRect/>
          </a:stretch>
        </p:blipFill>
        <p:spPr>
          <a:xfrm>
            <a:off x="2128188" y="3413645"/>
            <a:ext cx="7748902" cy="1843844"/>
          </a:xfrm>
          <a:prstGeom prst="rect">
            <a:avLst/>
          </a:prstGeom>
        </p:spPr>
      </p:pic>
      <p:pic>
        <p:nvPicPr>
          <p:cNvPr id="5" name="layer_1" descr="All the Knowledge Lives in the Weights — illustration part 2">    </p:cNvPr>
          <p:cNvPicPr>
            <a:picLocks noChangeAspect="1"/>
          </p:cNvPicPr>
          <p:nvPr/>
        </p:nvPicPr>
        <p:blipFill>
          <a:blip r:embed="rId2"/>
          <a:stretch>
            <a:fillRect/>
          </a:stretch>
        </p:blipFill>
        <p:spPr>
          <a:xfrm>
            <a:off x="2183609" y="1937562"/>
            <a:ext cx="1808749" cy="1617142"/>
          </a:xfrm>
          <a:prstGeom prst="rect">
            <a:avLst/>
          </a:prstGeom>
        </p:spPr>
      </p:pic>
      <p:pic>
        <p:nvPicPr>
          <p:cNvPr id="6" name="layer_2" descr="All the Knowledge Lives in the Weights — illustration part 3">    </p:cNvPr>
          <p:cNvPicPr>
            <a:picLocks noChangeAspect="1"/>
          </p:cNvPicPr>
          <p:nvPr/>
        </p:nvPicPr>
        <p:blipFill>
          <a:blip r:embed="rId3"/>
          <a:stretch>
            <a:fillRect/>
          </a:stretch>
        </p:blipFill>
        <p:spPr>
          <a:xfrm>
            <a:off x="2002230" y="2083659"/>
            <a:ext cx="7708596" cy="3249398"/>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A real model doesn't have 4 weights or 400 — it has billions</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The formula itself is about a page of code. Everything the model 'knows' lives in its weights — and a real model has billions of them.</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21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A Model Is Literally a File on Disk</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Billions of numbers produced by training, waiting to be poured into the formula</a:t>
            </a:r>
            <a:endParaRPr lang="en-US" sz="1700" dirty="0"/>
          </a:p>
        </p:txBody>
      </p:sp>
      <p:pic>
        <p:nvPicPr>
          <p:cNvPr id="4" name="layer_0" descr="A Model Is Literally a File on Disk — illustration part 1">    </p:cNvPr>
          <p:cNvPicPr>
            <a:picLocks noChangeAspect="1"/>
          </p:cNvPicPr>
          <p:nvPr/>
        </p:nvPicPr>
        <p:blipFill>
          <a:blip r:embed="rId1"/>
          <a:stretch>
            <a:fillRect/>
          </a:stretch>
        </p:blipFill>
        <p:spPr>
          <a:xfrm>
            <a:off x="1463133" y="2663009"/>
            <a:ext cx="1768443" cy="2261984"/>
          </a:xfrm>
          <a:prstGeom prst="rect">
            <a:avLst/>
          </a:prstGeom>
        </p:spPr>
      </p:pic>
      <p:pic>
        <p:nvPicPr>
          <p:cNvPr id="5" name="layer_1" descr="A Model Is Literally a File on Disk — illustration part 2">    </p:cNvPr>
          <p:cNvPicPr>
            <a:picLocks noChangeAspect="1"/>
          </p:cNvPicPr>
          <p:nvPr/>
        </p:nvPicPr>
        <p:blipFill>
          <a:blip r:embed="rId2"/>
          <a:stretch>
            <a:fillRect/>
          </a:stretch>
        </p:blipFill>
        <p:spPr>
          <a:xfrm>
            <a:off x="3297073" y="2496761"/>
            <a:ext cx="2922213" cy="3032772"/>
          </a:xfrm>
          <a:prstGeom prst="rect">
            <a:avLst/>
          </a:prstGeom>
        </p:spPr>
      </p:pic>
      <p:pic>
        <p:nvPicPr>
          <p:cNvPr id="6" name="layer_2" descr="A Model Is Literally a File on Disk — illustration part 3">    </p:cNvPr>
          <p:cNvPicPr>
            <a:picLocks noChangeAspect="1"/>
          </p:cNvPicPr>
          <p:nvPr/>
        </p:nvPicPr>
        <p:blipFill>
          <a:blip r:embed="rId3"/>
          <a:stretch>
            <a:fillRect/>
          </a:stretch>
        </p:blipFill>
        <p:spPr>
          <a:xfrm>
            <a:off x="6289822" y="2164264"/>
            <a:ext cx="4584851" cy="3259474"/>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Open one up and that's genuinely all you'd see: numbers</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Those billions of weights are saved as an ordinary file on disk. Open it and you'd see nothing but numbers waiting to be poured into the formula.</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22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From Parameters to Gigabytes</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Why a 70-billion-parameter model is a 140 GB file</a:t>
            </a:r>
            <a:endParaRPr lang="en-US" sz="1700" dirty="0"/>
          </a:p>
        </p:txBody>
      </p:sp>
      <p:pic>
        <p:nvPicPr>
          <p:cNvPr id="4" name="layer_0" descr="From Parameters to Gigabytes — illustration part 1">    </p:cNvPr>
          <p:cNvPicPr>
            <a:picLocks noChangeAspect="1"/>
          </p:cNvPicPr>
          <p:nvPr/>
        </p:nvPicPr>
        <p:blipFill>
          <a:blip r:embed="rId1"/>
          <a:stretch>
            <a:fillRect/>
          </a:stretch>
        </p:blipFill>
        <p:spPr>
          <a:xfrm>
            <a:off x="2344835" y="1831767"/>
            <a:ext cx="7270264" cy="267005"/>
          </a:xfrm>
          <a:prstGeom prst="rect">
            <a:avLst/>
          </a:prstGeom>
        </p:spPr>
      </p:pic>
      <p:pic>
        <p:nvPicPr>
          <p:cNvPr id="5" name="layer_1" descr="From Parameters to Gigabytes — illustration part 2">    </p:cNvPr>
          <p:cNvPicPr>
            <a:picLocks noChangeAspect="1"/>
          </p:cNvPicPr>
          <p:nvPr/>
        </p:nvPicPr>
        <p:blipFill>
          <a:blip r:embed="rId2"/>
          <a:stretch>
            <a:fillRect/>
          </a:stretch>
        </p:blipFill>
        <p:spPr>
          <a:xfrm>
            <a:off x="1629396" y="2411118"/>
            <a:ext cx="9189855" cy="604539"/>
          </a:xfrm>
          <a:prstGeom prst="rect">
            <a:avLst/>
          </a:prstGeom>
        </p:spPr>
      </p:pic>
      <p:pic>
        <p:nvPicPr>
          <p:cNvPr id="6" name="layer_2" descr="From Parameters to Gigabytes — illustration part 3">    </p:cNvPr>
          <p:cNvPicPr>
            <a:picLocks noChangeAspect="1"/>
          </p:cNvPicPr>
          <p:nvPr/>
        </p:nvPicPr>
        <p:blipFill>
          <a:blip r:embed="rId3"/>
          <a:stretch>
            <a:fillRect/>
          </a:stretch>
        </p:blipFill>
        <p:spPr>
          <a:xfrm>
            <a:off x="1629396" y="3121451"/>
            <a:ext cx="9320851" cy="599501"/>
          </a:xfrm>
          <a:prstGeom prst="rect">
            <a:avLst/>
          </a:prstGeom>
        </p:spPr>
      </p:pic>
      <p:pic>
        <p:nvPicPr>
          <p:cNvPr id="7" name="layer_3" descr="From Parameters to Gigabytes — illustration part 4">    </p:cNvPr>
          <p:cNvPicPr>
            <a:picLocks noChangeAspect="1"/>
          </p:cNvPicPr>
          <p:nvPr/>
        </p:nvPicPr>
        <p:blipFill>
          <a:blip r:embed="rId4"/>
          <a:stretch>
            <a:fillRect/>
          </a:stretch>
        </p:blipFill>
        <p:spPr>
          <a:xfrm>
            <a:off x="1629396" y="3826747"/>
            <a:ext cx="9164664" cy="599501"/>
          </a:xfrm>
          <a:prstGeom prst="rect">
            <a:avLst/>
          </a:prstGeom>
        </p:spPr>
      </p:pic>
      <p:pic>
        <p:nvPicPr>
          <p:cNvPr id="8" name="layer_4" descr="From Parameters to Gigabytes — illustration part 5">    </p:cNvPr>
          <p:cNvPicPr>
            <a:picLocks noChangeAspect="1"/>
          </p:cNvPicPr>
          <p:nvPr/>
        </p:nvPicPr>
        <p:blipFill>
          <a:blip r:embed="rId5"/>
          <a:stretch>
            <a:fillRect/>
          </a:stretch>
        </p:blipFill>
        <p:spPr>
          <a:xfrm>
            <a:off x="1629396" y="4532042"/>
            <a:ext cx="9189855" cy="599501"/>
          </a:xfrm>
          <a:prstGeom prst="rect">
            <a:avLst/>
          </a:prstGeom>
        </p:spPr>
      </p:pic>
      <p:pic>
        <p:nvPicPr>
          <p:cNvPr id="9" name="layer_5" descr="From Parameters to Gigabytes — illustration part 6">    </p:cNvPr>
          <p:cNvPicPr>
            <a:picLocks noChangeAspect="1"/>
          </p:cNvPicPr>
          <p:nvPr/>
        </p:nvPicPr>
        <p:blipFill>
          <a:blip r:embed="rId6"/>
          <a:stretch>
            <a:fillRect/>
          </a:stretch>
        </p:blipFill>
        <p:spPr>
          <a:xfrm>
            <a:off x="3715252" y="5388473"/>
            <a:ext cx="4736000" cy="196475"/>
          </a:xfrm>
          <a:prstGeom prst="rect">
            <a:avLst/>
          </a:prstGeom>
        </p:spPr>
      </p:pic>
      <p:sp>
        <p:nvSpPr>
          <p:cNvPr id="10"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11"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Each weight is usually stored in 16 bits = 2 bytes, so file size ≈ parameters × 2</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'Parameters' is just another word for weights. At 2 bytes each: 1B → ~2 GB, 8B → ~16 GB, 70B → ~140 GB, 500B → ~1,000 GB. This simple rule tells you instantly whether a model can fit in a GPU's memory.</a:t>
            </a:r>
            <a:endParaRPr lang="en-US" sz="1200" dirty="0"/>
          </a:p>
        </p:txBody>
      </p:sp>
      <p:sp>
        <p:nvSpPr>
          <p:cNvPr id="12"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7"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23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22" presetClass="entr" presetSubtype="8"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wipe(left)">
                                      <p:cBhvr>
                                        <p:cTn id="6" dur="700"/>
                                        <p:tgtEl>
                                          <p:spTgt spid="5"/>
                                        </p:tgtEl>
                                      </p:cBhvr>
                                    </p:animEffect>
                                  </p:childTnLst>
                                </p:cTn>
                              </p:par>
                            </p:childTnLst>
                          </p:cTn>
                        </p:par>
                        <p:par>
                          <p:cTn id="8" fill="hold">
                            <p:stCondLst>
                              <p:cond delay="700"/>
                            </p:stCondLst>
                            <p:childTnLst>
                              <p:par>
                                <p:cTn id="11" presetID="22" presetClass="entr" presetSubtype="8" fill="hold" grpId="0" nodeType="after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700"/>
                                        <p:tgtEl>
                                          <p:spTgt spid="6"/>
                                        </p:tgtEl>
                                      </p:cBhvr>
                                    </p:animEffect>
                                  </p:childTnLst>
                                </p:cTn>
                              </p:par>
                            </p:childTnLst>
                          </p:cTn>
                        </p:par>
                        <p:par>
                          <p:cTn id="12" fill="hold">
                            <p:stCondLst>
                              <p:cond delay="1400"/>
                            </p:stCondLst>
                            <p:childTnLst>
                              <p:par>
                                <p:cTn id="15" presetID="22" presetClass="entr" presetSubtype="8" fill="hold" grpId="0" nodeType="after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wipe(left)">
                                      <p:cBhvr>
                                        <p:cTn id="14" dur="700"/>
                                        <p:tgtEl>
                                          <p:spTgt spid="7"/>
                                        </p:tgtEl>
                                      </p:cBhvr>
                                    </p:animEffect>
                                  </p:childTnLst>
                                </p:cTn>
                              </p:par>
                            </p:childTnLst>
                          </p:cTn>
                        </p:par>
                        <p:par>
                          <p:cTn id="16" fill="hold">
                            <p:stCondLst>
                              <p:cond delay="2100"/>
                            </p:stCondLst>
                            <p:childTnLst>
                              <p:par>
                                <p:cTn id="19" presetID="22" presetClass="entr" presetSubtype="8" fill="hold" grpId="0" nodeType="after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wipe(left)">
                                      <p:cBhvr>
                                        <p:cTn id="18" dur="700"/>
                                        <p:tgtEl>
                                          <p:spTgt spid="8"/>
                                        </p:tgtEl>
                                      </p:cBhvr>
                                    </p:animEffect>
                                  </p:childTnLst>
                                </p:cTn>
                              </p:par>
                            </p:childTnLst>
                          </p:cTn>
                        </p:par>
                      </p:childTnLst>
                    </p:cTn>
                  </p:par>
                  <p:par>
                    <p:cTn id="20" fill="hold">
                      <p:stCondLst>
                        <p:cond delay="indefinite"/>
                      </p:stCondLst>
                      <p:childTnLst>
                        <p:par>
                          <p:cTn id="21" fill="hold">
                            <p:stCondLst>
                              <p:cond delay="0"/>
                            </p:stCondLst>
                            <p:childTnLst>
                              <p:par>
                                <p:cTn id="26" presetID="53" presetClass="entr" presetSubtype="16"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p:cTn id="23" dur="600" fill="hold"/>
                                        <p:tgtEl>
                                          <p:spTgt spid="9"/>
                                        </p:tgtEl>
                                        <p:attrNameLst>
                                          <p:attrName>ppt_w</p:attrName>
                                        </p:attrNameLst>
                                      </p:cBhvr>
                                      <p:tavLst>
                                        <p:tav tm="0">
                                          <p:val>
                                            <p:fltVal val="0"/>
                                          </p:val>
                                        </p:tav>
                                        <p:tav tm="100000">
                                          <p:val>
                                            <p:strVal val="#ppt_w"/>
                                          </p:val>
                                        </p:tav>
                                      </p:tavLst>
                                    </p:anim>
                                    <p:anim calcmode="lin" valueType="num">
                                      <p:cBhvr>
                                        <p:cTn id="24" dur="600" fill="hold"/>
                                        <p:tgtEl>
                                          <p:spTgt spid="9"/>
                                        </p:tgtEl>
                                        <p:attrNameLst>
                                          <p:attrName>ppt_h</p:attrName>
                                        </p:attrNameLst>
                                      </p:cBhvr>
                                      <p:tavLst>
                                        <p:tav tm="0">
                                          <p:val>
                                            <p:fltVal val="0"/>
                                          </p:val>
                                        </p:tav>
                                        <p:tav tm="100000">
                                          <p:val>
                                            <p:strVal val="#ppt_h"/>
                                          </p:val>
                                        </p:tav>
                                      </p:tavLst>
                                    </p:anim>
                                    <p:animEffect transition="in" filter="fade">
                                      <p:cBhvr>
                                        <p:cTn id="25" dur="6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Running a Model, at Its Simplest</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Load the file → feed it text → get text back</a:t>
            </a:r>
            <a:endParaRPr lang="en-US" sz="1700" dirty="0"/>
          </a:p>
        </p:txBody>
      </p:sp>
      <p:pic>
        <p:nvPicPr>
          <p:cNvPr id="4" name="layer_0" descr="Running a Model, at Its Simplest — illustration part 1">    </p:cNvPr>
          <p:cNvPicPr>
            <a:picLocks noChangeAspect="1"/>
          </p:cNvPicPr>
          <p:nvPr/>
        </p:nvPicPr>
        <p:blipFill>
          <a:blip r:embed="rId1"/>
          <a:stretch>
            <a:fillRect/>
          </a:stretch>
        </p:blipFill>
        <p:spPr>
          <a:xfrm>
            <a:off x="1296869" y="2663009"/>
            <a:ext cx="5088681" cy="2261984"/>
          </a:xfrm>
          <a:prstGeom prst="rect">
            <a:avLst/>
          </a:prstGeom>
        </p:spPr>
      </p:pic>
      <p:pic>
        <p:nvPicPr>
          <p:cNvPr id="5" name="layer_1" descr="Running a Model, at Its Simplest — illustration part 2">    </p:cNvPr>
          <p:cNvPicPr>
            <a:picLocks noChangeAspect="1"/>
          </p:cNvPicPr>
          <p:nvPr/>
        </p:nvPicPr>
        <p:blipFill>
          <a:blip r:embed="rId2"/>
          <a:stretch>
            <a:fillRect/>
          </a:stretch>
        </p:blipFill>
        <p:spPr>
          <a:xfrm>
            <a:off x="2909124" y="1872070"/>
            <a:ext cx="3476426" cy="816128"/>
          </a:xfrm>
          <a:prstGeom prst="rect">
            <a:avLst/>
          </a:prstGeom>
        </p:spPr>
      </p:pic>
      <p:pic>
        <p:nvPicPr>
          <p:cNvPr id="6" name="layer_2" descr="Running a Model, at Its Simplest — illustration part 3">    </p:cNvPr>
          <p:cNvPicPr>
            <a:picLocks noChangeAspect="1"/>
          </p:cNvPicPr>
          <p:nvPr/>
        </p:nvPicPr>
        <p:blipFill>
          <a:blip r:embed="rId3"/>
          <a:stretch>
            <a:fillRect/>
          </a:stretch>
        </p:blipFill>
        <p:spPr>
          <a:xfrm>
            <a:off x="6370435" y="3408607"/>
            <a:ext cx="4337975" cy="921922"/>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Load from disk into memory, hand it your question, let the formula run all those numbers</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To run a model: load the file into memory, feed in your question as text, let the formula run all those numbers over it, and read the text that comes back.</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24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Quick Check: What Is a Model?</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Think about each question first — then click to reveal the answer</a:t>
            </a:r>
            <a:endParaRPr lang="en-US" sz="1700" dirty="0"/>
          </a:p>
        </p:txBody>
      </p:sp>
      <p:pic>
        <p:nvPicPr>
          <p:cNvPr id="4" name="layer_0" descr="Quick Check: What Is a Model? — illustration part 1">    </p:cNvPr>
          <p:cNvPicPr>
            <a:picLocks noChangeAspect="1"/>
          </p:cNvPicPr>
          <p:nvPr/>
        </p:nvPicPr>
        <p:blipFill>
          <a:blip r:embed="rId1"/>
          <a:stretch>
            <a:fillRect/>
          </a:stretch>
        </p:blipFill>
        <p:spPr>
          <a:xfrm>
            <a:off x="1221294" y="1998016"/>
            <a:ext cx="4917379" cy="3259474"/>
          </a:xfrm>
          <a:prstGeom prst="rect">
            <a:avLst/>
          </a:prstGeom>
        </p:spPr>
      </p:pic>
      <p:pic>
        <p:nvPicPr>
          <p:cNvPr id="5" name="layer_1" descr="Quick Check: What Is a Model? — illustration part 2">    </p:cNvPr>
          <p:cNvPicPr>
            <a:picLocks noChangeAspect="1"/>
          </p:cNvPicPr>
          <p:nvPr/>
        </p:nvPicPr>
        <p:blipFill>
          <a:blip r:embed="rId2"/>
          <a:stretch>
            <a:fillRect/>
          </a:stretch>
        </p:blipFill>
        <p:spPr>
          <a:xfrm>
            <a:off x="6123558" y="1998016"/>
            <a:ext cx="4836766" cy="1430743"/>
          </a:xfrm>
          <a:prstGeom prst="rect">
            <a:avLst/>
          </a:prstGeom>
        </p:spPr>
      </p:pic>
      <p:pic>
        <p:nvPicPr>
          <p:cNvPr id="6" name="layer_2" descr="Quick Check: What Is a Model? — illustration part 3">    </p:cNvPr>
          <p:cNvPicPr>
            <a:picLocks noChangeAspect="1"/>
          </p:cNvPicPr>
          <p:nvPr/>
        </p:nvPicPr>
        <p:blipFill>
          <a:blip r:embed="rId3"/>
          <a:stretch>
            <a:fillRect/>
          </a:stretch>
        </p:blipFill>
        <p:spPr>
          <a:xfrm>
            <a:off x="6123558" y="3826747"/>
            <a:ext cx="4836766" cy="1430743"/>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Click once per answer</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Pause and answer out loud before clicking. If an answer surprises you, jump back to that part of the section using the agenda.</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25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500" fill="hold"/>
                                        <p:tgtEl>
                                          <p:spTgt spid="5"/>
                                        </p:tgtEl>
                                        <p:attrNameLst>
                                          <p:attrName>ppt_w</p:attrName>
                                        </p:attrNameLst>
                                      </p:cBhvr>
                                      <p:tavLst>
                                        <p:tav tm="0">
                                          <p:val>
                                            <p:fltVal val="0"/>
                                          </p:val>
                                        </p:tav>
                                        <p:tav tm="100000">
                                          <p:val>
                                            <p:strVal val="#ppt_w"/>
                                          </p:val>
                                        </p:tav>
                                      </p:tavLst>
                                    </p:anim>
                                    <p:anim calcmode="lin" valueType="num">
                                      <p:cBhvr>
                                        <p:cTn id="7" dur="500" fill="hold"/>
                                        <p:tgtEl>
                                          <p:spTgt spid="5"/>
                                        </p:tgtEl>
                                        <p:attrNameLst>
                                          <p:attrName>ppt_h</p:attrName>
                                        </p:attrNameLst>
                                      </p:cBhvr>
                                      <p:tavLst>
                                        <p:tav tm="0">
                                          <p:val>
                                            <p:fltVal val="0"/>
                                          </p:val>
                                        </p:tav>
                                        <p:tav tm="100000">
                                          <p:val>
                                            <p:strVal val="#ppt_h"/>
                                          </p:val>
                                        </p:tav>
                                      </p:tavLst>
                                    </p:anim>
                                    <p:animEffect transition="in" filter="fade">
                                      <p:cBhvr>
                                        <p:cTn id="8"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6" presetID="53" presetClass="entr" presetSubtype="16"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p:cTn id="13" dur="500" fill="hold"/>
                                        <p:tgtEl>
                                          <p:spTgt spid="6"/>
                                        </p:tgtEl>
                                        <p:attrNameLst>
                                          <p:attrName>ppt_w</p:attrName>
                                        </p:attrNameLst>
                                      </p:cBhvr>
                                      <p:tavLst>
                                        <p:tav tm="0">
                                          <p:val>
                                            <p:fltVal val="0"/>
                                          </p:val>
                                        </p:tav>
                                        <p:tav tm="100000">
                                          <p:val>
                                            <p:strVal val="#ppt_w"/>
                                          </p:val>
                                        </p:tav>
                                      </p:tavLst>
                                    </p:anim>
                                    <p:anim calcmode="lin" valueType="num">
                                      <p:cBhvr>
                                        <p:cTn id="14" dur="500" fill="hold"/>
                                        <p:tgtEl>
                                          <p:spTgt spid="6"/>
                                        </p:tgtEl>
                                        <p:attrNameLst>
                                          <p:attrName>ppt_h</p:attrName>
                                        </p:attrNameLst>
                                      </p:cBhvr>
                                      <p:tavLst>
                                        <p:tav tm="0">
                                          <p:val>
                                            <p:fltVal val="0"/>
                                          </p:val>
                                        </p:tav>
                                        <p:tav tm="100000">
                                          <p:val>
                                            <p:strVal val="#ppt_h"/>
                                          </p:val>
                                        </p:tav>
                                      </p:tavLst>
                                    </p:anim>
                                    <p:animEffect transition="in" filter="fade">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Story So Far: What a model is ✓</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Solved: formula + billions of weights  →  next problem: A model is a file. Can a laptop run it?</a:t>
            </a:r>
            <a:endParaRPr lang="en-US" sz="1700" dirty="0"/>
          </a:p>
        </p:txBody>
      </p:sp>
      <p:pic>
        <p:nvPicPr>
          <p:cNvPr id="4" name="layer_0" descr="Story So Far: What a model is ✓ — illustration part 1">    </p:cNvPr>
          <p:cNvPicPr>
            <a:picLocks noChangeAspect="1"/>
          </p:cNvPicPr>
          <p:nvPr/>
        </p:nvPicPr>
        <p:blipFill>
          <a:blip r:embed="rId1"/>
          <a:stretch>
            <a:fillRect/>
          </a:stretch>
        </p:blipFill>
        <p:spPr>
          <a:xfrm>
            <a:off x="1442979" y="2229756"/>
            <a:ext cx="8932902" cy="2599518"/>
          </a:xfrm>
          <a:prstGeom prst="rect">
            <a:avLst/>
          </a:prstGeom>
        </p:spPr>
      </p:pic>
      <p:pic>
        <p:nvPicPr>
          <p:cNvPr id="5" name="layer_1" descr="Story So Far: What a model is ✓ — illustration part 2">    </p:cNvPr>
          <p:cNvPicPr>
            <a:picLocks noChangeAspect="1"/>
          </p:cNvPicPr>
          <p:nvPr/>
        </p:nvPicPr>
        <p:blipFill>
          <a:blip r:embed="rId2"/>
          <a:stretch>
            <a:fillRect/>
          </a:stretch>
        </p:blipFill>
        <p:spPr>
          <a:xfrm>
            <a:off x="1024801" y="1872070"/>
            <a:ext cx="1481260" cy="1566764"/>
          </a:xfrm>
          <a:prstGeom prst="rect">
            <a:avLst/>
          </a:prstGeom>
        </p:spPr>
      </p:pic>
      <p:pic>
        <p:nvPicPr>
          <p:cNvPr id="6" name="layer_2" descr="Story So Far: What a model is ✓ — illustration part 3">    </p:cNvPr>
          <p:cNvPicPr>
            <a:picLocks noChangeAspect="1"/>
          </p:cNvPicPr>
          <p:nvPr/>
        </p:nvPicPr>
        <p:blipFill>
          <a:blip r:embed="rId3"/>
          <a:stretch>
            <a:fillRect/>
          </a:stretch>
        </p:blipFill>
        <p:spPr>
          <a:xfrm>
            <a:off x="3221499" y="2154188"/>
            <a:ext cx="906894" cy="1012603"/>
          </a:xfrm>
          <a:prstGeom prst="rect">
            <a:avLst/>
          </a:prstGeom>
        </p:spPr>
      </p:pic>
      <p:pic>
        <p:nvPicPr>
          <p:cNvPr id="7" name="layer_3" descr="Story So Far: What a model is ✓ — illustration part 4">    </p:cNvPr>
          <p:cNvPicPr>
            <a:picLocks noChangeAspect="1"/>
          </p:cNvPicPr>
          <p:nvPr/>
        </p:nvPicPr>
        <p:blipFill>
          <a:blip r:embed="rId4"/>
          <a:stretch>
            <a:fillRect/>
          </a:stretch>
        </p:blipFill>
        <p:spPr>
          <a:xfrm>
            <a:off x="2294452" y="5121468"/>
            <a:ext cx="7582638" cy="584388"/>
          </a:xfrm>
          <a:prstGeom prst="rect">
            <a:avLst/>
          </a:prstGeom>
        </p:spPr>
      </p:pic>
      <p:sp>
        <p:nvSpPr>
          <p:cNvPr id="8"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9"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Up next — Chapter 2 · Why Not Just Use Your Laptop?</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We now know a model is a formula plus billions of learned weights, stored in a file. Running it means billions of multiplications per answer — so next we ask what hardware can actually do that.</a:t>
            </a:r>
            <a:endParaRPr lang="en-US" sz="1200" dirty="0"/>
          </a:p>
        </p:txBody>
      </p:sp>
      <p:sp>
        <p:nvSpPr>
          <p:cNvPr id="10"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5"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26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ppt_w</p:attrName>
                                        </p:attrNameLst>
                                      </p:cBhvr>
                                      <p:tavLst>
                                        <p:tav tm="0">
                                          <p:val>
                                            <p:fltVal val="0"/>
                                          </p:val>
                                        </p:tav>
                                        <p:tav tm="100000">
                                          <p:val>
                                            <p:strVal val="#ppt_w"/>
                                          </p:val>
                                        </p:tav>
                                      </p:tavLst>
                                    </p:anim>
                                    <p:anim calcmode="lin" valueType="num">
                                      <p:cBhvr>
                                        <p:cTn id="7" dur="600" fill="hold"/>
                                        <p:tgtEl>
                                          <p:spTgt spid="5"/>
                                        </p:tgtEl>
                                        <p:attrNameLst>
                                          <p:attrName>ppt_h</p:attrName>
                                        </p:attrNameLst>
                                      </p:cBhvr>
                                      <p:tavLst>
                                        <p:tav tm="0">
                                          <p:val>
                                            <p:fltVal val="0"/>
                                          </p:val>
                                        </p:tav>
                                        <p:tav tm="100000">
                                          <p:val>
                                            <p:strVal val="#ppt_h"/>
                                          </p:val>
                                        </p:tav>
                                      </p:tavLst>
                                    </p:anim>
                                    <p:animEffect transition="in" filter="fade">
                                      <p:cBhvr>
                                        <p:cTn id="8" dur="600"/>
                                        <p:tgtEl>
                                          <p:spTgt spid="5"/>
                                        </p:tgtEl>
                                      </p:cBhvr>
                                    </p:animEffect>
                                  </p:childTnLst>
                                </p:cTn>
                              </p:par>
                            </p:childTnLst>
                          </p:cTn>
                        </p:par>
                        <p:par>
                          <p:cTn id="10" fill="hold">
                            <p:stCondLst>
                              <p:cond delay="600"/>
                            </p:stCondLst>
                            <p:childTnLst>
                              <p:par>
                                <p:cTn id="15" presetID="53" presetClass="entr" presetSubtype="16" fill="hold" grpId="0" nodeType="after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ppt_w</p:attrName>
                                        </p:attrNameLst>
                                      </p:cBhvr>
                                      <p:tavLst>
                                        <p:tav tm="0">
                                          <p:val>
                                            <p:fltVal val="0"/>
                                          </p:val>
                                        </p:tav>
                                        <p:tav tm="100000">
                                          <p:val>
                                            <p:strVal val="#ppt_w"/>
                                          </p:val>
                                        </p:tav>
                                      </p:tavLst>
                                    </p:anim>
                                    <p:anim calcmode="lin" valueType="num">
                                      <p:cBhvr>
                                        <p:cTn id="13" dur="600" fill="hold"/>
                                        <p:tgtEl>
                                          <p:spTgt spid="6"/>
                                        </p:tgtEl>
                                        <p:attrNameLst>
                                          <p:attrName>ppt_h</p:attrName>
                                        </p:attrNameLst>
                                      </p:cBhvr>
                                      <p:tavLst>
                                        <p:tav tm="0">
                                          <p:val>
                                            <p:fltVal val="0"/>
                                          </p:val>
                                        </p:tav>
                                        <p:tav tm="100000">
                                          <p:val>
                                            <p:strVal val="#ppt_h"/>
                                          </p:val>
                                        </p:tav>
                                      </p:tavLst>
                                    </p:anim>
                                    <p:animEffect transition="in" filter="fade">
                                      <p:cBhvr>
                                        <p:cTn id="14" dur="600"/>
                                        <p:tgtEl>
                                          <p:spTgt spid="6"/>
                                        </p:tgtEl>
                                      </p:cBhvr>
                                    </p:animEffect>
                                  </p:childTnLst>
                                </p:cTn>
                              </p:par>
                            </p:childTnLst>
                          </p:cTn>
                        </p:par>
                        <p:par>
                          <p:cTn id="16" fill="hold">
                            <p:stCondLst>
                              <p:cond delay="1200"/>
                            </p:stCondLst>
                            <p:childTnLst>
                              <p:par>
                                <p:cTn id="20" presetID="2" presetClass="entr" presetSubtype="4" fill="hold" grpId="0" nodeType="after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additive="base">
                                        <p:cTn id="18" dur="600" fill="hold"/>
                                        <p:tgtEl>
                                          <p:spTgt spid="7"/>
                                        </p:tgtEl>
                                        <p:attrNameLst>
                                          <p:attrName>ppt_y</p:attrName>
                                        </p:attrNameLst>
                                      </p:cBhvr>
                                      <p:tavLst>
                                        <p:tav tm="0">
                                          <p:val>
                                            <p:strVal val="#ppt_y+0.08"/>
                                          </p:val>
                                        </p:tav>
                                        <p:tav tm="100000">
                                          <p:val>
                                            <p:strVal val="#ppt_y"/>
                                          </p:val>
                                        </p:tav>
                                      </p:tavLst>
                                    </p:anim>
                                    <p:animEffect transition="in" filter="fade">
                                      <p:cBhvr>
                                        <p:cTn id="19" dur="6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731520" y="2834640"/>
            <a:ext cx="5669280" cy="1371600"/>
          </a:xfrm>
          <a:prstGeom prst="rect">
            <a:avLst/>
          </a:prstGeom>
          <a:noFill/>
          <a:ln/>
        </p:spPr>
        <p:txBody>
          <a:bodyPr wrap="square" lIns="0" tIns="0" rIns="0" bIns="0" rtlCol="0" anchor="t"/>
          <a:lstStyle/>
          <a:p>
            <a:pPr algn="l" indent="0" marL="0">
              <a:buNone/>
            </a:pPr>
            <a:r>
              <a:rPr lang="en-US" sz="4000" b="1" dirty="0">
                <a:solidFill>
                  <a:srgbClr val="FFFFFF"/>
                </a:solidFill>
                <a:latin typeface="Calibri" pitchFamily="34" charset="0"/>
                <a:ea typeface="Calibri" pitchFamily="34" charset="-122"/>
                <a:cs typeface="Calibri" pitchFamily="34" charset="-120"/>
              </a:rPr>
              <a:t>Why Not Just Use Your Laptop?</a:t>
            </a:r>
            <a:endParaRPr lang="en-US" sz="4000" dirty="0"/>
          </a:p>
        </p:txBody>
      </p:sp>
      <p:sp>
        <p:nvSpPr>
          <p:cNvPr id="3" name="Text 0"/>
          <p:cNvSpPr/>
          <p:nvPr>
            <p:ph idx="101" type="body" hasCustomPrompt="1"/>
          </p:nvPr>
        </p:nvSpPr>
        <p:spPr>
          <a:xfrm>
            <a:off x="731520" y="4251960"/>
            <a:ext cx="5120640" cy="822960"/>
          </a:xfrm>
          <a:prstGeom prst="rect">
            <a:avLst/>
          </a:prstGeom>
          <a:noFill/>
          <a:ln/>
        </p:spPr>
        <p:txBody>
          <a:bodyPr wrap="square" lIns="0" tIns="0" rIns="0" bIns="0" rtlCol="0" anchor="t"/>
          <a:lstStyle/>
          <a:p>
            <a:pPr algn="l" indent="0" marL="0">
              <a:buNone/>
            </a:pPr>
            <a:r>
              <a:rPr lang="en-US" sz="2000" dirty="0">
                <a:solidFill>
                  <a:srgbClr val="22D3EE"/>
                </a:solidFill>
                <a:latin typeface="Calibri" pitchFamily="34" charset="0"/>
                <a:ea typeface="Calibri" pitchFamily="34" charset="-122"/>
                <a:cs typeface="Calibri" pitchFamily="34" charset="-120"/>
              </a:rPr>
              <a:t>A model is billions of multiplications — what hardware can run that?</a:t>
            </a:r>
            <a:endParaRPr lang="en-US" sz="2000" dirty="0"/>
          </a:p>
        </p:txBody>
      </p:sp>
      <p:sp>
        <p:nvSpPr>
          <p:cNvPr id="4" name="Text 2"/>
          <p:cNvSpPr txBox="1"/>
          <p:nvPr/>
        </p:nvSpPr>
        <p:spPr>
          <a:xfrm>
            <a:off x="731520" y="1371600"/>
            <a:ext cx="2743200" cy="1371600"/>
          </a:xfrm>
          <a:prstGeom prst="rect">
            <a:avLst/>
          </a:prstGeom>
          <a:noFill/>
          <a:ln/>
        </p:spPr>
        <p:txBody>
          <a:bodyPr wrap="square" lIns="0" tIns="0" rIns="0" bIns="0" rtlCol="0" anchor="ctr"/>
          <a:lstStyle/>
          <a:p>
            <a:pPr indent="0" marL="0">
              <a:buNone/>
            </a:pPr>
            <a:r>
              <a:rPr lang="en-US" sz="9600" b="1" dirty="0">
                <a:solidFill>
                  <a:srgbClr val="22D3EE">
                    <a:alpha val="80000"/>
                  </a:srgbClr>
                </a:solidFill>
                <a:latin typeface="Calibri" pitchFamily="34" charset="0"/>
                <a:ea typeface="Calibri" pitchFamily="34" charset="-122"/>
                <a:cs typeface="Calibri" pitchFamily="34" charset="-120"/>
              </a:rPr>
              <a:t>02</a:t>
            </a:r>
            <a:endParaRPr lang="en-US" sz="9600" dirty="0"/>
          </a:p>
        </p:txBody>
      </p:sp>
      <p:pic>
        <p:nvPicPr>
          <p:cNvPr id="5" name="layer_0" descr="Why Not Just Use Your Laptop? — illustration part 1">    </p:cNvPr>
          <p:cNvPicPr>
            <a:picLocks noChangeAspect="1"/>
          </p:cNvPicPr>
          <p:nvPr/>
        </p:nvPicPr>
        <p:blipFill>
          <a:blip r:embed="rId1"/>
          <a:stretch>
            <a:fillRect/>
          </a:stretch>
        </p:blipFill>
        <p:spPr>
          <a:xfrm>
            <a:off x="6759592" y="2053570"/>
            <a:ext cx="3953177" cy="2500303"/>
          </a:xfrm>
          <a:prstGeom prst="rect">
            <a:avLst/>
          </a:prstGeom>
        </p:spPr>
      </p:pic>
      <p:sp>
        <p:nvSpPr>
          <p:cNvPr id="6" name="nav_agenda"/>
          <p:cNvSpPr txBox="1"/>
          <p:nvPr/>
        </p:nvSpPr>
        <p:spPr>
          <a:xfrm>
            <a:off x="731520" y="5669280"/>
            <a:ext cx="1371600" cy="384048"/>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1300" u="sng" dirty="0">
                <a:solidFill>
                  <a:srgbClr val="22D3EE"/>
                </a:solidFill>
                <a:latin typeface="Calibri" pitchFamily="34" charset="0"/>
                <a:ea typeface="Calibri" pitchFamily="34" charset="-122"/>
                <a:cs typeface="Calibri" pitchFamily="34" charset="-120"/>
                <a:hlinkClick r:id="rId2" action="ppaction://hlinksldjump" tooltip="Back to agenda">
                  <a:extLst>
                    <a:ext uri="{A12FA001-AC4F-418D-AE19-62706E023703}">
                      <ahyp:hlinkClr xmlns:ahyp="http://schemas.microsoft.com/office/drawing/2018/hyperlinkcolor" val="tx"/>
                    </a:ext>
                  </a:extLst>
                </a:hlinkClick>
              </a:rPr>
              <a:t>⌂ Agenda</a:t>
            </a:r>
            <a:endParaRPr lang="en-US" sz="13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27</a:t>
            </a:fld>
            <a:endParaRPr lang="en-US"/>
          </a:p>
        </p:txBody>
      </p:sp>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If a Model Is Just a File...</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...and running it is just loading it and doing math</a:t>
            </a:r>
            <a:endParaRPr lang="en-US" sz="1700" dirty="0"/>
          </a:p>
        </p:txBody>
      </p:sp>
      <p:pic>
        <p:nvPicPr>
          <p:cNvPr id="4" name="layer_0" descr="If a Model Is Just a File... — illustration part 1">    </p:cNvPr>
          <p:cNvPicPr>
            <a:picLocks noChangeAspect="1"/>
          </p:cNvPicPr>
          <p:nvPr/>
        </p:nvPicPr>
        <p:blipFill>
          <a:blip r:embed="rId1"/>
          <a:stretch>
            <a:fillRect/>
          </a:stretch>
        </p:blipFill>
        <p:spPr>
          <a:xfrm>
            <a:off x="1795660" y="2909862"/>
            <a:ext cx="6423830" cy="2181379"/>
          </a:xfrm>
          <a:prstGeom prst="rect">
            <a:avLst/>
          </a:prstGeom>
        </p:spPr>
      </p:pic>
      <p:pic>
        <p:nvPicPr>
          <p:cNvPr id="5" name="layer_1" descr="If a Model Is Just a File... — illustration part 2">    </p:cNvPr>
          <p:cNvPicPr>
            <a:picLocks noChangeAspect="1"/>
          </p:cNvPicPr>
          <p:nvPr/>
        </p:nvPicPr>
        <p:blipFill>
          <a:blip r:embed="rId2"/>
          <a:stretch>
            <a:fillRect/>
          </a:stretch>
        </p:blipFill>
        <p:spPr>
          <a:xfrm>
            <a:off x="8899660" y="2521950"/>
            <a:ext cx="1541719" cy="1491197"/>
          </a:xfrm>
          <a:prstGeom prst="rect">
            <a:avLst/>
          </a:prstGeom>
        </p:spPr>
      </p:pic>
      <p:sp>
        <p:nvSpPr>
          <p:cNvPr id="6"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7"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So why can't you just run a small model on the perfectly good laptop in front of you?</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If running a model is just loading a file and doing math, and a small model fits in your laptop's memory, why can't you just run it there? Let's look closer.</a:t>
            </a:r>
            <a:endParaRPr lang="en-US" sz="1200" dirty="0"/>
          </a:p>
        </p:txBody>
      </p:sp>
      <p:sp>
        <p:nvSpPr>
          <p:cNvPr id="8"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3"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28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Inside Every Computer: CPU + RAM</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Your laptop or a data-center server — the same two parts matter</a:t>
            </a:r>
            <a:endParaRPr lang="en-US" sz="1700" dirty="0"/>
          </a:p>
        </p:txBody>
      </p:sp>
      <p:pic>
        <p:nvPicPr>
          <p:cNvPr id="4" name="layer_0" descr="Inside Every Computer: CPU + RAM — illustration part 1">    </p:cNvPr>
          <p:cNvPicPr>
            <a:picLocks noChangeAspect="1"/>
          </p:cNvPicPr>
          <p:nvPr/>
        </p:nvPicPr>
        <p:blipFill>
          <a:blip r:embed="rId1"/>
          <a:stretch>
            <a:fillRect/>
          </a:stretch>
        </p:blipFill>
        <p:spPr>
          <a:xfrm>
            <a:off x="1296869" y="1831767"/>
            <a:ext cx="9577804" cy="3758219"/>
          </a:xfrm>
          <a:prstGeom prst="rect">
            <a:avLst/>
          </a:prstGeom>
        </p:spPr>
      </p:pic>
      <p:pic>
        <p:nvPicPr>
          <p:cNvPr id="5" name="layer_1" descr="Inside Every Computer: CPU + RAM — illustration part 2">    </p:cNvPr>
          <p:cNvPicPr>
            <a:picLocks noChangeAspect="1"/>
          </p:cNvPicPr>
          <p:nvPr/>
        </p:nvPicPr>
        <p:blipFill>
          <a:blip r:embed="rId2"/>
          <a:stretch>
            <a:fillRect/>
          </a:stretch>
        </p:blipFill>
        <p:spPr>
          <a:xfrm>
            <a:off x="6617311" y="2300285"/>
            <a:ext cx="3426043" cy="3032772"/>
          </a:xfrm>
          <a:prstGeom prst="rect">
            <a:avLst/>
          </a:prstGeom>
        </p:spPr>
      </p:pic>
      <p:sp>
        <p:nvSpPr>
          <p:cNvPr id="6"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7"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CPU does the thinking (calculations, logic) · RAM holds the data and instructions it's working on</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Every computer has two key parts: the CPU, which does the calculations and logic, and the RAM, which holds the data and instructions the CPU is working on.</a:t>
            </a:r>
            <a:endParaRPr lang="en-US" sz="1200" dirty="0"/>
          </a:p>
        </p:txBody>
      </p:sp>
      <p:sp>
        <p:nvSpPr>
          <p:cNvPr id="8"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3"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29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They Sit Apart, Connected by a Road</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Remember this picture — it comes back later</a:t>
            </a:r>
            <a:endParaRPr lang="en-US" sz="1700" dirty="0"/>
          </a:p>
        </p:txBody>
      </p:sp>
      <p:pic>
        <p:nvPicPr>
          <p:cNvPr id="4" name="layer_0" descr="They Sit Apart, Connected by a Road — illustration part 1">    </p:cNvPr>
          <p:cNvPicPr>
            <a:picLocks noChangeAspect="1"/>
          </p:cNvPicPr>
          <p:nvPr/>
        </p:nvPicPr>
        <p:blipFill>
          <a:blip r:embed="rId1"/>
          <a:stretch>
            <a:fillRect/>
          </a:stretch>
        </p:blipFill>
        <p:spPr>
          <a:xfrm>
            <a:off x="1558860" y="2758728"/>
            <a:ext cx="9149549" cy="2377854"/>
          </a:xfrm>
          <a:prstGeom prst="rect">
            <a:avLst/>
          </a:prstGeom>
        </p:spPr>
      </p:pic>
      <p:pic>
        <p:nvPicPr>
          <p:cNvPr id="5" name="layer_1" descr="They Sit Apart, Connected by a Road — illustration part 2">    </p:cNvPr>
          <p:cNvPicPr>
            <a:picLocks noChangeAspect="1"/>
          </p:cNvPicPr>
          <p:nvPr/>
        </p:nvPicPr>
        <p:blipFill>
          <a:blip r:embed="rId2"/>
          <a:stretch>
            <a:fillRect/>
          </a:stretch>
        </p:blipFill>
        <p:spPr>
          <a:xfrm>
            <a:off x="3463337" y="2814144"/>
            <a:ext cx="4937532" cy="1365251"/>
          </a:xfrm>
          <a:prstGeom prst="rect">
            <a:avLst/>
          </a:prstGeom>
        </p:spPr>
      </p:pic>
      <p:pic>
        <p:nvPicPr>
          <p:cNvPr id="6" name="layer_2" descr="They Sit Apart, Connected by a Road — illustration part 3">    </p:cNvPr>
          <p:cNvPicPr>
            <a:picLocks noChangeAspect="1"/>
          </p:cNvPicPr>
          <p:nvPr/>
        </p:nvPicPr>
        <p:blipFill>
          <a:blip r:embed="rId3"/>
          <a:stretch>
            <a:fillRect/>
          </a:stretch>
        </p:blipFill>
        <p:spPr>
          <a:xfrm>
            <a:off x="7695507" y="3368305"/>
            <a:ext cx="770860" cy="685144"/>
          </a:xfrm>
          <a:prstGeom prst="rect">
            <a:avLst/>
          </a:prstGeom>
        </p:spPr>
      </p:pic>
      <p:pic>
        <p:nvPicPr>
          <p:cNvPr id="7" name="layer_3" descr="They Sit Apart, Connected by a Road — illustration part 4">    </p:cNvPr>
          <p:cNvPicPr>
            <a:picLocks noChangeAspect="1"/>
          </p:cNvPicPr>
          <p:nvPr/>
        </p:nvPicPr>
        <p:blipFill>
          <a:blip r:embed="rId4"/>
          <a:stretch>
            <a:fillRect/>
          </a:stretch>
        </p:blipFill>
        <p:spPr>
          <a:xfrm>
            <a:off x="4435728" y="4597534"/>
            <a:ext cx="2967558" cy="226702"/>
          </a:xfrm>
          <a:prstGeom prst="rect">
            <a:avLst/>
          </a:prstGeom>
        </p:spPr>
      </p:pic>
      <p:sp>
        <p:nvSpPr>
          <p:cNvPr id="8"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9"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The CPU is in one place, the memory in another, joined by a channel (the bus)</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The CPU and memory sit in separate places, connected by a bus. Data has to travel along that road every time the processor needs it.</a:t>
            </a:r>
            <a:endParaRPr lang="en-US" sz="1200" dirty="0"/>
          </a:p>
        </p:txBody>
      </p:sp>
      <p:sp>
        <p:nvSpPr>
          <p:cNvPr id="10"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5"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30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22" presetClass="entr" presetSubtype="8"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wipe(left)">
                                      <p:cBhvr>
                                        <p:cTn id="6" dur="900"/>
                                        <p:tgtEl>
                                          <p:spTgt spid="5"/>
                                        </p:tgtEl>
                                      </p:cBhvr>
                                    </p:animEffect>
                                  </p:childTnLst>
                                </p:cTn>
                              </p:par>
                            </p:childTnLst>
                          </p:cTn>
                        </p:par>
                      </p:childTnLst>
                    </p:cTn>
                  </p:par>
                  <p:par>
                    <p:cTn id="8" fill="hold">
                      <p:stCondLst>
                        <p:cond delay="indefinite"/>
                      </p:stCondLst>
                      <p:childTnLst>
                        <p:par>
                          <p:cTn id="9" fill="hold">
                            <p:stCondLst>
                              <p:cond delay="0"/>
                            </p:stCondLst>
                            <p:childTnLst>
                              <p:par>
                                <p:cTn id="11"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par>
                          <p:cTn id="12" fill="hold">
                            <p:stCondLst>
                              <p:cond delay="1"/>
                            </p:stCondLst>
                            <p:childTnLst>
                              <p:par>
                                <p:cTn id="15" presetID="0" presetClass="path" presetSubtype="0" fill="hold" grpId="0" nodeType="afterEffect">
                                  <p:stCondLst>
                                    <p:cond delay="0"/>
                                  </p:stCondLst>
                                  <p:childTnLst>
                                    <p:animMotion origin="layout" path="M 0 0 L -0.3408 0.0000 E" pathEditMode="relative" ptsTypes="">
                                      <p:cBhvr>
                                        <p:cTn id="14" dur="1400" fill="hold"/>
                                        <p:tgtEl>
                                          <p:spTgt spid="6"/>
                                        </p:tgtEl>
                                        <p:attrNameLst>
                                          <p:attrName>ppt_x</p:attrName>
                                          <p:attrName>ppt_y</p:attrName>
                                        </p:attrNameLst>
                                      </p:cBhvr>
                                    </p:animMotion>
                                  </p:childTnLst>
                                </p:cTn>
                              </p:par>
                            </p:childTnLst>
                          </p:cTn>
                        </p:par>
                        <p:par>
                          <p:cTn id="16" fill="hold">
                            <p:stCondLst>
                              <p:cond delay="1401"/>
                            </p:stCondLst>
                            <p:childTnLst>
                              <p:par>
                                <p:cTn id="20" presetID="2" presetClass="entr" presetSubtype="4" fill="hold" grpId="0" nodeType="after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additive="base">
                                        <p:cTn id="18" dur="600" fill="hold"/>
                                        <p:tgtEl>
                                          <p:spTgt spid="7"/>
                                        </p:tgtEl>
                                        <p:attrNameLst>
                                          <p:attrName>ppt_y</p:attrName>
                                        </p:attrNameLst>
                                      </p:cBhvr>
                                      <p:tavLst>
                                        <p:tav tm="0">
                                          <p:val>
                                            <p:strVal val="#ppt_y+0.08"/>
                                          </p:val>
                                        </p:tav>
                                        <p:tav tm="100000">
                                          <p:val>
                                            <p:strVal val="#ppt_y"/>
                                          </p:val>
                                        </p:tav>
                                      </p:tavLst>
                                    </p:anim>
                                    <p:animEffect transition="in" filter="fade">
                                      <p:cBhvr>
                                        <p:cTn id="19" dur="6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Even 6 × 7 Is a Round Trip</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Every calculation: memory → CPU → memory</a:t>
            </a:r>
            <a:endParaRPr lang="en-US" sz="1700" dirty="0"/>
          </a:p>
        </p:txBody>
      </p:sp>
      <p:pic>
        <p:nvPicPr>
          <p:cNvPr id="4" name="layer_0" descr="Even 6 × 7 Is a Round Trip — illustration part 1">    </p:cNvPr>
          <p:cNvPicPr>
            <a:picLocks noChangeAspect="1"/>
          </p:cNvPicPr>
          <p:nvPr/>
        </p:nvPicPr>
        <p:blipFill>
          <a:blip r:embed="rId1"/>
          <a:stretch>
            <a:fillRect/>
          </a:stretch>
        </p:blipFill>
        <p:spPr>
          <a:xfrm>
            <a:off x="1392596" y="2128999"/>
            <a:ext cx="9482077" cy="2881637"/>
          </a:xfrm>
          <a:prstGeom prst="rect">
            <a:avLst/>
          </a:prstGeom>
        </p:spPr>
      </p:pic>
      <p:pic>
        <p:nvPicPr>
          <p:cNvPr id="5" name="layer_1" descr="Even 6 × 7 Is a Round Trip — illustration part 2">    </p:cNvPr>
          <p:cNvPicPr>
            <a:picLocks noChangeAspect="1"/>
          </p:cNvPicPr>
          <p:nvPr/>
        </p:nvPicPr>
        <p:blipFill>
          <a:blip r:embed="rId2"/>
          <a:stretch>
            <a:fillRect/>
          </a:stretch>
        </p:blipFill>
        <p:spPr>
          <a:xfrm>
            <a:off x="8778741" y="2869560"/>
            <a:ext cx="1682792" cy="1042830"/>
          </a:xfrm>
          <a:prstGeom prst="rect">
            <a:avLst/>
          </a:prstGeom>
        </p:spPr>
      </p:pic>
      <p:pic>
        <p:nvPicPr>
          <p:cNvPr id="6" name="layer_2" descr="Even 6 × 7 Is a Round Trip — illustration part 3">    </p:cNvPr>
          <p:cNvPicPr>
            <a:picLocks noChangeAspect="1"/>
          </p:cNvPicPr>
          <p:nvPr/>
        </p:nvPicPr>
        <p:blipFill>
          <a:blip r:embed="rId3"/>
          <a:stretch>
            <a:fillRect/>
          </a:stretch>
        </p:blipFill>
        <p:spPr>
          <a:xfrm>
            <a:off x="7614894" y="2537063"/>
            <a:ext cx="1224306" cy="559199"/>
          </a:xfrm>
          <a:prstGeom prst="rect">
            <a:avLst/>
          </a:prstGeom>
        </p:spPr>
      </p:pic>
      <p:pic>
        <p:nvPicPr>
          <p:cNvPr id="7" name="layer_3" descr="Even 6 × 7 Is a Round Trip — illustration part 4">    </p:cNvPr>
          <p:cNvPicPr>
            <a:picLocks noChangeAspect="1"/>
          </p:cNvPicPr>
          <p:nvPr/>
        </p:nvPicPr>
        <p:blipFill>
          <a:blip r:embed="rId4"/>
          <a:stretch>
            <a:fillRect/>
          </a:stretch>
        </p:blipFill>
        <p:spPr>
          <a:xfrm>
            <a:off x="4551609" y="2103810"/>
            <a:ext cx="2579609" cy="191437"/>
          </a:xfrm>
          <a:prstGeom prst="rect">
            <a:avLst/>
          </a:prstGeom>
        </p:spPr>
      </p:pic>
      <p:pic>
        <p:nvPicPr>
          <p:cNvPr id="8" name="layer_4" descr="Even 6 × 7 Is a Round Trip — illustration part 5">    </p:cNvPr>
          <p:cNvPicPr>
            <a:picLocks noChangeAspect="1"/>
          </p:cNvPicPr>
          <p:nvPr/>
        </p:nvPicPr>
        <p:blipFill>
          <a:blip r:embed="rId5"/>
          <a:stretch>
            <a:fillRect/>
          </a:stretch>
        </p:blipFill>
        <p:spPr>
          <a:xfrm>
            <a:off x="1629396" y="3161754"/>
            <a:ext cx="1430877" cy="1778353"/>
          </a:xfrm>
          <a:prstGeom prst="rect">
            <a:avLst/>
          </a:prstGeom>
        </p:spPr>
      </p:pic>
      <p:pic>
        <p:nvPicPr>
          <p:cNvPr id="9" name="layer_5" descr="Even 6 × 7 Is a Round Trip — illustration part 6">    </p:cNvPr>
          <p:cNvPicPr>
            <a:picLocks noChangeAspect="1"/>
          </p:cNvPicPr>
          <p:nvPr/>
        </p:nvPicPr>
        <p:blipFill>
          <a:blip r:embed="rId6"/>
          <a:stretch>
            <a:fillRect/>
          </a:stretch>
        </p:blipFill>
        <p:spPr>
          <a:xfrm>
            <a:off x="3292035" y="3494250"/>
            <a:ext cx="765821" cy="559199"/>
          </a:xfrm>
          <a:prstGeom prst="rect">
            <a:avLst/>
          </a:prstGeom>
        </p:spPr>
      </p:pic>
      <p:pic>
        <p:nvPicPr>
          <p:cNvPr id="10" name="layer_6" descr="Even 6 × 7 Is a Round Trip — illustration part 7">    </p:cNvPr>
          <p:cNvPicPr>
            <a:picLocks noChangeAspect="1"/>
          </p:cNvPicPr>
          <p:nvPr/>
        </p:nvPicPr>
        <p:blipFill>
          <a:blip r:embed="rId7"/>
          <a:stretch>
            <a:fillRect/>
          </a:stretch>
        </p:blipFill>
        <p:spPr>
          <a:xfrm>
            <a:off x="4496188" y="5096279"/>
            <a:ext cx="2695489" cy="191437"/>
          </a:xfrm>
          <a:prstGeom prst="rect">
            <a:avLst/>
          </a:prstGeom>
        </p:spPr>
      </p:pic>
      <p:pic>
        <p:nvPicPr>
          <p:cNvPr id="11" name="layer_7" descr="Even 6 × 7 Is a Round Trip — illustration part 8">    </p:cNvPr>
          <p:cNvPicPr>
            <a:picLocks noChangeAspect="1"/>
          </p:cNvPicPr>
          <p:nvPr/>
        </p:nvPicPr>
        <p:blipFill>
          <a:blip r:embed="rId8"/>
          <a:stretch>
            <a:fillRect/>
          </a:stretch>
        </p:blipFill>
        <p:spPr>
          <a:xfrm>
            <a:off x="9237226" y="4118941"/>
            <a:ext cx="846434" cy="639804"/>
          </a:xfrm>
          <a:prstGeom prst="rect">
            <a:avLst/>
          </a:prstGeom>
        </p:spPr>
      </p:pic>
      <p:sp>
        <p:nvSpPr>
          <p:cNvPr id="12"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13"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Processor and memory are always tightly paired — every calculation makes the trip</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Even 6 × 7 is a round trip: the numbers land in memory, the CPU reads them, multiplies, and writes 42 back into memory.</a:t>
            </a:r>
            <a:endParaRPr lang="en-US" sz="1200" dirty="0"/>
          </a:p>
        </p:txBody>
      </p:sp>
      <p:sp>
        <p:nvSpPr>
          <p:cNvPr id="14"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9"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31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500" fill="hold"/>
                                        <p:tgtEl>
                                          <p:spTgt spid="5"/>
                                        </p:tgtEl>
                                        <p:attrNameLst>
                                          <p:attrName>ppt_w</p:attrName>
                                        </p:attrNameLst>
                                      </p:cBhvr>
                                      <p:tavLst>
                                        <p:tav tm="0">
                                          <p:val>
                                            <p:fltVal val="0"/>
                                          </p:val>
                                        </p:tav>
                                        <p:tav tm="100000">
                                          <p:val>
                                            <p:strVal val="#ppt_w"/>
                                          </p:val>
                                        </p:tav>
                                      </p:tavLst>
                                    </p:anim>
                                    <p:anim calcmode="lin" valueType="num">
                                      <p:cBhvr>
                                        <p:cTn id="7" dur="500" fill="hold"/>
                                        <p:tgtEl>
                                          <p:spTgt spid="5"/>
                                        </p:tgtEl>
                                        <p:attrNameLst>
                                          <p:attrName>ppt_h</p:attrName>
                                        </p:attrNameLst>
                                      </p:cBhvr>
                                      <p:tavLst>
                                        <p:tav tm="0">
                                          <p:val>
                                            <p:fltVal val="0"/>
                                          </p:val>
                                        </p:tav>
                                        <p:tav tm="100000">
                                          <p:val>
                                            <p:strVal val="#ppt_h"/>
                                          </p:val>
                                        </p:tav>
                                      </p:tavLst>
                                    </p:anim>
                                    <p:animEffect transition="in" filter="fade">
                                      <p:cBhvr>
                                        <p:cTn id="8"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3"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par>
                          <p:cTn id="14" fill="hold">
                            <p:stCondLst>
                              <p:cond delay="1"/>
                            </p:stCondLst>
                            <p:childTnLst>
                              <p:par>
                                <p:cTn id="17" presetID="0" presetClass="path" presetSubtype="0" fill="hold" grpId="0" nodeType="afterEffect">
                                  <p:stCondLst>
                                    <p:cond delay="0"/>
                                  </p:stCondLst>
                                  <p:childTnLst>
                                    <p:animMotion origin="layout" path="M 0 0 L -0.3612 0.0000 E" pathEditMode="relative" ptsTypes="">
                                      <p:cBhvr>
                                        <p:cTn id="16" dur="1600" fill="hold"/>
                                        <p:tgtEl>
                                          <p:spTgt spid="6"/>
                                        </p:tgtEl>
                                        <p:attrNameLst>
                                          <p:attrName>ppt_x</p:attrName>
                                          <p:attrName>ppt_y</p:attrName>
                                        </p:attrNameLst>
                                      </p:cBhvr>
                                    </p:animMotion>
                                  </p:childTnLst>
                                </p:cTn>
                              </p:par>
                              <p:par>
                                <p:cTn id="21" presetID="2" presetClass="entr" presetSubtype="4"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600" fill="hold"/>
                                        <p:tgtEl>
                                          <p:spTgt spid="7"/>
                                        </p:tgtEl>
                                        <p:attrNameLst>
                                          <p:attrName>ppt_y</p:attrName>
                                        </p:attrNameLst>
                                      </p:cBhvr>
                                      <p:tavLst>
                                        <p:tav tm="0">
                                          <p:val>
                                            <p:strVal val="#ppt_y+0.08"/>
                                          </p:val>
                                        </p:tav>
                                        <p:tav tm="100000">
                                          <p:val>
                                            <p:strVal val="#ppt_y"/>
                                          </p:val>
                                        </p:tav>
                                      </p:tavLst>
                                    </p:anim>
                                    <p:animEffect transition="in" filter="fade">
                                      <p:cBhvr>
                                        <p:cTn id="20" dur="600"/>
                                        <p:tgtEl>
                                          <p:spTgt spid="7"/>
                                        </p:tgtEl>
                                      </p:cBhvr>
                                    </p:animEffect>
                                  </p:childTnLst>
                                </p:cTn>
                              </p:par>
                            </p:childTnLst>
                          </p:cTn>
                        </p:par>
                        <p:par>
                          <p:cTn id="22" fill="hold">
                            <p:stCondLst>
                              <p:cond delay="1601"/>
                            </p:stCondLst>
                            <p:childTnLst>
                              <p:par>
                                <p:cTn id="27" presetID="53" presetClass="entr" presetSubtype="16" fill="hold" grpId="0" nodeType="after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p:cTn id="24" dur="600" fill="hold"/>
                                        <p:tgtEl>
                                          <p:spTgt spid="8"/>
                                        </p:tgtEl>
                                        <p:attrNameLst>
                                          <p:attrName>ppt_w</p:attrName>
                                        </p:attrNameLst>
                                      </p:cBhvr>
                                      <p:tavLst>
                                        <p:tav tm="0">
                                          <p:val>
                                            <p:fltVal val="0"/>
                                          </p:val>
                                        </p:tav>
                                        <p:tav tm="100000">
                                          <p:val>
                                            <p:strVal val="#ppt_w"/>
                                          </p:val>
                                        </p:tav>
                                      </p:tavLst>
                                    </p:anim>
                                    <p:anim calcmode="lin" valueType="num">
                                      <p:cBhvr>
                                        <p:cTn id="25" dur="600" fill="hold"/>
                                        <p:tgtEl>
                                          <p:spTgt spid="8"/>
                                        </p:tgtEl>
                                        <p:attrNameLst>
                                          <p:attrName>ppt_h</p:attrName>
                                        </p:attrNameLst>
                                      </p:cBhvr>
                                      <p:tavLst>
                                        <p:tav tm="0">
                                          <p:val>
                                            <p:fltVal val="0"/>
                                          </p:val>
                                        </p:tav>
                                        <p:tav tm="100000">
                                          <p:val>
                                            <p:strVal val="#ppt_h"/>
                                          </p:val>
                                        </p:tav>
                                      </p:tavLst>
                                    </p:anim>
                                    <p:animEffect transition="in" filter="fade">
                                      <p:cBhvr>
                                        <p:cTn id="26" dur="600"/>
                                        <p:tgtEl>
                                          <p:spTgt spid="8"/>
                                        </p:tgtEl>
                                      </p:cBhvr>
                                    </p:animEffect>
                                  </p:childTnLst>
                                </p:cTn>
                              </p:par>
                            </p:childTnLst>
                          </p:cTn>
                        </p:par>
                      </p:childTnLst>
                    </p:cTn>
                  </p:par>
                  <p:par>
                    <p:cTn id="28" fill="hold">
                      <p:stCondLst>
                        <p:cond delay="indefinite"/>
                      </p:stCondLst>
                      <p:childTnLst>
                        <p:par>
                          <p:cTn id="29" fill="hold">
                            <p:stCondLst>
                              <p:cond delay="0"/>
                            </p:stCondLst>
                            <p:childTnLst>
                              <p:par>
                                <p:cTn id="31"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par>
                          <p:cTn id="32" fill="hold">
                            <p:stCondLst>
                              <p:cond delay="1"/>
                            </p:stCondLst>
                            <p:childTnLst>
                              <p:par>
                                <p:cTn id="35" presetID="0" presetClass="path" presetSubtype="0" fill="hold" grpId="0" nodeType="afterEffect">
                                  <p:stCondLst>
                                    <p:cond delay="0"/>
                                  </p:stCondLst>
                                  <p:childTnLst>
                                    <p:animMotion origin="layout" path="M 0 0 L 0.4226 0.0000 E" pathEditMode="relative" ptsTypes="">
                                      <p:cBhvr>
                                        <p:cTn id="34" dur="1600" fill="hold"/>
                                        <p:tgtEl>
                                          <p:spTgt spid="9"/>
                                        </p:tgtEl>
                                        <p:attrNameLst>
                                          <p:attrName>ppt_x</p:attrName>
                                          <p:attrName>ppt_y</p:attrName>
                                        </p:attrNameLst>
                                      </p:cBhvr>
                                    </p:animMotion>
                                  </p:childTnLst>
                                </p:cTn>
                              </p:par>
                              <p:par>
                                <p:cTn id="39" presetID="2" presetClass="entr" presetSubtype="4"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600" fill="hold"/>
                                        <p:tgtEl>
                                          <p:spTgt spid="10"/>
                                        </p:tgtEl>
                                        <p:attrNameLst>
                                          <p:attrName>ppt_y</p:attrName>
                                        </p:attrNameLst>
                                      </p:cBhvr>
                                      <p:tavLst>
                                        <p:tav tm="0">
                                          <p:val>
                                            <p:strVal val="#ppt_y+0.08"/>
                                          </p:val>
                                        </p:tav>
                                        <p:tav tm="100000">
                                          <p:val>
                                            <p:strVal val="#ppt_y"/>
                                          </p:val>
                                        </p:tav>
                                      </p:tavLst>
                                    </p:anim>
                                    <p:animEffect transition="in" filter="fade">
                                      <p:cBhvr>
                                        <p:cTn id="38" dur="600"/>
                                        <p:tgtEl>
                                          <p:spTgt spid="10"/>
                                        </p:tgtEl>
                                      </p:cBhvr>
                                    </p:animEffect>
                                  </p:childTnLst>
                                </p:cTn>
                              </p:par>
                            </p:childTnLst>
                          </p:cTn>
                        </p:par>
                        <p:par>
                          <p:cTn id="40" fill="hold">
                            <p:stCondLst>
                              <p:cond delay="1601"/>
                            </p:stCondLst>
                            <p:childTnLst>
                              <p:par>
                                <p:cTn id="45" presetID="53" presetClass="entr" presetSubtype="16" fill="hold" grpId="0" nodeType="afterEffect">
                                  <p:stCondLst>
                                    <p:cond delay="0"/>
                                  </p:stCondLst>
                                  <p:childTnLst>
                                    <p:set>
                                      <p:cBhvr>
                                        <p:cTn id="41" dur="1" fill="hold">
                                          <p:stCondLst>
                                            <p:cond delay="0"/>
                                          </p:stCondLst>
                                        </p:cTn>
                                        <p:tgtEl>
                                          <p:spTgt spid="11"/>
                                        </p:tgtEl>
                                        <p:attrNameLst>
                                          <p:attrName>style.visibility</p:attrName>
                                        </p:attrNameLst>
                                      </p:cBhvr>
                                      <p:to>
                                        <p:strVal val="visible"/>
                                      </p:to>
                                    </p:set>
                                    <p:anim calcmode="lin" valueType="num">
                                      <p:cBhvr>
                                        <p:cTn id="42" dur="500" fill="hold"/>
                                        <p:tgtEl>
                                          <p:spTgt spid="11"/>
                                        </p:tgtEl>
                                        <p:attrNameLst>
                                          <p:attrName>ppt_w</p:attrName>
                                        </p:attrNameLst>
                                      </p:cBhvr>
                                      <p:tavLst>
                                        <p:tav tm="0">
                                          <p:val>
                                            <p:fltVal val="0"/>
                                          </p:val>
                                        </p:tav>
                                        <p:tav tm="100000">
                                          <p:val>
                                            <p:strVal val="#ppt_w"/>
                                          </p:val>
                                        </p:tav>
                                      </p:tavLst>
                                    </p:anim>
                                    <p:anim calcmode="lin" valueType="num">
                                      <p:cBhvr>
                                        <p:cTn id="43" dur="500" fill="hold"/>
                                        <p:tgtEl>
                                          <p:spTgt spid="11"/>
                                        </p:tgtEl>
                                        <p:attrNameLst>
                                          <p:attrName>ppt_h</p:attrName>
                                        </p:attrNameLst>
                                      </p:cBhvr>
                                      <p:tavLst>
                                        <p:tav tm="0">
                                          <p:val>
                                            <p:fltVal val="0"/>
                                          </p:val>
                                        </p:tav>
                                        <p:tav tm="100000">
                                          <p:val>
                                            <p:strVal val="#ppt_h"/>
                                          </p:val>
                                        </p:tav>
                                      </p:tavLst>
                                    </p:anim>
                                    <p:animEffect transition="in" filter="fade">
                                      <p:cBhvr>
                                        <p:cTn id="44"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The CPU: A Brilliant Generalist</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A handful of very powerful cores, one complicated task after another</a:t>
            </a:r>
            <a:endParaRPr lang="en-US" sz="1700" dirty="0"/>
          </a:p>
        </p:txBody>
      </p:sp>
      <p:pic>
        <p:nvPicPr>
          <p:cNvPr id="4" name="layer_0" descr="The CPU: A Brilliant Generalist — illustration part 1">    </p:cNvPr>
          <p:cNvPicPr>
            <a:picLocks noChangeAspect="1"/>
          </p:cNvPicPr>
          <p:nvPr/>
        </p:nvPicPr>
        <p:blipFill>
          <a:blip r:embed="rId1"/>
          <a:stretch>
            <a:fillRect/>
          </a:stretch>
        </p:blipFill>
        <p:spPr>
          <a:xfrm>
            <a:off x="1558860" y="2093734"/>
            <a:ext cx="3073362" cy="3476100"/>
          </a:xfrm>
          <a:prstGeom prst="rect">
            <a:avLst/>
          </a:prstGeom>
        </p:spPr>
      </p:pic>
      <p:pic>
        <p:nvPicPr>
          <p:cNvPr id="5" name="layer_1" descr="The CPU: A Brilliant Generalist — illustration part 2">    </p:cNvPr>
          <p:cNvPicPr>
            <a:picLocks noChangeAspect="1"/>
          </p:cNvPicPr>
          <p:nvPr/>
        </p:nvPicPr>
        <p:blipFill>
          <a:blip r:embed="rId2"/>
          <a:stretch>
            <a:fillRect/>
          </a:stretch>
        </p:blipFill>
        <p:spPr>
          <a:xfrm>
            <a:off x="4909328" y="2748652"/>
            <a:ext cx="5461515" cy="1793466"/>
          </a:xfrm>
          <a:prstGeom prst="rect">
            <a:avLst/>
          </a:prstGeom>
        </p:spPr>
      </p:pic>
      <p:sp>
        <p:nvSpPr>
          <p:cNvPr id="6"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7"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Extremely fast at sequential work — exactly what your browser, apps and OS need</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A CPU has a handful of very powerful cores that race through complicated tasks one after another — perfect for browsers, apps and the operating system.</a:t>
            </a:r>
            <a:endParaRPr lang="en-US" sz="1200" dirty="0"/>
          </a:p>
        </p:txBody>
      </p:sp>
      <p:sp>
        <p:nvSpPr>
          <p:cNvPr id="8"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3"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32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What Is a Model Doing Under the Hood?</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Billions of tiny multiplications — and none of them wait for each other</a:t>
            </a:r>
            <a:endParaRPr lang="en-US" sz="1700" dirty="0"/>
          </a:p>
        </p:txBody>
      </p:sp>
      <p:pic>
        <p:nvPicPr>
          <p:cNvPr id="4" name="layer_0" descr="What Is a Model Doing Under the Hood? — illustration part 1">    </p:cNvPr>
          <p:cNvPicPr>
            <a:picLocks noChangeAspect="1"/>
          </p:cNvPicPr>
          <p:nvPr/>
        </p:nvPicPr>
        <p:blipFill>
          <a:blip r:embed="rId1"/>
          <a:stretch>
            <a:fillRect/>
          </a:stretch>
        </p:blipFill>
        <p:spPr>
          <a:xfrm>
            <a:off x="1634435" y="1927486"/>
            <a:ext cx="4252323" cy="2911864"/>
          </a:xfrm>
          <a:prstGeom prst="rect">
            <a:avLst/>
          </a:prstGeom>
        </p:spPr>
      </p:pic>
      <p:pic>
        <p:nvPicPr>
          <p:cNvPr id="5" name="layer_1" descr="What Is a Model Doing Under the Hood? — illustration part 2">    </p:cNvPr>
          <p:cNvPicPr>
            <a:picLocks noChangeAspect="1"/>
          </p:cNvPicPr>
          <p:nvPr/>
        </p:nvPicPr>
        <p:blipFill>
          <a:blip r:embed="rId2"/>
          <a:stretch>
            <a:fillRect/>
          </a:stretch>
        </p:blipFill>
        <p:spPr>
          <a:xfrm>
            <a:off x="1488324" y="2496761"/>
            <a:ext cx="5396017" cy="2952166"/>
          </a:xfrm>
          <a:prstGeom prst="rect">
            <a:avLst/>
          </a:prstGeom>
        </p:spPr>
      </p:pic>
      <p:pic>
        <p:nvPicPr>
          <p:cNvPr id="6" name="layer_2" descr="What Is a Model Doing Under the Hood? — illustration part 3">    </p:cNvPr>
          <p:cNvPicPr>
            <a:picLocks noChangeAspect="1"/>
          </p:cNvPicPr>
          <p:nvPr/>
        </p:nvPicPr>
        <p:blipFill>
          <a:blip r:embed="rId3"/>
          <a:stretch>
            <a:fillRect/>
          </a:stretch>
        </p:blipFill>
        <p:spPr>
          <a:xfrm>
            <a:off x="6199133" y="2234794"/>
            <a:ext cx="4252323" cy="3274587"/>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Every output cell is its own small calculation — so each one can go to a different core</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Each output number = one row of weights times the input, added up. Row 1 never waits for row 2, so a GPU can compute all rows at the same time — and real layers have thousands of rows.</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33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22" presetClass="entr" presetSubtype="8"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wipe(left)">
                                      <p:cBhvr>
                                        <p:cTn id="6" dur="900"/>
                                        <p:tgtEl>
                                          <p:spTgt spid="5"/>
                                        </p:tgtEl>
                                      </p:cBhvr>
                                    </p:animEffect>
                                  </p:childTnLst>
                                </p:cTn>
                              </p:par>
                            </p:childTnLst>
                          </p:cTn>
                        </p:par>
                      </p:childTnLst>
                    </p:cTn>
                  </p:par>
                  <p:par>
                    <p:cTn id="8" fill="hold">
                      <p:stCondLst>
                        <p:cond delay="indefinite"/>
                      </p:stCondLst>
                      <p:childTnLst>
                        <p:par>
                          <p:cTn id="9" fill="hold">
                            <p:stCondLst>
                              <p:cond delay="0"/>
                            </p:stCondLst>
                            <p:childTnLst>
                              <p:par>
                                <p:cTn id="12" presetID="22" presetClass="entr" presetSubtype="8"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9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Problem #1: The CPU Works in Sequence</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A few cores chewing through billions of multiplications</a:t>
            </a:r>
            <a:endParaRPr lang="en-US" sz="1700" dirty="0"/>
          </a:p>
        </p:txBody>
      </p:sp>
      <p:pic>
        <p:nvPicPr>
          <p:cNvPr id="4" name="layer_0" descr="Problem #1: The CPU Works in Sequence — illustration part 1">    </p:cNvPr>
          <p:cNvPicPr>
            <a:picLocks noChangeAspect="1"/>
          </p:cNvPicPr>
          <p:nvPr/>
        </p:nvPicPr>
        <p:blipFill>
          <a:blip r:embed="rId1"/>
          <a:stretch>
            <a:fillRect/>
          </a:stretch>
        </p:blipFill>
        <p:spPr>
          <a:xfrm>
            <a:off x="2057652" y="2592479"/>
            <a:ext cx="8827098" cy="2075584"/>
          </a:xfrm>
          <a:prstGeom prst="rect">
            <a:avLst/>
          </a:prstGeom>
        </p:spPr>
      </p:pic>
      <p:pic>
        <p:nvPicPr>
          <p:cNvPr id="5" name="layer_1" descr="Problem #1: The CPU Works in Sequence — illustration part 2">    </p:cNvPr>
          <p:cNvPicPr>
            <a:picLocks noChangeAspect="1"/>
          </p:cNvPicPr>
          <p:nvPr/>
        </p:nvPicPr>
        <p:blipFill>
          <a:blip r:embed="rId2"/>
          <a:stretch>
            <a:fillRect/>
          </a:stretch>
        </p:blipFill>
        <p:spPr>
          <a:xfrm>
            <a:off x="2752937" y="4869577"/>
            <a:ext cx="3058247" cy="675069"/>
          </a:xfrm>
          <a:prstGeom prst="rect">
            <a:avLst/>
          </a:prstGeom>
        </p:spPr>
      </p:pic>
      <p:pic>
        <p:nvPicPr>
          <p:cNvPr id="6" name="layer_2" descr="Problem #1: The CPU Works in Sequence — illustration part 3">    </p:cNvPr>
          <p:cNvPicPr>
            <a:picLocks noChangeAspect="1"/>
          </p:cNvPicPr>
          <p:nvPr/>
        </p:nvPicPr>
        <p:blipFill>
          <a:blip r:embed="rId3"/>
          <a:stretch>
            <a:fillRect/>
          </a:stretch>
        </p:blipFill>
        <p:spPr>
          <a:xfrm>
            <a:off x="5619728" y="4325492"/>
            <a:ext cx="5088681" cy="1098246"/>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Massively parallel work + a processor built for sequence = a very, very long wait</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A CPU works through those billions of multiplications a few at a time. It gets every one right — but you wait a very, very long time.</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34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Enter the GPU</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Built the exact opposite way</a:t>
            </a:r>
            <a:endParaRPr lang="en-US" sz="1700" dirty="0"/>
          </a:p>
        </p:txBody>
      </p:sp>
      <p:pic>
        <p:nvPicPr>
          <p:cNvPr id="4" name="layer_0" descr="Enter the GPU — illustration part 1">    </p:cNvPr>
          <p:cNvPicPr>
            <a:picLocks noChangeAspect="1"/>
          </p:cNvPicPr>
          <p:nvPr/>
        </p:nvPicPr>
        <p:blipFill>
          <a:blip r:embed="rId1"/>
          <a:stretch>
            <a:fillRect/>
          </a:stretch>
        </p:blipFill>
        <p:spPr>
          <a:xfrm>
            <a:off x="1725124" y="2426231"/>
            <a:ext cx="2408306" cy="2997507"/>
          </a:xfrm>
          <a:prstGeom prst="rect">
            <a:avLst/>
          </a:prstGeom>
        </p:spPr>
      </p:pic>
      <p:pic>
        <p:nvPicPr>
          <p:cNvPr id="5" name="layer_1" descr="Enter the GPU — illustration part 2">    </p:cNvPr>
          <p:cNvPicPr>
            <a:picLocks noChangeAspect="1"/>
          </p:cNvPicPr>
          <p:nvPr/>
        </p:nvPicPr>
        <p:blipFill>
          <a:blip r:embed="rId2"/>
          <a:stretch>
            <a:fillRect/>
          </a:stretch>
        </p:blipFill>
        <p:spPr>
          <a:xfrm>
            <a:off x="5513924" y="2164264"/>
            <a:ext cx="5194485" cy="3345117"/>
          </a:xfrm>
          <a:prstGeom prst="rect">
            <a:avLst/>
          </a:prstGeom>
        </p:spPr>
      </p:pic>
      <p:sp>
        <p:nvSpPr>
          <p:cNvPr id="6"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7"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Instead of a few powerful cores: thousands of small, simple cores, all doing math at once</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The GPU is built the opposite way: instead of a few powerful cores it has thousands of small, simple ones, all doing math at the same moment.</a:t>
            </a:r>
            <a:endParaRPr lang="en-US" sz="1200" dirty="0"/>
          </a:p>
        </p:txBody>
      </p:sp>
      <p:sp>
        <p:nvSpPr>
          <p:cNvPr id="8"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3"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35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Watch the Cores Work: CPU vs GPU</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The same 16 independent multiplications</a:t>
            </a:r>
            <a:endParaRPr lang="en-US" sz="1700" dirty="0"/>
          </a:p>
        </p:txBody>
      </p:sp>
      <p:pic>
        <p:nvPicPr>
          <p:cNvPr id="4" name="layer_0" descr="Watch the Cores Work: CPU vs GPU — illustration part 1">    </p:cNvPr>
          <p:cNvPicPr>
            <a:picLocks noChangeAspect="1"/>
          </p:cNvPicPr>
          <p:nvPr/>
        </p:nvPicPr>
        <p:blipFill>
          <a:blip r:embed="rId1"/>
          <a:stretch>
            <a:fillRect/>
          </a:stretch>
        </p:blipFill>
        <p:spPr>
          <a:xfrm>
            <a:off x="1392596" y="1796503"/>
            <a:ext cx="9567728" cy="3697765"/>
          </a:xfrm>
          <a:prstGeom prst="rect">
            <a:avLst/>
          </a:prstGeom>
        </p:spPr>
      </p:pic>
      <p:pic>
        <p:nvPicPr>
          <p:cNvPr id="5" name="layer_1" descr="Watch the Cores Work: CPU vs GPU — illustration part 2">    </p:cNvPr>
          <p:cNvPicPr>
            <a:picLocks noChangeAspect="1"/>
          </p:cNvPicPr>
          <p:nvPr/>
        </p:nvPicPr>
        <p:blipFill>
          <a:blip r:embed="rId2"/>
          <a:stretch>
            <a:fillRect/>
          </a:stretch>
        </p:blipFill>
        <p:spPr>
          <a:xfrm>
            <a:off x="1629396" y="2370815"/>
            <a:ext cx="4010485" cy="2035282"/>
          </a:xfrm>
          <a:prstGeom prst="rect">
            <a:avLst/>
          </a:prstGeom>
        </p:spPr>
      </p:pic>
      <p:pic>
        <p:nvPicPr>
          <p:cNvPr id="6" name="layer_2" descr="Watch the Cores Work: CPU vs GPU — illustration part 3">    </p:cNvPr>
          <p:cNvPicPr>
            <a:picLocks noChangeAspect="1"/>
          </p:cNvPicPr>
          <p:nvPr/>
        </p:nvPicPr>
        <p:blipFill>
          <a:blip r:embed="rId3"/>
          <a:stretch>
            <a:fillRect/>
          </a:stretch>
        </p:blipFill>
        <p:spPr>
          <a:xfrm>
            <a:off x="1629396" y="2663009"/>
            <a:ext cx="4010485" cy="2025206"/>
          </a:xfrm>
          <a:prstGeom prst="rect">
            <a:avLst/>
          </a:prstGeom>
        </p:spPr>
      </p:pic>
      <p:pic>
        <p:nvPicPr>
          <p:cNvPr id="7" name="layer_3" descr="Watch the Cores Work: CPU vs GPU — illustration part 4">    </p:cNvPr>
          <p:cNvPicPr>
            <a:picLocks noChangeAspect="1"/>
          </p:cNvPicPr>
          <p:nvPr/>
        </p:nvPicPr>
        <p:blipFill>
          <a:blip r:embed="rId4"/>
          <a:stretch>
            <a:fillRect/>
          </a:stretch>
        </p:blipFill>
        <p:spPr>
          <a:xfrm>
            <a:off x="1629396" y="2663009"/>
            <a:ext cx="4010485" cy="2307324"/>
          </a:xfrm>
          <a:prstGeom prst="rect">
            <a:avLst/>
          </a:prstGeom>
        </p:spPr>
      </p:pic>
      <p:pic>
        <p:nvPicPr>
          <p:cNvPr id="8" name="layer_4" descr="Watch the Cores Work: CPU vs GPU — illustration part 5">    </p:cNvPr>
          <p:cNvPicPr>
            <a:picLocks noChangeAspect="1"/>
          </p:cNvPicPr>
          <p:nvPr/>
        </p:nvPicPr>
        <p:blipFill>
          <a:blip r:embed="rId5"/>
          <a:stretch>
            <a:fillRect/>
          </a:stretch>
        </p:blipFill>
        <p:spPr>
          <a:xfrm>
            <a:off x="1629396" y="2663009"/>
            <a:ext cx="4010485" cy="2589443"/>
          </a:xfrm>
          <a:prstGeom prst="rect">
            <a:avLst/>
          </a:prstGeom>
        </p:spPr>
      </p:pic>
      <p:pic>
        <p:nvPicPr>
          <p:cNvPr id="9" name="layer_5" descr="Watch the Cores Work: CPU vs GPU — illustration part 6">    </p:cNvPr>
          <p:cNvPicPr>
            <a:picLocks noChangeAspect="1"/>
          </p:cNvPicPr>
          <p:nvPr/>
        </p:nvPicPr>
        <p:blipFill>
          <a:blip r:embed="rId6"/>
          <a:stretch>
            <a:fillRect/>
          </a:stretch>
        </p:blipFill>
        <p:spPr>
          <a:xfrm>
            <a:off x="4007473" y="5151695"/>
            <a:ext cx="841396" cy="241816"/>
          </a:xfrm>
          <a:prstGeom prst="rect">
            <a:avLst/>
          </a:prstGeom>
        </p:spPr>
      </p:pic>
      <p:pic>
        <p:nvPicPr>
          <p:cNvPr id="10" name="layer_6" descr="Watch the Cores Work: CPU vs GPU — illustration part 7">    </p:cNvPr>
          <p:cNvPicPr>
            <a:picLocks noChangeAspect="1"/>
          </p:cNvPicPr>
          <p:nvPr/>
        </p:nvPicPr>
        <p:blipFill>
          <a:blip r:embed="rId7"/>
          <a:stretch>
            <a:fillRect/>
          </a:stretch>
        </p:blipFill>
        <p:spPr>
          <a:xfrm>
            <a:off x="6949839" y="3076111"/>
            <a:ext cx="3889566" cy="1017641"/>
          </a:xfrm>
          <a:prstGeom prst="rect">
            <a:avLst/>
          </a:prstGeom>
        </p:spPr>
      </p:pic>
      <p:pic>
        <p:nvPicPr>
          <p:cNvPr id="11" name="layer_7" descr="Watch the Cores Work: CPU vs GPU — illustration part 8">    </p:cNvPr>
          <p:cNvPicPr>
            <a:picLocks noChangeAspect="1"/>
          </p:cNvPicPr>
          <p:nvPr/>
        </p:nvPicPr>
        <p:blipFill>
          <a:blip r:embed="rId8"/>
          <a:stretch>
            <a:fillRect/>
          </a:stretch>
        </p:blipFill>
        <p:spPr>
          <a:xfrm>
            <a:off x="7413363" y="2441344"/>
            <a:ext cx="2841600" cy="2599518"/>
          </a:xfrm>
          <a:prstGeom prst="rect">
            <a:avLst/>
          </a:prstGeom>
        </p:spPr>
      </p:pic>
      <p:sp>
        <p:nvSpPr>
          <p:cNvPr id="12"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13"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CPU: 4 cores → 4 rounds, one after another · GPU: enough cores for all 16 → 1 round</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Each green square is one finished multiplication. The CPU's 4 powerful cores take 16 jobs in 4 rounds. The GPU has a core for every job, so all 16 finish in a single round — and real workloads have billions of jobs, not 16.</a:t>
            </a:r>
            <a:endParaRPr lang="en-US" sz="1200" dirty="0"/>
          </a:p>
        </p:txBody>
      </p:sp>
      <p:sp>
        <p:nvSpPr>
          <p:cNvPr id="14"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9"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36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700" fill="hold"/>
                                        <p:tgtEl>
                                          <p:spTgt spid="5"/>
                                        </p:tgtEl>
                                        <p:attrNameLst>
                                          <p:attrName>ppt_y</p:attrName>
                                        </p:attrNameLst>
                                      </p:cBhvr>
                                      <p:tavLst>
                                        <p:tav tm="0">
                                          <p:val>
                                            <p:strVal val="#ppt_y+0.03"/>
                                          </p:val>
                                        </p:tav>
                                        <p:tav tm="100000">
                                          <p:val>
                                            <p:strVal val="#ppt_y"/>
                                          </p:val>
                                        </p:tav>
                                      </p:tavLst>
                                    </p:anim>
                                    <p:animEffect transition="in" filter="fade">
                                      <p:cBhvr>
                                        <p:cTn id="7" dur="700"/>
                                        <p:tgtEl>
                                          <p:spTgt spid="5"/>
                                        </p:tgtEl>
                                      </p:cBhvr>
                                    </p:animEffect>
                                  </p:childTnLst>
                                </p:cTn>
                              </p:par>
                            </p:childTnLst>
                          </p:cTn>
                        </p:par>
                        <p:par>
                          <p:cTn id="9" fill="hold">
                            <p:stCondLst>
                              <p:cond delay="700"/>
                            </p:stCondLst>
                            <p:childTnLst>
                              <p:par>
                                <p:cTn id="11" presetID="1" presetClass="entr" presetSubtype="0" fill="hold" grpId="0" nodeType="afterEffect">
                                  <p:stCondLst>
                                    <p:cond delay="350"/>
                                  </p:stCondLst>
                                  <p:childTnLst>
                                    <p:set>
                                      <p:cBhvr>
                                        <p:cTn id="10" dur="1" fill="hold">
                                          <p:stCondLst>
                                            <p:cond delay="0"/>
                                          </p:stCondLst>
                                        </p:cTn>
                                        <p:tgtEl>
                                          <p:spTgt spid="6"/>
                                        </p:tgtEl>
                                        <p:attrNameLst>
                                          <p:attrName>style.visibility</p:attrName>
                                        </p:attrNameLst>
                                      </p:cBhvr>
                                      <p:to>
                                        <p:strVal val="visible"/>
                                      </p:to>
                                    </p:set>
                                  </p:childTnLst>
                                </p:cTn>
                              </p:par>
                            </p:childTnLst>
                          </p:cTn>
                        </p:par>
                        <p:par>
                          <p:cTn id="12" fill="hold">
                            <p:stCondLst>
                              <p:cond delay="1750"/>
                            </p:stCondLst>
                            <p:childTnLst>
                              <p:par>
                                <p:cTn id="14" presetID="1" presetClass="entr" presetSubtype="0" fill="hold" grpId="0" nodeType="afterEffect">
                                  <p:stCondLst>
                                    <p:cond delay="350"/>
                                  </p:stCondLst>
                                  <p:childTnLst>
                                    <p:set>
                                      <p:cBhvr>
                                        <p:cTn id="13" dur="1" fill="hold">
                                          <p:stCondLst>
                                            <p:cond delay="0"/>
                                          </p:stCondLst>
                                        </p:cTn>
                                        <p:tgtEl>
                                          <p:spTgt spid="7"/>
                                        </p:tgtEl>
                                        <p:attrNameLst>
                                          <p:attrName>style.visibility</p:attrName>
                                        </p:attrNameLst>
                                      </p:cBhvr>
                                      <p:to>
                                        <p:strVal val="visible"/>
                                      </p:to>
                                    </p:set>
                                  </p:childTnLst>
                                </p:cTn>
                              </p:par>
                            </p:childTnLst>
                          </p:cTn>
                        </p:par>
                        <p:par>
                          <p:cTn id="15" fill="hold">
                            <p:stCondLst>
                              <p:cond delay="2800"/>
                            </p:stCondLst>
                            <p:childTnLst>
                              <p:par>
                                <p:cTn id="17" presetID="1" presetClass="entr" presetSubtype="0" fill="hold" grpId="0" nodeType="afterEffect">
                                  <p:stCondLst>
                                    <p:cond delay="350"/>
                                  </p:stCondLst>
                                  <p:childTnLst>
                                    <p:set>
                                      <p:cBhvr>
                                        <p:cTn id="16" dur="1" fill="hold">
                                          <p:stCondLst>
                                            <p:cond delay="0"/>
                                          </p:stCondLst>
                                        </p:cTn>
                                        <p:tgtEl>
                                          <p:spTgt spid="8"/>
                                        </p:tgtEl>
                                        <p:attrNameLst>
                                          <p:attrName>style.visibility</p:attrName>
                                        </p:attrNameLst>
                                      </p:cBhvr>
                                      <p:to>
                                        <p:strVal val="visible"/>
                                      </p:to>
                                    </p:set>
                                  </p:childTnLst>
                                </p:cTn>
                              </p:par>
                            </p:childTnLst>
                          </p:cTn>
                        </p:par>
                        <p:par>
                          <p:cTn id="18" fill="hold">
                            <p:stCondLst>
                              <p:cond delay="3850"/>
                            </p:stCondLst>
                            <p:childTnLst>
                              <p:par>
                                <p:cTn id="23" presetID="53" presetClass="entr" presetSubtype="16" fill="hold" grpId="0" nodeType="afterEffect">
                                  <p:stCondLst>
                                    <p:cond delay="0"/>
                                  </p:stCondLst>
                                  <p:childTnLst>
                                    <p:set>
                                      <p:cBhvr>
                                        <p:cTn id="19" dur="1" fill="hold">
                                          <p:stCondLst>
                                            <p:cond delay="0"/>
                                          </p:stCondLst>
                                        </p:cTn>
                                        <p:tgtEl>
                                          <p:spTgt spid="9"/>
                                        </p:tgtEl>
                                        <p:attrNameLst>
                                          <p:attrName>style.visibility</p:attrName>
                                        </p:attrNameLst>
                                      </p:cBhvr>
                                      <p:to>
                                        <p:strVal val="visible"/>
                                      </p:to>
                                    </p:set>
                                    <p:anim calcmode="lin" valueType="num">
                                      <p:cBhvr>
                                        <p:cTn id="20" dur="500" fill="hold"/>
                                        <p:tgtEl>
                                          <p:spTgt spid="9"/>
                                        </p:tgtEl>
                                        <p:attrNameLst>
                                          <p:attrName>ppt_w</p:attrName>
                                        </p:attrNameLst>
                                      </p:cBhvr>
                                      <p:tavLst>
                                        <p:tav tm="0">
                                          <p:val>
                                            <p:fltVal val="0"/>
                                          </p:val>
                                        </p:tav>
                                        <p:tav tm="100000">
                                          <p:val>
                                            <p:strVal val="#ppt_w"/>
                                          </p:val>
                                        </p:tav>
                                      </p:tavLst>
                                    </p:anim>
                                    <p:anim calcmode="lin" valueType="num">
                                      <p:cBhvr>
                                        <p:cTn id="21" dur="500" fill="hold"/>
                                        <p:tgtEl>
                                          <p:spTgt spid="9"/>
                                        </p:tgtEl>
                                        <p:attrNameLst>
                                          <p:attrName>ppt_h</p:attrName>
                                        </p:attrNameLst>
                                      </p:cBhvr>
                                      <p:tavLst>
                                        <p:tav tm="0">
                                          <p:val>
                                            <p:fltVal val="0"/>
                                          </p:val>
                                        </p:tav>
                                        <p:tav tm="100000">
                                          <p:val>
                                            <p:strVal val="#ppt_h"/>
                                          </p:val>
                                        </p:tav>
                                      </p:tavLst>
                                    </p:anim>
                                    <p:animEffect transition="in" filter="fade">
                                      <p:cBhvr>
                                        <p:cTn id="22" dur="500"/>
                                        <p:tgtEl>
                                          <p:spTgt spid="9"/>
                                        </p:tgtEl>
                                      </p:cBhvr>
                                    </p:animEffect>
                                  </p:childTnLst>
                                </p:cTn>
                              </p:par>
                            </p:childTnLst>
                          </p:cTn>
                        </p:par>
                      </p:childTnLst>
                    </p:cTn>
                  </p:par>
                  <p:par>
                    <p:cTn id="24" fill="hold">
                      <p:stCondLst>
                        <p:cond delay="indefinite"/>
                      </p:stCondLst>
                      <p:childTnLst>
                        <p:par>
                          <p:cTn id="25" fill="hold">
                            <p:stCondLst>
                              <p:cond delay="0"/>
                            </p:stCondLst>
                            <p:childTnLst>
                              <p:par>
                                <p:cTn id="30" presetID="53" presetClass="entr" presetSubtype="16"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p:cTn id="27" dur="700" fill="hold"/>
                                        <p:tgtEl>
                                          <p:spTgt spid="10"/>
                                        </p:tgtEl>
                                        <p:attrNameLst>
                                          <p:attrName>ppt_w</p:attrName>
                                        </p:attrNameLst>
                                      </p:cBhvr>
                                      <p:tavLst>
                                        <p:tav tm="0">
                                          <p:val>
                                            <p:fltVal val="0"/>
                                          </p:val>
                                        </p:tav>
                                        <p:tav tm="100000">
                                          <p:val>
                                            <p:strVal val="#ppt_w"/>
                                          </p:val>
                                        </p:tav>
                                      </p:tavLst>
                                    </p:anim>
                                    <p:anim calcmode="lin" valueType="num">
                                      <p:cBhvr>
                                        <p:cTn id="28" dur="700" fill="hold"/>
                                        <p:tgtEl>
                                          <p:spTgt spid="10"/>
                                        </p:tgtEl>
                                        <p:attrNameLst>
                                          <p:attrName>ppt_h</p:attrName>
                                        </p:attrNameLst>
                                      </p:cBhvr>
                                      <p:tavLst>
                                        <p:tav tm="0">
                                          <p:val>
                                            <p:fltVal val="0"/>
                                          </p:val>
                                        </p:tav>
                                        <p:tav tm="100000">
                                          <p:val>
                                            <p:strVal val="#ppt_h"/>
                                          </p:val>
                                        </p:tav>
                                      </p:tavLst>
                                    </p:anim>
                                    <p:animEffect transition="in" filter="fade">
                                      <p:cBhvr>
                                        <p:cTn id="29" dur="700"/>
                                        <p:tgtEl>
                                          <p:spTgt spid="10"/>
                                        </p:tgtEl>
                                      </p:cBhvr>
                                    </p:animEffect>
                                  </p:childTnLst>
                                </p:cTn>
                              </p:par>
                            </p:childTnLst>
                          </p:cTn>
                        </p:par>
                        <p:par>
                          <p:cTn id="31" fill="hold">
                            <p:stCondLst>
                              <p:cond delay="700"/>
                            </p:stCondLst>
                            <p:childTnLst>
                              <p:par>
                                <p:cTn id="36" presetID="53" presetClass="entr" presetSubtype="16" fill="hold" grpId="0" nodeType="afterEffect">
                                  <p:stCondLst>
                                    <p:cond delay="0"/>
                                  </p:stCondLst>
                                  <p:childTnLst>
                                    <p:set>
                                      <p:cBhvr>
                                        <p:cTn id="32" dur="1" fill="hold">
                                          <p:stCondLst>
                                            <p:cond delay="0"/>
                                          </p:stCondLst>
                                        </p:cTn>
                                        <p:tgtEl>
                                          <p:spTgt spid="11"/>
                                        </p:tgtEl>
                                        <p:attrNameLst>
                                          <p:attrName>style.visibility</p:attrName>
                                        </p:attrNameLst>
                                      </p:cBhvr>
                                      <p:to>
                                        <p:strVal val="visible"/>
                                      </p:to>
                                    </p:set>
                                    <p:anim calcmode="lin" valueType="num">
                                      <p:cBhvr>
                                        <p:cTn id="33" dur="500" fill="hold"/>
                                        <p:tgtEl>
                                          <p:spTgt spid="11"/>
                                        </p:tgtEl>
                                        <p:attrNameLst>
                                          <p:attrName>ppt_w</p:attrName>
                                        </p:attrNameLst>
                                      </p:cBhvr>
                                      <p:tavLst>
                                        <p:tav tm="0">
                                          <p:val>
                                            <p:fltVal val="0"/>
                                          </p:val>
                                        </p:tav>
                                        <p:tav tm="100000">
                                          <p:val>
                                            <p:strVal val="#ppt_w"/>
                                          </p:val>
                                        </p:tav>
                                      </p:tavLst>
                                    </p:anim>
                                    <p:anim calcmode="lin" valueType="num">
                                      <p:cBhvr>
                                        <p:cTn id="34" dur="500" fill="hold"/>
                                        <p:tgtEl>
                                          <p:spTgt spid="11"/>
                                        </p:tgtEl>
                                        <p:attrNameLst>
                                          <p:attrName>ppt_h</p:attrName>
                                        </p:attrNameLst>
                                      </p:cBhvr>
                                      <p:tavLst>
                                        <p:tav tm="0">
                                          <p:val>
                                            <p:fltVal val="0"/>
                                          </p:val>
                                        </p:tav>
                                        <p:tav tm="100000">
                                          <p:val>
                                            <p:strVal val="#ppt_h"/>
                                          </p:val>
                                        </p:tav>
                                      </p:tavLst>
                                    </p:anim>
                                    <p:animEffect transition="in" filter="fade">
                                      <p:cBhvr>
                                        <p:cTn id="3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What Is a FLOP?</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How we measure a processor's math speed</a:t>
            </a:r>
            <a:endParaRPr lang="en-US" sz="1700" dirty="0"/>
          </a:p>
        </p:txBody>
      </p:sp>
      <p:pic>
        <p:nvPicPr>
          <p:cNvPr id="4" name="layer_0" descr="What Is a FLOP? — illustration part 1">    </p:cNvPr>
          <p:cNvPicPr>
            <a:picLocks noChangeAspect="1"/>
          </p:cNvPicPr>
          <p:nvPr/>
        </p:nvPicPr>
        <p:blipFill>
          <a:blip r:embed="rId1"/>
          <a:stretch>
            <a:fillRect/>
          </a:stretch>
        </p:blipFill>
        <p:spPr>
          <a:xfrm>
            <a:off x="1463133" y="1836805"/>
            <a:ext cx="5637855" cy="1345100"/>
          </a:xfrm>
          <a:prstGeom prst="rect">
            <a:avLst/>
          </a:prstGeom>
        </p:spPr>
      </p:pic>
      <p:pic>
        <p:nvPicPr>
          <p:cNvPr id="5" name="layer_1" descr="What Is a FLOP? — illustration part 2">    </p:cNvPr>
          <p:cNvPicPr>
            <a:picLocks noChangeAspect="1"/>
          </p:cNvPicPr>
          <p:nvPr/>
        </p:nvPicPr>
        <p:blipFill>
          <a:blip r:embed="rId2"/>
          <a:stretch>
            <a:fillRect/>
          </a:stretch>
        </p:blipFill>
        <p:spPr>
          <a:xfrm>
            <a:off x="1463133" y="3408607"/>
            <a:ext cx="6131609" cy="851393"/>
          </a:xfrm>
          <a:prstGeom prst="rect">
            <a:avLst/>
          </a:prstGeom>
        </p:spPr>
      </p:pic>
      <p:pic>
        <p:nvPicPr>
          <p:cNvPr id="6" name="layer_2" descr="What Is a FLOP? — illustration part 3">    </p:cNvPr>
          <p:cNvPicPr>
            <a:picLocks noChangeAspect="1"/>
          </p:cNvPicPr>
          <p:nvPr/>
        </p:nvPicPr>
        <p:blipFill>
          <a:blip r:embed="rId3"/>
          <a:stretch>
            <a:fillRect/>
          </a:stretch>
        </p:blipFill>
        <p:spPr>
          <a:xfrm>
            <a:off x="1317022" y="3595007"/>
            <a:ext cx="9557651" cy="2035282"/>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FLOP = one floating-point operation (one multiply or one add of decimal numbers) · FLOPS = how many per second</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Model weights are decimal numbers like 0.73 or −1.25, called floating-point numbers. One multiply or one add on them is one FLOP. Count how many a chip can do in one second and you get its FLOPS — its math speed.</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37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2" presetClass="entr" presetSubtype="4"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additive="base">
                                        <p:cTn id="6" dur="600" fill="hold"/>
                                        <p:tgtEl>
                                          <p:spTgt spid="5"/>
                                        </p:tgtEl>
                                        <p:attrNameLst>
                                          <p:attrName>ppt_y</p:attrName>
                                        </p:attrNameLst>
                                      </p:cBhvr>
                                      <p:tavLst>
                                        <p:tav tm="0">
                                          <p:val>
                                            <p:strVal val="#ppt_y+0.08"/>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3"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9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Giga, Tera, Peta: How Big Are These Numbers?</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Each step up the ladder is 1,000× bigger</a:t>
            </a:r>
            <a:endParaRPr lang="en-US" sz="1700" dirty="0"/>
          </a:p>
        </p:txBody>
      </p:sp>
      <p:pic>
        <p:nvPicPr>
          <p:cNvPr id="4" name="layer_0" descr="Giga, Tera, Peta: How Big Are These Numbers? — illustration part 1">    </p:cNvPr>
          <p:cNvPicPr>
            <a:picLocks noChangeAspect="1"/>
          </p:cNvPicPr>
          <p:nvPr/>
        </p:nvPicPr>
        <p:blipFill>
          <a:blip r:embed="rId1"/>
          <a:stretch>
            <a:fillRect/>
          </a:stretch>
        </p:blipFill>
        <p:spPr>
          <a:xfrm>
            <a:off x="1296869" y="4657988"/>
            <a:ext cx="1682792" cy="765750"/>
          </a:xfrm>
          <a:prstGeom prst="rect">
            <a:avLst/>
          </a:prstGeom>
        </p:spPr>
      </p:pic>
      <p:pic>
        <p:nvPicPr>
          <p:cNvPr id="5" name="layer_1" descr="Giga, Tera, Peta: How Big Are These Numbers? — illustration part 2">    </p:cNvPr>
          <p:cNvPicPr>
            <a:picLocks noChangeAspect="1"/>
          </p:cNvPicPr>
          <p:nvPr/>
        </p:nvPicPr>
        <p:blipFill>
          <a:blip r:embed="rId2"/>
          <a:stretch>
            <a:fillRect/>
          </a:stretch>
        </p:blipFill>
        <p:spPr>
          <a:xfrm>
            <a:off x="2783167" y="3710877"/>
            <a:ext cx="1859132" cy="967263"/>
          </a:xfrm>
          <a:prstGeom prst="rect">
            <a:avLst/>
          </a:prstGeom>
        </p:spPr>
      </p:pic>
      <p:pic>
        <p:nvPicPr>
          <p:cNvPr id="6" name="layer_2" descr="Giga, Tera, Peta: How Big Are These Numbers? — illustration part 3">    </p:cNvPr>
          <p:cNvPicPr>
            <a:picLocks noChangeAspect="1"/>
          </p:cNvPicPr>
          <p:nvPr/>
        </p:nvPicPr>
        <p:blipFill>
          <a:blip r:embed="rId3"/>
          <a:stretch>
            <a:fillRect/>
          </a:stretch>
        </p:blipFill>
        <p:spPr>
          <a:xfrm>
            <a:off x="4445805" y="2960241"/>
            <a:ext cx="1859132" cy="967263"/>
          </a:xfrm>
          <a:prstGeom prst="rect">
            <a:avLst/>
          </a:prstGeom>
        </p:spPr>
      </p:pic>
      <p:pic>
        <p:nvPicPr>
          <p:cNvPr id="7" name="layer_3" descr="Giga, Tera, Peta: How Big Are These Numbers? — illustration part 4">    </p:cNvPr>
          <p:cNvPicPr>
            <a:picLocks noChangeAspect="1"/>
          </p:cNvPicPr>
          <p:nvPr/>
        </p:nvPicPr>
        <p:blipFill>
          <a:blip r:embed="rId4"/>
          <a:stretch>
            <a:fillRect/>
          </a:stretch>
        </p:blipFill>
        <p:spPr>
          <a:xfrm>
            <a:off x="6108443" y="2214642"/>
            <a:ext cx="1859132" cy="967263"/>
          </a:xfrm>
          <a:prstGeom prst="rect">
            <a:avLst/>
          </a:prstGeom>
        </p:spPr>
      </p:pic>
      <p:pic>
        <p:nvPicPr>
          <p:cNvPr id="8" name="layer_4" descr="Giga, Tera, Peta: How Big Are These Numbers? — illustration part 5">    </p:cNvPr>
          <p:cNvPicPr>
            <a:picLocks noChangeAspect="1"/>
          </p:cNvPicPr>
          <p:nvPr/>
        </p:nvPicPr>
        <p:blipFill>
          <a:blip r:embed="rId5"/>
          <a:stretch>
            <a:fillRect/>
          </a:stretch>
        </p:blipFill>
        <p:spPr>
          <a:xfrm>
            <a:off x="8300103" y="3191981"/>
            <a:ext cx="2327694" cy="1042830"/>
          </a:xfrm>
          <a:prstGeom prst="rect">
            <a:avLst/>
          </a:prstGeom>
        </p:spPr>
      </p:pic>
      <p:pic>
        <p:nvPicPr>
          <p:cNvPr id="9" name="layer_5" descr="Giga, Tera, Peta: How Big Are These Numbers? — illustration part 6">    </p:cNvPr>
          <p:cNvPicPr>
            <a:picLocks noChangeAspect="1"/>
          </p:cNvPicPr>
          <p:nvPr/>
        </p:nvPicPr>
        <p:blipFill>
          <a:blip r:embed="rId6"/>
          <a:stretch>
            <a:fillRect/>
          </a:stretch>
        </p:blipFill>
        <p:spPr>
          <a:xfrm>
            <a:off x="8113686" y="4657988"/>
            <a:ext cx="2927251" cy="1017641"/>
          </a:xfrm>
          <a:prstGeom prst="rect">
            <a:avLst/>
          </a:prstGeom>
        </p:spPr>
      </p:pic>
      <p:sp>
        <p:nvSpPr>
          <p:cNvPr id="10"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11"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GFLOPS = billions per second · TFLOPS = trillions per second · PFLOPS = 1,000 TFLOPS</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Giga means billion, tera means trillion, peta means a thousand trillion. A desktop CPU does about 1–3 TFLOPS; an H100 GPU about 990 TFLOPS; a B200 about 2,250 TFLOPS (≈2.25 PFLOPS). For scale: doing 1 trillion sums by hand at one per second would take ~31,700 years.</a:t>
            </a:r>
            <a:endParaRPr lang="en-US" sz="1200" dirty="0"/>
          </a:p>
        </p:txBody>
      </p:sp>
      <p:sp>
        <p:nvSpPr>
          <p:cNvPr id="12"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7"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38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8" presetID="2" presetClass="entr" presetSubtype="4" fill="hold" grpId="0" nodeType="after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additive="base">
                                        <p:cTn id="6" dur="500" fill="hold"/>
                                        <p:tgtEl>
                                          <p:spTgt spid="5"/>
                                        </p:tgtEl>
                                        <p:attrNameLst>
                                          <p:attrName>ppt_y</p:attrName>
                                        </p:attrNameLst>
                                      </p:cBhvr>
                                      <p:tavLst>
                                        <p:tav tm="0">
                                          <p:val>
                                            <p:strVal val="#ppt_y+0.08"/>
                                          </p:val>
                                        </p:tav>
                                        <p:tav tm="100000">
                                          <p:val>
                                            <p:strVal val="#ppt_y"/>
                                          </p:val>
                                        </p:tav>
                                      </p:tavLst>
                                    </p:anim>
                                    <p:animEffect transition="in" filter="fade">
                                      <p:cBhvr>
                                        <p:cTn id="7" dur="500"/>
                                        <p:tgtEl>
                                          <p:spTgt spid="5"/>
                                        </p:tgtEl>
                                      </p:cBhvr>
                                    </p:animEffect>
                                  </p:childTnLst>
                                </p:cTn>
                              </p:par>
                            </p:childTnLst>
                          </p:cTn>
                        </p:par>
                        <p:par>
                          <p:cTn id="9" fill="hold">
                            <p:stCondLst>
                              <p:cond delay="500"/>
                            </p:stCondLst>
                            <p:childTnLst>
                              <p:par>
                                <p:cTn id="13" presetID="2" presetClass="entr" presetSubtype="4"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ppt_y</p:attrName>
                                        </p:attrNameLst>
                                      </p:cBhvr>
                                      <p:tavLst>
                                        <p:tav tm="0">
                                          <p:val>
                                            <p:strVal val="#ppt_y+0.08"/>
                                          </p:val>
                                        </p:tav>
                                        <p:tav tm="100000">
                                          <p:val>
                                            <p:strVal val="#ppt_y"/>
                                          </p:val>
                                        </p:tav>
                                      </p:tavLst>
                                    </p:anim>
                                    <p:animEffect transition="in" filter="fade">
                                      <p:cBhvr>
                                        <p:cTn id="12" dur="500"/>
                                        <p:tgtEl>
                                          <p:spTgt spid="6"/>
                                        </p:tgtEl>
                                      </p:cBhvr>
                                    </p:animEffect>
                                  </p:childTnLst>
                                </p:cTn>
                              </p:par>
                            </p:childTnLst>
                          </p:cTn>
                        </p:par>
                        <p:par>
                          <p:cTn id="14" fill="hold">
                            <p:stCondLst>
                              <p:cond delay="1000"/>
                            </p:stCondLst>
                            <p:childTnLst>
                              <p:par>
                                <p:cTn id="18" presetID="2" presetClass="entr" presetSubtype="4" fill="hold" grpId="0" nodeType="after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additive="base">
                                        <p:cTn id="16" dur="500" fill="hold"/>
                                        <p:tgtEl>
                                          <p:spTgt spid="7"/>
                                        </p:tgtEl>
                                        <p:attrNameLst>
                                          <p:attrName>ppt_y</p:attrName>
                                        </p:attrNameLst>
                                      </p:cBhvr>
                                      <p:tavLst>
                                        <p:tav tm="0">
                                          <p:val>
                                            <p:strVal val="#ppt_y+0.08"/>
                                          </p:val>
                                        </p:tav>
                                        <p:tav tm="100000">
                                          <p:val>
                                            <p:strVal val="#ppt_y"/>
                                          </p:val>
                                        </p:tav>
                                      </p:tavLst>
                                    </p:anim>
                                    <p:animEffect transition="in" filter="fade">
                                      <p:cBhvr>
                                        <p:cTn id="17" dur="500"/>
                                        <p:tgtEl>
                                          <p:spTgt spid="7"/>
                                        </p:tgtEl>
                                      </p:cBhvr>
                                    </p:animEffect>
                                  </p:childTnLst>
                                </p:cTn>
                              </p:par>
                            </p:childTnLst>
                          </p:cTn>
                        </p:par>
                      </p:childTnLst>
                    </p:cTn>
                  </p:par>
                  <p:par>
                    <p:cTn id="19" fill="hold">
                      <p:stCondLst>
                        <p:cond delay="indefinite"/>
                      </p:stCondLst>
                      <p:childTnLst>
                        <p:par>
                          <p:cTn id="20" fill="hold">
                            <p:stCondLst>
                              <p:cond delay="0"/>
                            </p:stCondLst>
                            <p:childTnLst>
                              <p:par>
                                <p:cTn id="23" presetID="22" presetClass="entr" presetSubtype="8"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900"/>
                                        <p:tgtEl>
                                          <p:spTgt spid="8"/>
                                        </p:tgtEl>
                                      </p:cBhvr>
                                    </p:animEffect>
                                  </p:childTnLst>
                                </p:cTn>
                              </p:par>
                            </p:childTnLst>
                          </p:cTn>
                        </p:par>
                      </p:childTnLst>
                    </p:cTn>
                  </p:par>
                  <p:par>
                    <p:cTn id="24" fill="hold">
                      <p:stCondLst>
                        <p:cond delay="indefinite"/>
                      </p:stCondLst>
                      <p:childTnLst>
                        <p:par>
                          <p:cTn id="25" fill="hold">
                            <p:stCondLst>
                              <p:cond delay="0"/>
                            </p:stCondLst>
                            <p:childTnLst>
                              <p:par>
                                <p:cTn id="30" presetID="53" presetClass="entr" presetSubtype="16"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p:cTn id="27" dur="600" fill="hold"/>
                                        <p:tgtEl>
                                          <p:spTgt spid="9"/>
                                        </p:tgtEl>
                                        <p:attrNameLst>
                                          <p:attrName>ppt_w</p:attrName>
                                        </p:attrNameLst>
                                      </p:cBhvr>
                                      <p:tavLst>
                                        <p:tav tm="0">
                                          <p:val>
                                            <p:fltVal val="0"/>
                                          </p:val>
                                        </p:tav>
                                        <p:tav tm="100000">
                                          <p:val>
                                            <p:strVal val="#ppt_w"/>
                                          </p:val>
                                        </p:tav>
                                      </p:tavLst>
                                    </p:anim>
                                    <p:anim calcmode="lin" valueType="num">
                                      <p:cBhvr>
                                        <p:cTn id="28" dur="600" fill="hold"/>
                                        <p:tgtEl>
                                          <p:spTgt spid="9"/>
                                        </p:tgtEl>
                                        <p:attrNameLst>
                                          <p:attrName>ppt_h</p:attrName>
                                        </p:attrNameLst>
                                      </p:cBhvr>
                                      <p:tavLst>
                                        <p:tav tm="0">
                                          <p:val>
                                            <p:fltVal val="0"/>
                                          </p:val>
                                        </p:tav>
                                        <p:tav tm="100000">
                                          <p:val>
                                            <p:strVal val="#ppt_h"/>
                                          </p:val>
                                        </p:tav>
                                      </p:tavLst>
                                    </p:anim>
                                    <p:animEffect transition="in" filter="fade">
                                      <p:cBhvr>
                                        <p:cTn id="29" dur="6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GFLOP of Work ÷ TFLOPS of Speed = Time</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Like distance ÷ speed = travel time</a:t>
            </a:r>
            <a:endParaRPr lang="en-US" sz="1700" dirty="0"/>
          </a:p>
        </p:txBody>
      </p:sp>
      <p:pic>
        <p:nvPicPr>
          <p:cNvPr id="4" name="layer_0" descr="GFLOP of Work ÷ TFLOPS of Speed = Time — illustration part 1">    </p:cNvPr>
          <p:cNvPicPr>
            <a:picLocks noChangeAspect="1"/>
          </p:cNvPicPr>
          <p:nvPr/>
        </p:nvPicPr>
        <p:blipFill>
          <a:blip r:embed="rId1"/>
          <a:stretch>
            <a:fillRect/>
          </a:stretch>
        </p:blipFill>
        <p:spPr>
          <a:xfrm>
            <a:off x="1296869" y="1998016"/>
            <a:ext cx="9577804" cy="1183889"/>
          </a:xfrm>
          <a:prstGeom prst="rect">
            <a:avLst/>
          </a:prstGeom>
        </p:spPr>
      </p:pic>
      <p:pic>
        <p:nvPicPr>
          <p:cNvPr id="5" name="layer_1" descr="GFLOP of Work ÷ TFLOPS of Speed = Time — illustration part 2">    </p:cNvPr>
          <p:cNvPicPr>
            <a:picLocks noChangeAspect="1"/>
          </p:cNvPicPr>
          <p:nvPr/>
        </p:nvPicPr>
        <p:blipFill>
          <a:blip r:embed="rId2"/>
          <a:stretch>
            <a:fillRect/>
          </a:stretch>
        </p:blipFill>
        <p:spPr>
          <a:xfrm>
            <a:off x="1483286" y="3494250"/>
            <a:ext cx="9391387" cy="599501"/>
          </a:xfrm>
          <a:prstGeom prst="rect">
            <a:avLst/>
          </a:prstGeom>
        </p:spPr>
      </p:pic>
      <p:pic>
        <p:nvPicPr>
          <p:cNvPr id="6" name="layer_2" descr="GFLOP of Work ÷ TFLOPS of Speed = Time — illustration part 3">    </p:cNvPr>
          <p:cNvPicPr>
            <a:picLocks noChangeAspect="1"/>
          </p:cNvPicPr>
          <p:nvPr/>
        </p:nvPicPr>
        <p:blipFill>
          <a:blip r:embed="rId3"/>
          <a:stretch>
            <a:fillRect/>
          </a:stretch>
        </p:blipFill>
        <p:spPr>
          <a:xfrm>
            <a:off x="1493362" y="4325492"/>
            <a:ext cx="9381311" cy="599501"/>
          </a:xfrm>
          <a:prstGeom prst="rect">
            <a:avLst/>
          </a:prstGeom>
        </p:spPr>
      </p:pic>
      <p:pic>
        <p:nvPicPr>
          <p:cNvPr id="7" name="layer_3" descr="GFLOP of Work ÷ TFLOPS of Speed = Time — illustration part 4">    </p:cNvPr>
          <p:cNvPicPr>
            <a:picLocks noChangeAspect="1"/>
          </p:cNvPicPr>
          <p:nvPr/>
        </p:nvPicPr>
        <p:blipFill>
          <a:blip r:embed="rId4"/>
          <a:stretch>
            <a:fillRect/>
          </a:stretch>
        </p:blipFill>
        <p:spPr>
          <a:xfrm>
            <a:off x="4385345" y="5333057"/>
            <a:ext cx="3405889" cy="216627"/>
          </a:xfrm>
          <a:prstGeom prst="rect">
            <a:avLst/>
          </a:prstGeom>
        </p:spPr>
      </p:pic>
      <p:sp>
        <p:nvSpPr>
          <p:cNvPr id="8"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9"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One pass through an 8B model ≈ 16 GFLOP of work: ~0.016 ms on a 990-TFLOPS GPU vs ~8 ms on a 2-TFLOPS desktop</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Each weight is used once per pass through the model, for a multiply and an add — 2 FLOPs. So an 8-billion-weight model needs ~16 billion FLOPs (16 GFLOP) per pass. Divide that work by the chip's speed to get the time: this is why GPUs win on raw math.</a:t>
            </a:r>
            <a:endParaRPr lang="en-US" sz="1200" dirty="0"/>
          </a:p>
        </p:txBody>
      </p:sp>
      <p:sp>
        <p:nvSpPr>
          <p:cNvPr id="10"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5"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39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22" presetClass="entr" presetSubtype="8"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wipe(left)">
                                      <p:cBhvr>
                                        <p:cTn id="6" dur="900"/>
                                        <p:tgtEl>
                                          <p:spTgt spid="5"/>
                                        </p:tgtEl>
                                      </p:cBhvr>
                                    </p:animEffect>
                                  </p:childTnLst>
                                </p:cTn>
                              </p:par>
                            </p:childTnLst>
                          </p:cTn>
                        </p:par>
                      </p:childTnLst>
                    </p:cTn>
                  </p:par>
                  <p:par>
                    <p:cTn id="8" fill="hold">
                      <p:stCondLst>
                        <p:cond delay="indefinite"/>
                      </p:stCondLst>
                      <p:childTnLst>
                        <p:par>
                          <p:cTn id="9" fill="hold">
                            <p:stCondLst>
                              <p:cond delay="0"/>
                            </p:stCondLst>
                            <p:childTnLst>
                              <p:par>
                                <p:cTn id="12" presetID="22" presetClass="entr" presetSubtype="8"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900"/>
                                        <p:tgtEl>
                                          <p:spTgt spid="6"/>
                                        </p:tgtEl>
                                      </p:cBhvr>
                                    </p:animEffect>
                                  </p:childTnLst>
                                </p:cTn>
                              </p:par>
                            </p:childTnLst>
                          </p:cTn>
                        </p:par>
                      </p:childTnLst>
                    </p:cTn>
                  </p:par>
                  <p:par>
                    <p:cTn id="13" fill="hold">
                      <p:stCondLst>
                        <p:cond delay="indefinite"/>
                      </p:stCondLst>
                      <p:childTnLst>
                        <p:par>
                          <p:cTn id="14" fill="hold">
                            <p:stCondLst>
                              <p:cond delay="0"/>
                            </p:stCondLst>
                            <p:childTnLst>
                              <p:par>
                                <p:cTn id="19" presetID="53" presetClass="entr" presetSubtype="16"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p:cTn id="16" dur="600" fill="hold"/>
                                        <p:tgtEl>
                                          <p:spTgt spid="7"/>
                                        </p:tgtEl>
                                        <p:attrNameLst>
                                          <p:attrName>ppt_w</p:attrName>
                                        </p:attrNameLst>
                                      </p:cBhvr>
                                      <p:tavLst>
                                        <p:tav tm="0">
                                          <p:val>
                                            <p:fltVal val="0"/>
                                          </p:val>
                                        </p:tav>
                                        <p:tav tm="100000">
                                          <p:val>
                                            <p:strVal val="#ppt_w"/>
                                          </p:val>
                                        </p:tav>
                                      </p:tavLst>
                                    </p:anim>
                                    <p:anim calcmode="lin" valueType="num">
                                      <p:cBhvr>
                                        <p:cTn id="17" dur="600" fill="hold"/>
                                        <p:tgtEl>
                                          <p:spTgt spid="7"/>
                                        </p:tgtEl>
                                        <p:attrNameLst>
                                          <p:attrName>ppt_h</p:attrName>
                                        </p:attrNameLst>
                                      </p:cBhvr>
                                      <p:tavLst>
                                        <p:tav tm="0">
                                          <p:val>
                                            <p:fltVal val="0"/>
                                          </p:val>
                                        </p:tav>
                                        <p:tav tm="100000">
                                          <p:val>
                                            <p:strVal val="#ppt_h"/>
                                          </p:val>
                                        </p:tav>
                                      </p:tavLst>
                                    </p:anim>
                                    <p:animEffect transition="in" filter="fade">
                                      <p:cBhvr>
                                        <p:cTn id="18" dur="6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~100× More Math Every Second</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Even a modest NVIDIA T4 has ~2,500 cores</a:t>
            </a:r>
            <a:endParaRPr lang="en-US" sz="1700" dirty="0"/>
          </a:p>
        </p:txBody>
      </p:sp>
      <p:pic>
        <p:nvPicPr>
          <p:cNvPr id="4" name="layer_0" descr="~100× More Math Every Second — illustration part 1">    </p:cNvPr>
          <p:cNvPicPr>
            <a:picLocks noChangeAspect="1"/>
          </p:cNvPicPr>
          <p:nvPr/>
        </p:nvPicPr>
        <p:blipFill>
          <a:blip r:embed="rId1"/>
          <a:stretch>
            <a:fillRect/>
          </a:stretch>
        </p:blipFill>
        <p:spPr>
          <a:xfrm>
            <a:off x="1296869" y="2496761"/>
            <a:ext cx="2927251" cy="2080622"/>
          </a:xfrm>
          <a:prstGeom prst="rect">
            <a:avLst/>
          </a:prstGeom>
        </p:spPr>
      </p:pic>
      <p:pic>
        <p:nvPicPr>
          <p:cNvPr id="5" name="layer_1" descr="~100× More Math Every Second — illustration part 2">    </p:cNvPr>
          <p:cNvPicPr>
            <a:picLocks noChangeAspect="1"/>
          </p:cNvPicPr>
          <p:nvPr/>
        </p:nvPicPr>
        <p:blipFill>
          <a:blip r:embed="rId2"/>
          <a:stretch>
            <a:fillRect/>
          </a:stretch>
        </p:blipFill>
        <p:spPr>
          <a:xfrm>
            <a:off x="5120937" y="2169302"/>
            <a:ext cx="5743660" cy="2921939"/>
          </a:xfrm>
          <a:prstGeom prst="rect">
            <a:avLst/>
          </a:prstGeom>
        </p:spPr>
      </p:pic>
      <p:pic>
        <p:nvPicPr>
          <p:cNvPr id="6" name="layer_2" descr="~100× More Math Every Second — illustration part 3">    </p:cNvPr>
          <p:cNvPicPr>
            <a:picLocks noChangeAspect="1"/>
          </p:cNvPicPr>
          <p:nvPr/>
        </p:nvPicPr>
        <p:blipFill>
          <a:blip r:embed="rId3"/>
          <a:stretch>
            <a:fillRect/>
          </a:stretch>
        </p:blipFill>
        <p:spPr>
          <a:xfrm>
            <a:off x="5619728" y="2184415"/>
            <a:ext cx="4922417" cy="2075584"/>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CPU ≈ 1–10 trillion ops/s · data-center GPU ≈ 1,000 trillion ops/s — the GPU solves the math problem</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A modest NVIDIA T4 has about 2,500 cores. A CPU manages roughly 1–10 trillion operations per second; a data-center GPU like the H100 gets close to 1,000 trillion — about 100× more math.</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40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New Problem: Feeding the GPU</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A processor is only as fast as the data that reaches it</a:t>
            </a:r>
            <a:endParaRPr lang="en-US" sz="1700" dirty="0"/>
          </a:p>
        </p:txBody>
      </p:sp>
      <p:pic>
        <p:nvPicPr>
          <p:cNvPr id="4" name="layer_0" descr="New Problem: Feeding the GPU — illustration part 1">    </p:cNvPr>
          <p:cNvPicPr>
            <a:picLocks noChangeAspect="1"/>
          </p:cNvPicPr>
          <p:nvPr/>
        </p:nvPicPr>
        <p:blipFill>
          <a:blip r:embed="rId1"/>
          <a:stretch>
            <a:fillRect/>
          </a:stretch>
        </p:blipFill>
        <p:spPr>
          <a:xfrm>
            <a:off x="6783575" y="2496761"/>
            <a:ext cx="3758570" cy="2584405"/>
          </a:xfrm>
          <a:prstGeom prst="rect">
            <a:avLst/>
          </a:prstGeom>
        </p:spPr>
      </p:pic>
      <p:pic>
        <p:nvPicPr>
          <p:cNvPr id="5" name="layer_1" descr="New Problem: Feeding the GPU — illustration part 2">    </p:cNvPr>
          <p:cNvPicPr>
            <a:picLocks noChangeAspect="1"/>
          </p:cNvPicPr>
          <p:nvPr/>
        </p:nvPicPr>
        <p:blipFill>
          <a:blip r:embed="rId2"/>
          <a:stretch>
            <a:fillRect/>
          </a:stretch>
        </p:blipFill>
        <p:spPr>
          <a:xfrm>
            <a:off x="1468171" y="2829257"/>
            <a:ext cx="5295251" cy="1239305"/>
          </a:xfrm>
          <a:prstGeom prst="rect">
            <a:avLst/>
          </a:prstGeom>
        </p:spPr>
      </p:pic>
      <p:pic>
        <p:nvPicPr>
          <p:cNvPr id="6" name="layer_2" descr="New Problem: Feeding the GPU — illustration part 3">    </p:cNvPr>
          <p:cNvPicPr>
            <a:picLocks noChangeAspect="1"/>
          </p:cNvPicPr>
          <p:nvPr/>
        </p:nvPicPr>
        <p:blipFill>
          <a:blip r:embed="rId3"/>
          <a:stretch>
            <a:fillRect/>
          </a:stretch>
        </p:blipFill>
        <p:spPr>
          <a:xfrm>
            <a:off x="2682401" y="4642875"/>
            <a:ext cx="2312579" cy="463480"/>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The GPU's food is the model's weights — billions of numbers that must be delivered to the cores</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Fast cores create a new problem: they need data to work on. For a model, that data is the weights — billions of numbers that must be delivered to the cores.</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41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System RAM Is Too Far Away</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A narrow pipe: ~64 GB/s, about 50× slower than the cores can eat</a:t>
            </a:r>
            <a:endParaRPr lang="en-US" sz="1700" dirty="0"/>
          </a:p>
        </p:txBody>
      </p:sp>
      <p:pic>
        <p:nvPicPr>
          <p:cNvPr id="4" name="layer_0" descr="System RAM Is Too Far Away — illustration part 1">    </p:cNvPr>
          <p:cNvPicPr>
            <a:picLocks noChangeAspect="1"/>
          </p:cNvPicPr>
          <p:nvPr/>
        </p:nvPicPr>
        <p:blipFill>
          <a:blip r:embed="rId1"/>
          <a:stretch>
            <a:fillRect/>
          </a:stretch>
        </p:blipFill>
        <p:spPr>
          <a:xfrm>
            <a:off x="1296869" y="2496761"/>
            <a:ext cx="9577804" cy="2337551"/>
          </a:xfrm>
          <a:prstGeom prst="rect">
            <a:avLst/>
          </a:prstGeom>
        </p:spPr>
      </p:pic>
      <p:pic>
        <p:nvPicPr>
          <p:cNvPr id="5" name="layer_1" descr="System RAM Is Too Far Away — illustration part 2">    </p:cNvPr>
          <p:cNvPicPr>
            <a:picLocks noChangeAspect="1"/>
          </p:cNvPicPr>
          <p:nvPr/>
        </p:nvPicPr>
        <p:blipFill>
          <a:blip r:embed="rId2"/>
          <a:stretch>
            <a:fillRect/>
          </a:stretch>
        </p:blipFill>
        <p:spPr>
          <a:xfrm>
            <a:off x="3211422" y="3297775"/>
            <a:ext cx="4353089" cy="473556"/>
          </a:xfrm>
          <a:prstGeom prst="rect">
            <a:avLst/>
          </a:prstGeom>
        </p:spPr>
      </p:pic>
      <p:pic>
        <p:nvPicPr>
          <p:cNvPr id="6" name="layer_2" descr="System RAM Is Too Far Away — illustration part 3">    </p:cNvPr>
          <p:cNvPicPr>
            <a:picLocks noChangeAspect="1"/>
          </p:cNvPicPr>
          <p:nvPr/>
        </p:nvPicPr>
        <p:blipFill>
          <a:blip r:embed="rId3"/>
          <a:stretch>
            <a:fillRect/>
          </a:stretch>
        </p:blipFill>
        <p:spPr>
          <a:xfrm>
            <a:off x="4692682" y="2038318"/>
            <a:ext cx="5637855" cy="3294738"/>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Fine for a CPU doing a few things — but thousands of GPU cores end up sitting idle</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Leave the weights in system RAM and they arrive through a narrow ~64 GB/s pipe — about 50× slower than the cores can use them. So the cores sit idle, waiting.</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42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VRAM: Give the GPU Its Own Memory</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Built right onto the card, right next to the cores</a:t>
            </a:r>
            <a:endParaRPr lang="en-US" sz="1700" dirty="0"/>
          </a:p>
        </p:txBody>
      </p:sp>
      <p:pic>
        <p:nvPicPr>
          <p:cNvPr id="4" name="layer_0" descr="VRAM: Give the GPU Its Own Memory — illustration part 1">    </p:cNvPr>
          <p:cNvPicPr>
            <a:picLocks noChangeAspect="1"/>
          </p:cNvPicPr>
          <p:nvPr/>
        </p:nvPicPr>
        <p:blipFill>
          <a:blip r:embed="rId1"/>
          <a:stretch>
            <a:fillRect/>
          </a:stretch>
        </p:blipFill>
        <p:spPr>
          <a:xfrm>
            <a:off x="1226333" y="1856957"/>
            <a:ext cx="4327898" cy="2881637"/>
          </a:xfrm>
          <a:prstGeom prst="rect">
            <a:avLst/>
          </a:prstGeom>
        </p:spPr>
      </p:pic>
      <p:pic>
        <p:nvPicPr>
          <p:cNvPr id="5" name="layer_1" descr="VRAM: Give the GPU Its Own Memory — illustration part 2">    </p:cNvPr>
          <p:cNvPicPr>
            <a:picLocks noChangeAspect="1"/>
          </p:cNvPicPr>
          <p:nvPr/>
        </p:nvPicPr>
        <p:blipFill>
          <a:blip r:embed="rId2"/>
          <a:stretch>
            <a:fillRect/>
          </a:stretch>
        </p:blipFill>
        <p:spPr>
          <a:xfrm>
            <a:off x="6123558" y="1831767"/>
            <a:ext cx="4584851" cy="3657462"/>
          </a:xfrm>
          <a:prstGeom prst="rect">
            <a:avLst/>
          </a:prstGeom>
        </p:spPr>
      </p:pic>
      <p:sp>
        <p:nvSpPr>
          <p:cNvPr id="6"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7"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Same processor-plus-memory pairing you already know — just packed tightly onto one board</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The fix is VRAM: memory built right onto the GPU card, next to the cores. It's the same processor-plus-memory pairing as a CPU and RAM, just packed tightly together.</a:t>
            </a:r>
            <a:endParaRPr lang="en-US" sz="1200" dirty="0"/>
          </a:p>
        </p:txBody>
      </p:sp>
      <p:sp>
        <p:nvSpPr>
          <p:cNvPr id="8"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3"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43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Bandwidth in Numbers: Straw vs Fire Hose</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How long does it take to move 16 GB of weights once?</a:t>
            </a:r>
            <a:endParaRPr lang="en-US" sz="1700" dirty="0"/>
          </a:p>
        </p:txBody>
      </p:sp>
      <p:pic>
        <p:nvPicPr>
          <p:cNvPr id="4" name="layer_0" descr="Bandwidth in Numbers: Straw vs Fire Hose — illustration part 1">    </p:cNvPr>
          <p:cNvPicPr>
            <a:picLocks noChangeAspect="1"/>
          </p:cNvPicPr>
          <p:nvPr/>
        </p:nvPicPr>
        <p:blipFill>
          <a:blip r:embed="rId1"/>
          <a:stretch>
            <a:fillRect/>
          </a:stretch>
        </p:blipFill>
        <p:spPr>
          <a:xfrm>
            <a:off x="1463133" y="2108848"/>
            <a:ext cx="8066315" cy="700258"/>
          </a:xfrm>
          <a:prstGeom prst="rect">
            <a:avLst/>
          </a:prstGeom>
        </p:spPr>
      </p:pic>
      <p:pic>
        <p:nvPicPr>
          <p:cNvPr id="5" name="layer_1" descr="Bandwidth in Numbers: Straw vs Fire Hose — illustration part 2">    </p:cNvPr>
          <p:cNvPicPr>
            <a:picLocks noChangeAspect="1"/>
          </p:cNvPicPr>
          <p:nvPr/>
        </p:nvPicPr>
        <p:blipFill>
          <a:blip r:embed="rId2"/>
          <a:stretch>
            <a:fillRect/>
          </a:stretch>
        </p:blipFill>
        <p:spPr>
          <a:xfrm>
            <a:off x="1458094" y="3272586"/>
            <a:ext cx="8182196" cy="1319911"/>
          </a:xfrm>
          <a:prstGeom prst="rect">
            <a:avLst/>
          </a:prstGeom>
        </p:spPr>
      </p:pic>
      <p:pic>
        <p:nvPicPr>
          <p:cNvPr id="6" name="layer_2" descr="Bandwidth in Numbers: Straw vs Fire Hose — illustration part 3">    </p:cNvPr>
          <p:cNvPicPr>
            <a:picLocks noChangeAspect="1"/>
          </p:cNvPicPr>
          <p:nvPr/>
        </p:nvPicPr>
        <p:blipFill>
          <a:blip r:embed="rId3"/>
          <a:stretch>
            <a:fillRect/>
          </a:stretch>
        </p:blipFill>
        <p:spPr>
          <a:xfrm>
            <a:off x="2128188" y="4738593"/>
            <a:ext cx="8247694" cy="851393"/>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Reading all 16 GB once: ~0.25 s from system RAM vs ~5 ms from VRAM — about 50× faster</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Through a 64 GB/s 'straw', reading a 16 GB model once takes a quarter of a second. Through a ~3,000 GB/s 'fire hose' it takes about 5 milliseconds. Later we'll see the model must be read like this again and again — so this gap matters enormously.</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44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22" presetClass="entr" presetSubtype="8"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wipe(left)">
                                      <p:cBhvr>
                                        <p:cTn id="6" dur="400"/>
                                        <p:tgtEl>
                                          <p:spTgt spid="5"/>
                                        </p:tgtEl>
                                      </p:cBhvr>
                                    </p:animEffect>
                                  </p:childTnLst>
                                </p:cTn>
                              </p:par>
                            </p:childTnLst>
                          </p:cTn>
                        </p:par>
                      </p:childTnLst>
                    </p:cTn>
                  </p:par>
                  <p:par>
                    <p:cTn id="8" fill="hold">
                      <p:stCondLst>
                        <p:cond delay="indefinite"/>
                      </p:stCondLst>
                      <p:childTnLst>
                        <p:par>
                          <p:cTn id="9" fill="hold">
                            <p:stCondLst>
                              <p:cond delay="0"/>
                            </p:stCondLst>
                            <p:childTnLst>
                              <p:par>
                                <p:cTn id="14" presetID="53" presetClass="entr" presetSubtype="16"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600" fill="hold"/>
                                        <p:tgtEl>
                                          <p:spTgt spid="6"/>
                                        </p:tgtEl>
                                        <p:attrNameLst>
                                          <p:attrName>ppt_w</p:attrName>
                                        </p:attrNameLst>
                                      </p:cBhvr>
                                      <p:tavLst>
                                        <p:tav tm="0">
                                          <p:val>
                                            <p:fltVal val="0"/>
                                          </p:val>
                                        </p:tav>
                                        <p:tav tm="100000">
                                          <p:val>
                                            <p:strVal val="#ppt_w"/>
                                          </p:val>
                                        </p:tav>
                                      </p:tavLst>
                                    </p:anim>
                                    <p:anim calcmode="lin" valueType="num">
                                      <p:cBhvr>
                                        <p:cTn id="12" dur="600" fill="hold"/>
                                        <p:tgtEl>
                                          <p:spTgt spid="6"/>
                                        </p:tgtEl>
                                        <p:attrNameLst>
                                          <p:attrName>ppt_h</p:attrName>
                                        </p:attrNameLst>
                                      </p:cBhvr>
                                      <p:tavLst>
                                        <p:tav tm="0">
                                          <p:val>
                                            <p:fltVal val="0"/>
                                          </p:val>
                                        </p:tav>
                                        <p:tav tm="100000">
                                          <p:val>
                                            <p:strVal val="#ppt_h"/>
                                          </p:val>
                                        </p:tav>
                                      </p:tavLst>
                                    </p:anim>
                                    <p:animEffect transition="in" filter="fade">
                                      <p:cBhvr>
                                        <p:cTn id="13"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The Catch: VRAM Is Fast but Small</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A T4 has only 16 GB</a:t>
            </a:r>
            <a:endParaRPr lang="en-US" sz="1700" dirty="0"/>
          </a:p>
        </p:txBody>
      </p:sp>
      <p:pic>
        <p:nvPicPr>
          <p:cNvPr id="4" name="layer_0" descr="The Catch: VRAM Is Fast but Small — illustration part 1">    </p:cNvPr>
          <p:cNvPicPr>
            <a:picLocks noChangeAspect="1"/>
          </p:cNvPicPr>
          <p:nvPr/>
        </p:nvPicPr>
        <p:blipFill>
          <a:blip r:embed="rId1"/>
          <a:stretch>
            <a:fillRect/>
          </a:stretch>
        </p:blipFill>
        <p:spPr>
          <a:xfrm>
            <a:off x="1795660" y="3660498"/>
            <a:ext cx="1597140" cy="1788428"/>
          </a:xfrm>
          <a:prstGeom prst="rect">
            <a:avLst/>
          </a:prstGeom>
        </p:spPr>
      </p:pic>
      <p:pic>
        <p:nvPicPr>
          <p:cNvPr id="5" name="layer_1" descr="The Catch: VRAM Is Fast but Small — illustration part 2">    </p:cNvPr>
          <p:cNvPicPr>
            <a:picLocks noChangeAspect="1"/>
          </p:cNvPicPr>
          <p:nvPr/>
        </p:nvPicPr>
        <p:blipFill>
          <a:blip r:embed="rId2"/>
          <a:stretch>
            <a:fillRect/>
          </a:stretch>
        </p:blipFill>
        <p:spPr>
          <a:xfrm>
            <a:off x="3493567" y="1998016"/>
            <a:ext cx="5718468" cy="3425722"/>
          </a:xfrm>
          <a:prstGeom prst="rect">
            <a:avLst/>
          </a:prstGeom>
        </p:spPr>
      </p:pic>
      <p:pic>
        <p:nvPicPr>
          <p:cNvPr id="6" name="layer_2" descr="The Catch: VRAM Is Fast but Small — illustration part 3">    </p:cNvPr>
          <p:cNvPicPr>
            <a:picLocks noChangeAspect="1"/>
          </p:cNvPicPr>
          <p:nvPr/>
        </p:nvPicPr>
        <p:blipFill>
          <a:blip r:embed="rId3"/>
          <a:stretch>
            <a:fillRect/>
          </a:stretch>
        </p:blipFill>
        <p:spPr>
          <a:xfrm>
            <a:off x="9690673" y="2819181"/>
            <a:ext cx="932085" cy="745598"/>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A 70-billion-weight model needs ~140 GB — VRAM space is precious</a:t>
            </a:r>
            <a:endParaRPr lang="en-US" sz="1200" dirty="0"/>
          </a:p>
          <a:p>
            <a:pPr indent="0" marL="0">
              <a:spcAft>
                <a:spcPts val="200"/>
              </a:spcAft>
              <a:buNone/>
            </a:pPr>
            <a:r>
              <a:rPr lang="en-US" sz="1200" dirty="0">
                <a:solidFill>
                  <a:srgbClr val="C9D6EA"/>
                </a:solidFill>
                <a:latin typeface="Calibri" pitchFamily="34" charset="0"/>
                <a:ea typeface="Calibri" pitchFamily="34" charset="-122"/>
                <a:cs typeface="Calibri" pitchFamily="34" charset="-120"/>
              </a:rPr>
              <a:t>VRAM is fast but small: a T4 has just 16 GB, while a 70B model needs ~140 GB. Space in VRAM is precious — later we'll split big models across GPUs.</a:t>
            </a:r>
            <a:endParaRPr lang="en-US" sz="1200" dirty="0"/>
          </a:p>
          <a:p>
            <a:pPr indent="0" marL="0">
              <a:spcAft>
                <a:spcPts val="200"/>
              </a:spcAft>
              <a:buNone/>
            </a:pPr>
            <a:r>
              <a:rPr lang="en-US" sz="1200" b="1" dirty="0">
                <a:solidFill>
                  <a:srgbClr val="5EE6A8"/>
                </a:solidFill>
                <a:latin typeface="Calibri" pitchFamily="34" charset="0"/>
                <a:ea typeface="Calibri" pitchFamily="34" charset="-122"/>
                <a:cs typeface="Calibri" pitchFamily="34" charset="-120"/>
              </a:rPr>
              <a:t>➜ How we'll fix it:  Chapter 6 splits giant models across several GPUs (sharding).</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45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Three Numbers Size Every AI Workload</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Every card you'll ever meet is described by these three</a:t>
            </a:r>
            <a:endParaRPr lang="en-US" sz="1700" dirty="0"/>
          </a:p>
        </p:txBody>
      </p:sp>
      <p:pic>
        <p:nvPicPr>
          <p:cNvPr id="4" name="layer_0" descr="Three Numbers Size Every AI Workload — illustration part 1">    </p:cNvPr>
          <p:cNvPicPr>
            <a:picLocks noChangeAspect="1"/>
          </p:cNvPicPr>
          <p:nvPr/>
        </p:nvPicPr>
        <p:blipFill>
          <a:blip r:embed="rId1"/>
          <a:stretch>
            <a:fillRect/>
          </a:stretch>
        </p:blipFill>
        <p:spPr>
          <a:xfrm>
            <a:off x="1463133" y="2164264"/>
            <a:ext cx="2927251" cy="3093225"/>
          </a:xfrm>
          <a:prstGeom prst="rect">
            <a:avLst/>
          </a:prstGeom>
        </p:spPr>
      </p:pic>
      <p:pic>
        <p:nvPicPr>
          <p:cNvPr id="5" name="layer_1" descr="Three Numbers Size Every AI Workload — illustration part 2">    </p:cNvPr>
          <p:cNvPicPr>
            <a:picLocks noChangeAspect="1"/>
          </p:cNvPicPr>
          <p:nvPr/>
        </p:nvPicPr>
        <p:blipFill>
          <a:blip r:embed="rId2"/>
          <a:stretch>
            <a:fillRect/>
          </a:stretch>
        </p:blipFill>
        <p:spPr>
          <a:xfrm>
            <a:off x="4702758" y="2164264"/>
            <a:ext cx="2932289" cy="3093225"/>
          </a:xfrm>
          <a:prstGeom prst="rect">
            <a:avLst/>
          </a:prstGeom>
        </p:spPr>
      </p:pic>
      <p:pic>
        <p:nvPicPr>
          <p:cNvPr id="6" name="layer_2" descr="Three Numbers Size Every AI Workload — illustration part 3">    </p:cNvPr>
          <p:cNvPicPr>
            <a:picLocks noChangeAspect="1"/>
          </p:cNvPicPr>
          <p:nvPr/>
        </p:nvPicPr>
        <p:blipFill>
          <a:blip r:embed="rId3"/>
          <a:stretch>
            <a:fillRect/>
          </a:stretch>
        </p:blipFill>
        <p:spPr>
          <a:xfrm>
            <a:off x="7947422" y="2164264"/>
            <a:ext cx="2927251" cy="3093225"/>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Each new GPU generation adds more of all three</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Compute is how much math a card can do, capacity is how much fits in its memory, and bandwidth is how fast it reads that memory. Every card is described by these three.</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46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What Is a Rack Server?</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The computers that live in data centers</a:t>
            </a:r>
            <a:endParaRPr lang="en-US" sz="1700" dirty="0"/>
          </a:p>
        </p:txBody>
      </p:sp>
      <p:pic>
        <p:nvPicPr>
          <p:cNvPr id="4" name="layer_0" descr="What Is a Rack Server? — illustration part 1">    </p:cNvPr>
          <p:cNvPicPr>
            <a:picLocks noChangeAspect="1"/>
          </p:cNvPicPr>
          <p:nvPr/>
        </p:nvPicPr>
        <p:blipFill>
          <a:blip r:embed="rId1"/>
          <a:stretch>
            <a:fillRect/>
          </a:stretch>
        </p:blipFill>
        <p:spPr>
          <a:xfrm>
            <a:off x="1463133" y="1715897"/>
            <a:ext cx="2539302" cy="3793483"/>
          </a:xfrm>
          <a:prstGeom prst="rect">
            <a:avLst/>
          </a:prstGeom>
        </p:spPr>
      </p:pic>
      <p:pic>
        <p:nvPicPr>
          <p:cNvPr id="5" name="layer_1" descr="What Is a Rack Server? — illustration part 2">    </p:cNvPr>
          <p:cNvPicPr>
            <a:picLocks noChangeAspect="1"/>
          </p:cNvPicPr>
          <p:nvPr/>
        </p:nvPicPr>
        <p:blipFill>
          <a:blip r:embed="rId2"/>
          <a:stretch>
            <a:fillRect/>
          </a:stretch>
        </p:blipFill>
        <p:spPr>
          <a:xfrm>
            <a:off x="3307150" y="3267548"/>
            <a:ext cx="4907302" cy="2171303"/>
          </a:xfrm>
          <a:prstGeom prst="rect">
            <a:avLst/>
          </a:prstGeom>
        </p:spPr>
      </p:pic>
      <p:pic>
        <p:nvPicPr>
          <p:cNvPr id="6" name="layer_2" descr="What Is a Rack Server? — illustration part 3">    </p:cNvPr>
          <p:cNvPicPr>
            <a:picLocks noChangeAspect="1"/>
          </p:cNvPicPr>
          <p:nvPr/>
        </p:nvPicPr>
        <p:blipFill>
          <a:blip r:embed="rId3"/>
          <a:stretch>
            <a:fillRect/>
          </a:stretch>
        </p:blipFill>
        <p:spPr>
          <a:xfrm>
            <a:off x="8516750" y="2224718"/>
            <a:ext cx="2116085" cy="2030244"/>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A flat, powerful computer that slides into a tall metal rack — no screen, no keyboard, always on</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Data centers don't use tower PCs. They use flat servers (1U = 1.75 inches tall) stacked in standard 42U racks. Each has CPUs, lots of RAM, drives, fans and two power supplies, is managed over the network, and runs 24/7 for many users.</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47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2" presetClass="entr" presetSubtype="4"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additive="base">
                                        <p:cTn id="6" dur="600" fill="hold"/>
                                        <p:tgtEl>
                                          <p:spTgt spid="5"/>
                                        </p:tgtEl>
                                        <p:attrNameLst>
                                          <p:attrName>ppt_y</p:attrName>
                                        </p:attrNameLst>
                                      </p:cBhvr>
                                      <p:tavLst>
                                        <p:tav tm="0">
                                          <p:val>
                                            <p:strVal val="#ppt_y+0.08"/>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3"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9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Desktop vs Rack Server</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Same idea (CPU + RAM), built for very different jobs</a:t>
            </a:r>
            <a:endParaRPr lang="en-US" sz="1700" dirty="0"/>
          </a:p>
        </p:txBody>
      </p:sp>
      <p:pic>
        <p:nvPicPr>
          <p:cNvPr id="4" name="layer_0" descr="Desktop vs Rack Server — illustration part 1">    </p:cNvPr>
          <p:cNvPicPr>
            <a:picLocks noChangeAspect="1"/>
          </p:cNvPicPr>
          <p:nvPr/>
        </p:nvPicPr>
        <p:blipFill>
          <a:blip r:embed="rId1"/>
          <a:stretch>
            <a:fillRect/>
          </a:stretch>
        </p:blipFill>
        <p:spPr>
          <a:xfrm>
            <a:off x="1322060" y="1746124"/>
            <a:ext cx="8650758" cy="3254436"/>
          </a:xfrm>
          <a:prstGeom prst="rect">
            <a:avLst/>
          </a:prstGeom>
        </p:spPr>
      </p:pic>
      <p:pic>
        <p:nvPicPr>
          <p:cNvPr id="5" name="layer_1" descr="Desktop vs Rack Server — illustration part 2">    </p:cNvPr>
          <p:cNvPicPr>
            <a:picLocks noChangeAspect="1"/>
          </p:cNvPicPr>
          <p:nvPr/>
        </p:nvPicPr>
        <p:blipFill>
          <a:blip r:embed="rId2"/>
          <a:stretch>
            <a:fillRect/>
          </a:stretch>
        </p:blipFill>
        <p:spPr>
          <a:xfrm>
            <a:off x="8164069" y="2924976"/>
            <a:ext cx="1667677" cy="2075584"/>
          </a:xfrm>
          <a:prstGeom prst="rect">
            <a:avLst/>
          </a:prstGeom>
        </p:spPr>
      </p:pic>
      <p:pic>
        <p:nvPicPr>
          <p:cNvPr id="6" name="layer_2" descr="Desktop vs Rack Server — illustration part 3">    </p:cNvPr>
          <p:cNvPicPr>
            <a:picLocks noChangeAspect="1"/>
          </p:cNvPicPr>
          <p:nvPr/>
        </p:nvPicPr>
        <p:blipFill>
          <a:blip r:embed="rId3"/>
          <a:stretch>
            <a:fillRect/>
          </a:stretch>
        </p:blipFill>
        <p:spPr>
          <a:xfrm>
            <a:off x="3125771" y="5197036"/>
            <a:ext cx="6086264" cy="508820"/>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Both are CPU machines — a rack server is bigger and always on, but still nowhere near a GPU</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A desktop serves one person and does about 1–3 TFLOPS with ~0.09 TB/s of memory bandwidth. A rack server serves many people 24/7, with far more RAM, 5–10 TFLOPS and ~0.5 TB/s. Both are tiny next to data-center GPUs, which we meet next.</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48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22" presetClass="entr" presetSubtype="8"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wipe(left)">
                                      <p:cBhvr>
                                        <p:cTn id="6" dur="1000"/>
                                        <p:tgtEl>
                                          <p:spTgt spid="5"/>
                                        </p:tgtEl>
                                      </p:cBhvr>
                                    </p:animEffect>
                                  </p:childTnLst>
                                </p:cTn>
                              </p:par>
                            </p:childTnLst>
                          </p:cTn>
                        </p:par>
                      </p:childTnLst>
                    </p:cTn>
                  </p:par>
                  <p:par>
                    <p:cTn id="8" fill="hold">
                      <p:stCondLst>
                        <p:cond delay="indefinite"/>
                      </p:stCondLst>
                      <p:childTnLst>
                        <p:par>
                          <p:cTn id="9" fill="hold">
                            <p:stCondLst>
                              <p:cond delay="0"/>
                            </p:stCondLst>
                            <p:childTnLst>
                              <p:par>
                                <p:cTn id="14" presetID="53" presetClass="entr" presetSubtype="16"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600" fill="hold"/>
                                        <p:tgtEl>
                                          <p:spTgt spid="6"/>
                                        </p:tgtEl>
                                        <p:attrNameLst>
                                          <p:attrName>ppt_w</p:attrName>
                                        </p:attrNameLst>
                                      </p:cBhvr>
                                      <p:tavLst>
                                        <p:tav tm="0">
                                          <p:val>
                                            <p:fltVal val="0"/>
                                          </p:val>
                                        </p:tav>
                                        <p:tav tm="100000">
                                          <p:val>
                                            <p:strVal val="#ppt_w"/>
                                          </p:val>
                                        </p:tav>
                                      </p:tavLst>
                                    </p:anim>
                                    <p:anim calcmode="lin" valueType="num">
                                      <p:cBhvr>
                                        <p:cTn id="12" dur="600" fill="hold"/>
                                        <p:tgtEl>
                                          <p:spTgt spid="6"/>
                                        </p:tgtEl>
                                        <p:attrNameLst>
                                          <p:attrName>ppt_h</p:attrName>
                                        </p:attrNameLst>
                                      </p:cBhvr>
                                      <p:tavLst>
                                        <p:tav tm="0">
                                          <p:val>
                                            <p:fltVal val="0"/>
                                          </p:val>
                                        </p:tav>
                                        <p:tav tm="100000">
                                          <p:val>
                                            <p:strVal val="#ppt_h"/>
                                          </p:val>
                                        </p:tav>
                                      </p:tavLst>
                                    </p:anim>
                                    <p:animEffect transition="in" filter="fade">
                                      <p:cBhvr>
                                        <p:cTn id="13"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Data-Center GPUs: A100 → H100 → H200</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This is where the numbers jump</a:t>
            </a:r>
            <a:endParaRPr lang="en-US" sz="1700" dirty="0"/>
          </a:p>
        </p:txBody>
      </p:sp>
      <p:pic>
        <p:nvPicPr>
          <p:cNvPr id="4" name="layer_0" descr="Data-Center GPUs: A100 → H100 → H200 — illustration part 1">    </p:cNvPr>
          <p:cNvPicPr>
            <a:picLocks noChangeAspect="1"/>
          </p:cNvPicPr>
          <p:nvPr/>
        </p:nvPicPr>
        <p:blipFill>
          <a:blip r:embed="rId1"/>
          <a:stretch>
            <a:fillRect/>
          </a:stretch>
        </p:blipFill>
        <p:spPr>
          <a:xfrm>
            <a:off x="1463133" y="1872070"/>
            <a:ext cx="2760987" cy="3420684"/>
          </a:xfrm>
          <a:prstGeom prst="rect">
            <a:avLst/>
          </a:prstGeom>
        </p:spPr>
      </p:pic>
      <p:pic>
        <p:nvPicPr>
          <p:cNvPr id="5" name="layer_1" descr="Data-Center GPUs: A100 → H100 → H200 — illustration part 2">    </p:cNvPr>
          <p:cNvPicPr>
            <a:picLocks noChangeAspect="1"/>
          </p:cNvPicPr>
          <p:nvPr/>
        </p:nvPicPr>
        <p:blipFill>
          <a:blip r:embed="rId2"/>
          <a:stretch>
            <a:fillRect/>
          </a:stretch>
        </p:blipFill>
        <p:spPr>
          <a:xfrm>
            <a:off x="4702758" y="1872070"/>
            <a:ext cx="2766026" cy="3420684"/>
          </a:xfrm>
          <a:prstGeom prst="rect">
            <a:avLst/>
          </a:prstGeom>
        </p:spPr>
      </p:pic>
      <p:pic>
        <p:nvPicPr>
          <p:cNvPr id="6" name="layer_2" descr="Data-Center GPUs: A100 → H100 → H200 — illustration part 3">    </p:cNvPr>
          <p:cNvPicPr>
            <a:picLocks noChangeAspect="1"/>
          </p:cNvPicPr>
          <p:nvPr/>
        </p:nvPicPr>
        <p:blipFill>
          <a:blip r:embed="rId3"/>
          <a:stretch>
            <a:fillRect/>
          </a:stretch>
        </p:blipFill>
        <p:spPr>
          <a:xfrm>
            <a:off x="7947422" y="1872070"/>
            <a:ext cx="2760987" cy="3420684"/>
          </a:xfrm>
          <a:prstGeom prst="rect">
            <a:avLst/>
          </a:prstGeom>
        </p:spPr>
      </p:pic>
      <p:pic>
        <p:nvPicPr>
          <p:cNvPr id="7" name="layer_3" descr="Data-Center GPUs: A100 → H100 → H200 — illustration part 4">    </p:cNvPr>
          <p:cNvPicPr>
            <a:picLocks noChangeAspect="1"/>
          </p:cNvPicPr>
          <p:nvPr/>
        </p:nvPicPr>
        <p:blipFill>
          <a:blip r:embed="rId4"/>
          <a:stretch>
            <a:fillRect/>
          </a:stretch>
        </p:blipFill>
        <p:spPr>
          <a:xfrm>
            <a:off x="7947422" y="4446399"/>
            <a:ext cx="2680375" cy="1199003"/>
          </a:xfrm>
          <a:prstGeom prst="rect">
            <a:avLst/>
          </a:prstGeom>
        </p:spPr>
      </p:pic>
      <p:sp>
        <p:nvSpPr>
          <p:cNvPr id="8"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9"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H100 and H200 share ~990 TFLOPS — the H200's big upgrade is memory: 141 GB vs 80 GB</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An A100 offers 312 TFLOPS, 80 GB and ~2 TB/s. H100 and H200 both reach ~990 TFLOPS; the H200 mainly adds memory — 141 GB instead of 80 GB.</a:t>
            </a:r>
            <a:endParaRPr lang="en-US" sz="1200" dirty="0"/>
          </a:p>
        </p:txBody>
      </p:sp>
      <p:sp>
        <p:nvSpPr>
          <p:cNvPr id="10"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5"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49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par>
                    <p:cTn id="15" fill="hold">
                      <p:stCondLst>
                        <p:cond delay="indefinite"/>
                      </p:stCondLst>
                      <p:childTnLst>
                        <p:par>
                          <p:cTn id="16" fill="hold">
                            <p:stCondLst>
                              <p:cond delay="0"/>
                            </p:stCondLst>
                            <p:childTnLst>
                              <p:par>
                                <p:cTn id="20" presetID="42"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p:cTn id="18" dur="600" fill="hold"/>
                                        <p:tgtEl>
                                          <p:spTgt spid="7"/>
                                        </p:tgtEl>
                                        <p:attrNameLst>
                                          <p:attrName>ppt_y</p:attrName>
                                        </p:attrNameLst>
                                      </p:cBhvr>
                                      <p:tavLst>
                                        <p:tav tm="0">
                                          <p:val>
                                            <p:strVal val="#ppt_y+0.03"/>
                                          </p:val>
                                        </p:tav>
                                        <p:tav tm="100000">
                                          <p:val>
                                            <p:strVal val="#ppt_y"/>
                                          </p:val>
                                        </p:tav>
                                      </p:tavLst>
                                    </p:anim>
                                    <p:animEffect transition="in" filter="fade">
                                      <p:cBhvr>
                                        <p:cTn id="19" dur="6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B200 — and the Big Picture</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Compute grows ~1,000× from a desktop to a B200</a:t>
            </a:r>
            <a:endParaRPr lang="en-US" sz="1700" dirty="0"/>
          </a:p>
        </p:txBody>
      </p:sp>
      <p:pic>
        <p:nvPicPr>
          <p:cNvPr id="4" name="layer_0" descr="B200 — and the Big Picture — illustration part 1">    </p:cNvPr>
          <p:cNvPicPr>
            <a:picLocks noChangeAspect="1"/>
          </p:cNvPicPr>
          <p:nvPr/>
        </p:nvPicPr>
        <p:blipFill>
          <a:blip r:embed="rId1"/>
          <a:stretch>
            <a:fillRect/>
          </a:stretch>
        </p:blipFill>
        <p:spPr>
          <a:xfrm>
            <a:off x="1296869" y="2330512"/>
            <a:ext cx="2594723" cy="2574329"/>
          </a:xfrm>
          <a:prstGeom prst="rect">
            <a:avLst/>
          </a:prstGeom>
        </p:spPr>
      </p:pic>
      <p:pic>
        <p:nvPicPr>
          <p:cNvPr id="5" name="layer_1" descr="B200 — and the Big Picture — illustration part 2">    </p:cNvPr>
          <p:cNvPicPr>
            <a:picLocks noChangeAspect="1"/>
          </p:cNvPicPr>
          <p:nvPr/>
        </p:nvPicPr>
        <p:blipFill>
          <a:blip r:embed="rId2"/>
          <a:stretch>
            <a:fillRect/>
          </a:stretch>
        </p:blipFill>
        <p:spPr>
          <a:xfrm>
            <a:off x="4622145" y="2118924"/>
            <a:ext cx="6408715" cy="3445873"/>
          </a:xfrm>
          <a:prstGeom prst="rect">
            <a:avLst/>
          </a:prstGeom>
        </p:spPr>
      </p:pic>
      <p:sp>
        <p:nvSpPr>
          <p:cNvPr id="6"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7"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B200: ~2,250 TFLOPS · ~192 GB VRAM · ~8 TB/s — and a desktop barely registers on this chart</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The B200 reaches ~2,250 TFLOPS with ~192 GB of VRAM and ~8 TB/s. On the same chart, a desktop's compute barely shows up.</a:t>
            </a:r>
            <a:endParaRPr lang="en-US" sz="1200" dirty="0"/>
          </a:p>
        </p:txBody>
      </p:sp>
      <p:sp>
        <p:nvSpPr>
          <p:cNvPr id="8"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3"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50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Quick Check: Hardware</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Think about each question first — then click to reveal the answer</a:t>
            </a:r>
            <a:endParaRPr lang="en-US" sz="1700" dirty="0"/>
          </a:p>
        </p:txBody>
      </p:sp>
      <p:pic>
        <p:nvPicPr>
          <p:cNvPr id="4" name="layer_0" descr="Quick Check: Hardware — illustration part 1">    </p:cNvPr>
          <p:cNvPicPr>
            <a:picLocks noChangeAspect="1"/>
          </p:cNvPicPr>
          <p:nvPr/>
        </p:nvPicPr>
        <p:blipFill>
          <a:blip r:embed="rId1"/>
          <a:stretch>
            <a:fillRect/>
          </a:stretch>
        </p:blipFill>
        <p:spPr>
          <a:xfrm>
            <a:off x="1221294" y="1998016"/>
            <a:ext cx="4917379" cy="3259474"/>
          </a:xfrm>
          <a:prstGeom prst="rect">
            <a:avLst/>
          </a:prstGeom>
        </p:spPr>
      </p:pic>
      <p:pic>
        <p:nvPicPr>
          <p:cNvPr id="5" name="layer_1" descr="Quick Check: Hardware — illustration part 2">    </p:cNvPr>
          <p:cNvPicPr>
            <a:picLocks noChangeAspect="1"/>
          </p:cNvPicPr>
          <p:nvPr/>
        </p:nvPicPr>
        <p:blipFill>
          <a:blip r:embed="rId2"/>
          <a:stretch>
            <a:fillRect/>
          </a:stretch>
        </p:blipFill>
        <p:spPr>
          <a:xfrm>
            <a:off x="6123558" y="1998016"/>
            <a:ext cx="4836766" cy="1430743"/>
          </a:xfrm>
          <a:prstGeom prst="rect">
            <a:avLst/>
          </a:prstGeom>
        </p:spPr>
      </p:pic>
      <p:pic>
        <p:nvPicPr>
          <p:cNvPr id="6" name="layer_2" descr="Quick Check: Hardware — illustration part 3">    </p:cNvPr>
          <p:cNvPicPr>
            <a:picLocks noChangeAspect="1"/>
          </p:cNvPicPr>
          <p:nvPr/>
        </p:nvPicPr>
        <p:blipFill>
          <a:blip r:embed="rId3"/>
          <a:stretch>
            <a:fillRect/>
          </a:stretch>
        </p:blipFill>
        <p:spPr>
          <a:xfrm>
            <a:off x="6123558" y="3826747"/>
            <a:ext cx="4836766" cy="1430743"/>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Click once per answer</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Pause and answer out loud before clicking. If an answer surprises you, jump back to that part of the section using the agenda.</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51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500" fill="hold"/>
                                        <p:tgtEl>
                                          <p:spTgt spid="5"/>
                                        </p:tgtEl>
                                        <p:attrNameLst>
                                          <p:attrName>ppt_w</p:attrName>
                                        </p:attrNameLst>
                                      </p:cBhvr>
                                      <p:tavLst>
                                        <p:tav tm="0">
                                          <p:val>
                                            <p:fltVal val="0"/>
                                          </p:val>
                                        </p:tav>
                                        <p:tav tm="100000">
                                          <p:val>
                                            <p:strVal val="#ppt_w"/>
                                          </p:val>
                                        </p:tav>
                                      </p:tavLst>
                                    </p:anim>
                                    <p:anim calcmode="lin" valueType="num">
                                      <p:cBhvr>
                                        <p:cTn id="7" dur="500" fill="hold"/>
                                        <p:tgtEl>
                                          <p:spTgt spid="5"/>
                                        </p:tgtEl>
                                        <p:attrNameLst>
                                          <p:attrName>ppt_h</p:attrName>
                                        </p:attrNameLst>
                                      </p:cBhvr>
                                      <p:tavLst>
                                        <p:tav tm="0">
                                          <p:val>
                                            <p:fltVal val="0"/>
                                          </p:val>
                                        </p:tav>
                                        <p:tav tm="100000">
                                          <p:val>
                                            <p:strVal val="#ppt_h"/>
                                          </p:val>
                                        </p:tav>
                                      </p:tavLst>
                                    </p:anim>
                                    <p:animEffect transition="in" filter="fade">
                                      <p:cBhvr>
                                        <p:cTn id="8"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6" presetID="53" presetClass="entr" presetSubtype="16"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p:cTn id="13" dur="500" fill="hold"/>
                                        <p:tgtEl>
                                          <p:spTgt spid="6"/>
                                        </p:tgtEl>
                                        <p:attrNameLst>
                                          <p:attrName>ppt_w</p:attrName>
                                        </p:attrNameLst>
                                      </p:cBhvr>
                                      <p:tavLst>
                                        <p:tav tm="0">
                                          <p:val>
                                            <p:fltVal val="0"/>
                                          </p:val>
                                        </p:tav>
                                        <p:tav tm="100000">
                                          <p:val>
                                            <p:strVal val="#ppt_w"/>
                                          </p:val>
                                        </p:tav>
                                      </p:tavLst>
                                    </p:anim>
                                    <p:anim calcmode="lin" valueType="num">
                                      <p:cBhvr>
                                        <p:cTn id="14" dur="500" fill="hold"/>
                                        <p:tgtEl>
                                          <p:spTgt spid="6"/>
                                        </p:tgtEl>
                                        <p:attrNameLst>
                                          <p:attrName>ppt_h</p:attrName>
                                        </p:attrNameLst>
                                      </p:cBhvr>
                                      <p:tavLst>
                                        <p:tav tm="0">
                                          <p:val>
                                            <p:fltVal val="0"/>
                                          </p:val>
                                        </p:tav>
                                        <p:tav tm="100000">
                                          <p:val>
                                            <p:strVal val="#ppt_h"/>
                                          </p:val>
                                        </p:tav>
                                      </p:tavLst>
                                    </p:anim>
                                    <p:animEffect transition="in" filter="fade">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Story So Far: GPU + VRAM ✓</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Solved: parallel cores fed by fast memory  →  next problem: A GPU alone isn't a service anyone can call</a:t>
            </a:r>
            <a:endParaRPr lang="en-US" sz="1700" dirty="0"/>
          </a:p>
        </p:txBody>
      </p:sp>
      <p:pic>
        <p:nvPicPr>
          <p:cNvPr id="4" name="layer_0" descr="Story So Far: GPU + VRAM ✓ — illustration part 1">    </p:cNvPr>
          <p:cNvPicPr>
            <a:picLocks noChangeAspect="1"/>
          </p:cNvPicPr>
          <p:nvPr/>
        </p:nvPicPr>
        <p:blipFill>
          <a:blip r:embed="rId1"/>
          <a:stretch>
            <a:fillRect/>
          </a:stretch>
        </p:blipFill>
        <p:spPr>
          <a:xfrm>
            <a:off x="1231371" y="2229756"/>
            <a:ext cx="9144511" cy="2599518"/>
          </a:xfrm>
          <a:prstGeom prst="rect">
            <a:avLst/>
          </a:prstGeom>
        </p:spPr>
      </p:pic>
      <p:pic>
        <p:nvPicPr>
          <p:cNvPr id="5" name="layer_1" descr="Story So Far: GPU + VRAM ✓ — illustration part 2">    </p:cNvPr>
          <p:cNvPicPr>
            <a:picLocks noChangeAspect="1"/>
          </p:cNvPicPr>
          <p:nvPr/>
        </p:nvPicPr>
        <p:blipFill>
          <a:blip r:embed="rId2"/>
          <a:stretch>
            <a:fillRect/>
          </a:stretch>
        </p:blipFill>
        <p:spPr>
          <a:xfrm>
            <a:off x="2813396" y="1872070"/>
            <a:ext cx="1718060" cy="1566764"/>
          </a:xfrm>
          <a:prstGeom prst="rect">
            <a:avLst/>
          </a:prstGeom>
        </p:spPr>
      </p:pic>
      <p:pic>
        <p:nvPicPr>
          <p:cNvPr id="6" name="layer_2" descr="Story So Far: GPU + VRAM ✓ — illustration part 3">    </p:cNvPr>
          <p:cNvPicPr>
            <a:picLocks noChangeAspect="1"/>
          </p:cNvPicPr>
          <p:nvPr/>
        </p:nvPicPr>
        <p:blipFill>
          <a:blip r:embed="rId3"/>
          <a:stretch>
            <a:fillRect/>
          </a:stretch>
        </p:blipFill>
        <p:spPr>
          <a:xfrm>
            <a:off x="5151167" y="2154188"/>
            <a:ext cx="886740" cy="997490"/>
          </a:xfrm>
          <a:prstGeom prst="rect">
            <a:avLst/>
          </a:prstGeom>
        </p:spPr>
      </p:pic>
      <p:pic>
        <p:nvPicPr>
          <p:cNvPr id="7" name="layer_3" descr="Story So Far: GPU + VRAM ✓ — illustration part 4">    </p:cNvPr>
          <p:cNvPicPr>
            <a:picLocks noChangeAspect="1"/>
          </p:cNvPicPr>
          <p:nvPr/>
        </p:nvPicPr>
        <p:blipFill>
          <a:blip r:embed="rId4"/>
          <a:stretch>
            <a:fillRect/>
          </a:stretch>
        </p:blipFill>
        <p:spPr>
          <a:xfrm>
            <a:off x="2294452" y="5121468"/>
            <a:ext cx="7582638" cy="584388"/>
          </a:xfrm>
          <a:prstGeom prst="rect">
            <a:avLst/>
          </a:prstGeom>
        </p:spPr>
      </p:pic>
      <p:sp>
        <p:nvSpPr>
          <p:cNvPr id="8"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9"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Up next — Chapter 3 · From Script to Model Server</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GPUs give us thousands of parallel cores, and VRAM keeps them fed. But a GPU running a script serves one person, once. Next we turn it into an always-on service — and meet tokens.</a:t>
            </a:r>
            <a:endParaRPr lang="en-US" sz="1200" dirty="0"/>
          </a:p>
        </p:txBody>
      </p:sp>
      <p:sp>
        <p:nvSpPr>
          <p:cNvPr id="10"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5"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52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ppt_w</p:attrName>
                                        </p:attrNameLst>
                                      </p:cBhvr>
                                      <p:tavLst>
                                        <p:tav tm="0">
                                          <p:val>
                                            <p:fltVal val="0"/>
                                          </p:val>
                                        </p:tav>
                                        <p:tav tm="100000">
                                          <p:val>
                                            <p:strVal val="#ppt_w"/>
                                          </p:val>
                                        </p:tav>
                                      </p:tavLst>
                                    </p:anim>
                                    <p:anim calcmode="lin" valueType="num">
                                      <p:cBhvr>
                                        <p:cTn id="7" dur="600" fill="hold"/>
                                        <p:tgtEl>
                                          <p:spTgt spid="5"/>
                                        </p:tgtEl>
                                        <p:attrNameLst>
                                          <p:attrName>ppt_h</p:attrName>
                                        </p:attrNameLst>
                                      </p:cBhvr>
                                      <p:tavLst>
                                        <p:tav tm="0">
                                          <p:val>
                                            <p:fltVal val="0"/>
                                          </p:val>
                                        </p:tav>
                                        <p:tav tm="100000">
                                          <p:val>
                                            <p:strVal val="#ppt_h"/>
                                          </p:val>
                                        </p:tav>
                                      </p:tavLst>
                                    </p:anim>
                                    <p:animEffect transition="in" filter="fade">
                                      <p:cBhvr>
                                        <p:cTn id="8" dur="600"/>
                                        <p:tgtEl>
                                          <p:spTgt spid="5"/>
                                        </p:tgtEl>
                                      </p:cBhvr>
                                    </p:animEffect>
                                  </p:childTnLst>
                                </p:cTn>
                              </p:par>
                            </p:childTnLst>
                          </p:cTn>
                        </p:par>
                        <p:par>
                          <p:cTn id="10" fill="hold">
                            <p:stCondLst>
                              <p:cond delay="600"/>
                            </p:stCondLst>
                            <p:childTnLst>
                              <p:par>
                                <p:cTn id="15" presetID="53" presetClass="entr" presetSubtype="16" fill="hold" grpId="0" nodeType="after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ppt_w</p:attrName>
                                        </p:attrNameLst>
                                      </p:cBhvr>
                                      <p:tavLst>
                                        <p:tav tm="0">
                                          <p:val>
                                            <p:fltVal val="0"/>
                                          </p:val>
                                        </p:tav>
                                        <p:tav tm="100000">
                                          <p:val>
                                            <p:strVal val="#ppt_w"/>
                                          </p:val>
                                        </p:tav>
                                      </p:tavLst>
                                    </p:anim>
                                    <p:anim calcmode="lin" valueType="num">
                                      <p:cBhvr>
                                        <p:cTn id="13" dur="600" fill="hold"/>
                                        <p:tgtEl>
                                          <p:spTgt spid="6"/>
                                        </p:tgtEl>
                                        <p:attrNameLst>
                                          <p:attrName>ppt_h</p:attrName>
                                        </p:attrNameLst>
                                      </p:cBhvr>
                                      <p:tavLst>
                                        <p:tav tm="0">
                                          <p:val>
                                            <p:fltVal val="0"/>
                                          </p:val>
                                        </p:tav>
                                        <p:tav tm="100000">
                                          <p:val>
                                            <p:strVal val="#ppt_h"/>
                                          </p:val>
                                        </p:tav>
                                      </p:tavLst>
                                    </p:anim>
                                    <p:animEffect transition="in" filter="fade">
                                      <p:cBhvr>
                                        <p:cTn id="14" dur="600"/>
                                        <p:tgtEl>
                                          <p:spTgt spid="6"/>
                                        </p:tgtEl>
                                      </p:cBhvr>
                                    </p:animEffect>
                                  </p:childTnLst>
                                </p:cTn>
                              </p:par>
                            </p:childTnLst>
                          </p:cTn>
                        </p:par>
                        <p:par>
                          <p:cTn id="16" fill="hold">
                            <p:stCondLst>
                              <p:cond delay="1200"/>
                            </p:stCondLst>
                            <p:childTnLst>
                              <p:par>
                                <p:cTn id="20" presetID="2" presetClass="entr" presetSubtype="4" fill="hold" grpId="0" nodeType="after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additive="base">
                                        <p:cTn id="18" dur="600" fill="hold"/>
                                        <p:tgtEl>
                                          <p:spTgt spid="7"/>
                                        </p:tgtEl>
                                        <p:attrNameLst>
                                          <p:attrName>ppt_y</p:attrName>
                                        </p:attrNameLst>
                                      </p:cBhvr>
                                      <p:tavLst>
                                        <p:tav tm="0">
                                          <p:val>
                                            <p:strVal val="#ppt_y+0.08"/>
                                          </p:val>
                                        </p:tav>
                                        <p:tav tm="100000">
                                          <p:val>
                                            <p:strVal val="#ppt_y"/>
                                          </p:val>
                                        </p:tav>
                                      </p:tavLst>
                                    </p:anim>
                                    <p:animEffect transition="in" filter="fade">
                                      <p:cBhvr>
                                        <p:cTn id="19" dur="6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title" hasCustomPrompt="1"/>
          </p:nvPr>
        </p:nvSpPr>
        <p:spPr>
          <a:xfrm>
            <a:off x="731520" y="2834640"/>
            <a:ext cx="5669280" cy="1371600"/>
          </a:xfrm>
          <a:prstGeom prst="rect">
            <a:avLst/>
          </a:prstGeom>
          <a:noFill/>
          <a:ln/>
        </p:spPr>
        <p:txBody>
          <a:bodyPr wrap="square" lIns="0" tIns="0" rIns="0" bIns="0" rtlCol="0" anchor="t"/>
          <a:lstStyle/>
          <a:p>
            <a:pPr algn="l" indent="0" marL="0">
              <a:buNone/>
            </a:pPr>
            <a:r>
              <a:rPr lang="en-US" sz="4000" b="1" dirty="0">
                <a:solidFill>
                  <a:srgbClr val="FFFFFF"/>
                </a:solidFill>
                <a:latin typeface="Calibri" pitchFamily="34" charset="0"/>
                <a:ea typeface="Calibri" pitchFamily="34" charset="-122"/>
                <a:cs typeface="Calibri" pitchFamily="34" charset="-120"/>
              </a:rPr>
              <a:t>From Script to Model Server</a:t>
            </a:r>
            <a:endParaRPr lang="en-US" sz="4000" dirty="0"/>
          </a:p>
        </p:txBody>
      </p:sp>
      <p:sp>
        <p:nvSpPr>
          <p:cNvPr id="3" name="Text 0"/>
          <p:cNvSpPr/>
          <p:nvPr>
            <p:ph idx="101" type="body" hasCustomPrompt="1"/>
          </p:nvPr>
        </p:nvSpPr>
        <p:spPr>
          <a:xfrm>
            <a:off x="731520" y="4251960"/>
            <a:ext cx="5120640" cy="822960"/>
          </a:xfrm>
          <a:prstGeom prst="rect">
            <a:avLst/>
          </a:prstGeom>
          <a:noFill/>
          <a:ln/>
        </p:spPr>
        <p:txBody>
          <a:bodyPr wrap="square" lIns="0" tIns="0" rIns="0" bIns="0" rtlCol="0" anchor="t"/>
          <a:lstStyle/>
          <a:p>
            <a:pPr algn="l" indent="0" marL="0">
              <a:buNone/>
            </a:pPr>
            <a:r>
              <a:rPr lang="en-US" sz="2000" dirty="0">
                <a:solidFill>
                  <a:srgbClr val="22D3EE"/>
                </a:solidFill>
                <a:latin typeface="Calibri" pitchFamily="34" charset="0"/>
                <a:ea typeface="Calibri" pitchFamily="34" charset="-122"/>
                <a:cs typeface="Calibri" pitchFamily="34" charset="-120"/>
              </a:rPr>
              <a:t>A GPU alone serves nobody — turn it into a service</a:t>
            </a:r>
            <a:endParaRPr lang="en-US" sz="2000" dirty="0"/>
          </a:p>
        </p:txBody>
      </p:sp>
      <p:sp>
        <p:nvSpPr>
          <p:cNvPr id="4" name="Text 2"/>
          <p:cNvSpPr txBox="1"/>
          <p:nvPr/>
        </p:nvSpPr>
        <p:spPr>
          <a:xfrm>
            <a:off x="731520" y="1371600"/>
            <a:ext cx="2743200" cy="1371600"/>
          </a:xfrm>
          <a:prstGeom prst="rect">
            <a:avLst/>
          </a:prstGeom>
          <a:noFill/>
          <a:ln/>
        </p:spPr>
        <p:txBody>
          <a:bodyPr wrap="square" lIns="0" tIns="0" rIns="0" bIns="0" rtlCol="0" anchor="ctr"/>
          <a:lstStyle/>
          <a:p>
            <a:pPr indent="0" marL="0">
              <a:buNone/>
            </a:pPr>
            <a:r>
              <a:rPr lang="en-US" sz="9600" b="1" dirty="0">
                <a:solidFill>
                  <a:srgbClr val="22D3EE">
                    <a:alpha val="80000"/>
                  </a:srgbClr>
                </a:solidFill>
                <a:latin typeface="Calibri" pitchFamily="34" charset="0"/>
                <a:ea typeface="Calibri" pitchFamily="34" charset="-122"/>
                <a:cs typeface="Calibri" pitchFamily="34" charset="-120"/>
              </a:rPr>
              <a:t>03</a:t>
            </a:r>
            <a:endParaRPr lang="en-US" sz="9600" dirty="0"/>
          </a:p>
        </p:txBody>
      </p:sp>
      <p:pic>
        <p:nvPicPr>
          <p:cNvPr id="5" name="layer_0" descr="From Script to Model Server — illustration part 1">    </p:cNvPr>
          <p:cNvPicPr>
            <a:picLocks noChangeAspect="1"/>
          </p:cNvPicPr>
          <p:nvPr/>
        </p:nvPicPr>
        <p:blipFill>
          <a:blip r:embed="rId1"/>
          <a:stretch>
            <a:fillRect/>
          </a:stretch>
        </p:blipFill>
        <p:spPr>
          <a:xfrm>
            <a:off x="6210694" y="1571250"/>
            <a:ext cx="3221313" cy="3165572"/>
          </a:xfrm>
          <a:prstGeom prst="rect">
            <a:avLst/>
          </a:prstGeom>
        </p:spPr>
      </p:pic>
      <p:sp>
        <p:nvSpPr>
          <p:cNvPr id="6" name="nav_agenda"/>
          <p:cNvSpPr txBox="1"/>
          <p:nvPr/>
        </p:nvSpPr>
        <p:spPr>
          <a:xfrm>
            <a:off x="731520" y="5669280"/>
            <a:ext cx="1371600" cy="384048"/>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1300" u="sng" dirty="0">
                <a:solidFill>
                  <a:srgbClr val="22D3EE"/>
                </a:solidFill>
                <a:latin typeface="Calibri" pitchFamily="34" charset="0"/>
                <a:ea typeface="Calibri" pitchFamily="34" charset="-122"/>
                <a:cs typeface="Calibri" pitchFamily="34" charset="-120"/>
                <a:hlinkClick r:id="rId2" action="ppaction://hlinksldjump" tooltip="Back to agenda">
                  <a:extLst>
                    <a:ext uri="{A12FA001-AC4F-418D-AE19-62706E023703}">
                      <ahyp:hlinkClr xmlns:ahyp="http://schemas.microsoft.com/office/drawing/2018/hyperlinkcolor" val="tx"/>
                    </a:ext>
                  </a:extLst>
                </a:hlinkClick>
              </a:rPr>
              <a:t>⌂ Agenda</a:t>
            </a:r>
            <a:endParaRPr lang="en-US" sz="13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53</a:t>
            </a:fld>
            <a:endParaRPr lang="en-US"/>
          </a:p>
        </p:txBody>
      </p:sp>
    </p:spTree>
  </p:cSld>
  <p:clrMapOvr>
    <a:masterClrMapping/>
  </p:clrMapOvr>
  <p:transition spd="med">
    <p:fade/>
  </p:transition>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PyTorch: The Software That Drives the Chip</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A chip on its own does nothing at all</a:t>
            </a:r>
            <a:endParaRPr lang="en-US" sz="1700" dirty="0"/>
          </a:p>
        </p:txBody>
      </p:sp>
      <p:pic>
        <p:nvPicPr>
          <p:cNvPr id="4" name="layer_0" descr="PyTorch: The Software That Drives the Chip — illustration part 1">    </p:cNvPr>
          <p:cNvPicPr>
            <a:picLocks noChangeAspect="1"/>
          </p:cNvPicPr>
          <p:nvPr/>
        </p:nvPicPr>
        <p:blipFill>
          <a:blip r:embed="rId1"/>
          <a:stretch>
            <a:fillRect/>
          </a:stretch>
        </p:blipFill>
        <p:spPr>
          <a:xfrm>
            <a:off x="1795660" y="2164264"/>
            <a:ext cx="4257362" cy="765750"/>
          </a:xfrm>
          <a:prstGeom prst="rect">
            <a:avLst/>
          </a:prstGeom>
        </p:spPr>
      </p:pic>
      <p:pic>
        <p:nvPicPr>
          <p:cNvPr id="5" name="layer_1" descr="PyTorch: The Software That Drives the Chip — illustration part 2">    </p:cNvPr>
          <p:cNvPicPr>
            <a:picLocks noChangeAspect="1"/>
          </p:cNvPicPr>
          <p:nvPr/>
        </p:nvPicPr>
        <p:blipFill>
          <a:blip r:embed="rId2"/>
          <a:stretch>
            <a:fillRect/>
          </a:stretch>
        </p:blipFill>
        <p:spPr>
          <a:xfrm>
            <a:off x="1795660" y="2995505"/>
            <a:ext cx="4257362" cy="2670048"/>
          </a:xfrm>
          <a:prstGeom prst="rect">
            <a:avLst/>
          </a:prstGeom>
        </p:spPr>
      </p:pic>
      <p:pic>
        <p:nvPicPr>
          <p:cNvPr id="6" name="layer_2" descr="PyTorch: The Software That Drives the Chip — illustration part 3">    </p:cNvPr>
          <p:cNvPicPr>
            <a:picLocks noChangeAspect="1"/>
          </p:cNvPicPr>
          <p:nvPr/>
        </p:nvPicPr>
        <p:blipFill>
          <a:blip r:embed="rId3"/>
          <a:stretch>
            <a:fillRect/>
          </a:stretch>
        </p:blipFill>
        <p:spPr>
          <a:xfrm>
            <a:off x="6123558" y="3312888"/>
            <a:ext cx="4086060" cy="2040320"/>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PyTorch loads the model onto the GPU and puts all of those cores to work</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Hardware alone does nothing. PyTorch is the software layer that loads a model onto the GPU and puts all of its cores to work.</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54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A Model in About Seven Lines</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Try this on your laptop with a really small model</a:t>
            </a:r>
            <a:endParaRPr lang="en-US" sz="1700" dirty="0"/>
          </a:p>
        </p:txBody>
      </p:sp>
      <p:pic>
        <p:nvPicPr>
          <p:cNvPr id="4" name="layer_0" descr="A Model in About Seven Lines — illustration part 1">    </p:cNvPr>
          <p:cNvPicPr>
            <a:picLocks noChangeAspect="1"/>
          </p:cNvPicPr>
          <p:nvPr/>
        </p:nvPicPr>
        <p:blipFill>
          <a:blip r:embed="rId1"/>
          <a:stretch>
            <a:fillRect/>
          </a:stretch>
        </p:blipFill>
        <p:spPr>
          <a:xfrm>
            <a:off x="1296869" y="1998016"/>
            <a:ext cx="6252528" cy="3425722"/>
          </a:xfrm>
          <a:prstGeom prst="rect">
            <a:avLst/>
          </a:prstGeom>
        </p:spPr>
      </p:pic>
      <p:pic>
        <p:nvPicPr>
          <p:cNvPr id="5" name="layer_1" descr="A Model in About Seven Lines — illustration part 2">    </p:cNvPr>
          <p:cNvPicPr>
            <a:picLocks noChangeAspect="1"/>
          </p:cNvPicPr>
          <p:nvPr/>
        </p:nvPicPr>
        <p:blipFill>
          <a:blip r:embed="rId2"/>
          <a:stretch>
            <a:fillRect/>
          </a:stretch>
        </p:blipFill>
        <p:spPr>
          <a:xfrm>
            <a:off x="7534282" y="3161754"/>
            <a:ext cx="3426043" cy="1098246"/>
          </a:xfrm>
          <a:prstGeom prst="rect">
            <a:avLst/>
          </a:prstGeom>
        </p:spPr>
      </p:pic>
      <p:pic>
        <p:nvPicPr>
          <p:cNvPr id="6" name="layer_2" descr="A Model in About Seven Lines — illustration part 3">    </p:cNvPr>
          <p:cNvPicPr>
            <a:picLocks noChangeAspect="1"/>
          </p:cNvPicPr>
          <p:nvPr/>
        </p:nvPicPr>
        <p:blipFill>
          <a:blip r:embed="rId3"/>
          <a:stretch>
            <a:fillRect/>
          </a:stretch>
        </p:blipFill>
        <p:spPr>
          <a:xfrm>
            <a:off x="8607439" y="1700784"/>
            <a:ext cx="1934706" cy="1229230"/>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Import torch · load the model · generate · read the generated text</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With a few lines of code you import torch, load a model such as Llama, and call generate. The generated text is the model's answer. Small models even run on a laptop.</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55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A Script Isn't a Service</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It runs once, for one person, then it's done</a:t>
            </a:r>
            <a:endParaRPr lang="en-US" sz="1700" dirty="0"/>
          </a:p>
        </p:txBody>
      </p:sp>
      <p:pic>
        <p:nvPicPr>
          <p:cNvPr id="4" name="layer_0" descr="A Script Isn't a Service — illustration part 1">    </p:cNvPr>
          <p:cNvPicPr>
            <a:picLocks noChangeAspect="1"/>
          </p:cNvPicPr>
          <p:nvPr/>
        </p:nvPicPr>
        <p:blipFill>
          <a:blip r:embed="rId1"/>
          <a:stretch>
            <a:fillRect/>
          </a:stretch>
        </p:blipFill>
        <p:spPr>
          <a:xfrm>
            <a:off x="1463133" y="2743614"/>
            <a:ext cx="2498996" cy="2413119"/>
          </a:xfrm>
          <a:prstGeom prst="rect">
            <a:avLst/>
          </a:prstGeom>
        </p:spPr>
      </p:pic>
      <p:pic>
        <p:nvPicPr>
          <p:cNvPr id="5" name="layer_1" descr="A Script Isn't a Service — illustration part 2">    </p:cNvPr>
          <p:cNvPicPr>
            <a:picLocks noChangeAspect="1"/>
          </p:cNvPicPr>
          <p:nvPr/>
        </p:nvPicPr>
        <p:blipFill>
          <a:blip r:embed="rId2"/>
          <a:stretch>
            <a:fillRect/>
          </a:stretch>
        </p:blipFill>
        <p:spPr>
          <a:xfrm>
            <a:off x="4793448" y="1927486"/>
            <a:ext cx="3672919" cy="3481138"/>
          </a:xfrm>
          <a:prstGeom prst="rect">
            <a:avLst/>
          </a:prstGeom>
        </p:spPr>
      </p:pic>
      <p:pic>
        <p:nvPicPr>
          <p:cNvPr id="6" name="layer_2" descr="A Script Isn't a Service — illustration part 3">    </p:cNvPr>
          <p:cNvPicPr>
            <a:picLocks noChangeAspect="1"/>
          </p:cNvPicPr>
          <p:nvPr/>
        </p:nvPicPr>
        <p:blipFill>
          <a:blip r:embed="rId3"/>
          <a:stretch>
            <a:fillRect/>
          </a:stretch>
        </p:blipFill>
        <p:spPr>
          <a:xfrm>
            <a:off x="9277533" y="2189453"/>
            <a:ext cx="1430877" cy="3133528"/>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Real users are on the internet — thousands at once — so you need something always on</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A script runs once for one person and exits. Real users arrive by the thousands over the internet, so you need something always on, listening for requests.</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56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vLLM: A Model Server</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Built right on top of PyTorch, wrapping the model in a normal web API</a:t>
            </a:r>
            <a:endParaRPr lang="en-US" sz="1700" dirty="0"/>
          </a:p>
        </p:txBody>
      </p:sp>
      <p:pic>
        <p:nvPicPr>
          <p:cNvPr id="4" name="layer_0" descr="vLLM: A Model Server — illustration part 1">    </p:cNvPr>
          <p:cNvPicPr>
            <a:picLocks noChangeAspect="1"/>
          </p:cNvPicPr>
          <p:nvPr/>
        </p:nvPicPr>
        <p:blipFill>
          <a:blip r:embed="rId1"/>
          <a:stretch>
            <a:fillRect/>
          </a:stretch>
        </p:blipFill>
        <p:spPr>
          <a:xfrm>
            <a:off x="1453056" y="2018167"/>
            <a:ext cx="2070740" cy="3083150"/>
          </a:xfrm>
          <a:prstGeom prst="rect">
            <a:avLst/>
          </a:prstGeom>
        </p:spPr>
      </p:pic>
      <p:pic>
        <p:nvPicPr>
          <p:cNvPr id="5" name="layer_1" descr="vLLM: A Model Server — illustration part 2">    </p:cNvPr>
          <p:cNvPicPr>
            <a:picLocks noChangeAspect="1"/>
          </p:cNvPicPr>
          <p:nvPr/>
        </p:nvPicPr>
        <p:blipFill>
          <a:blip r:embed="rId2"/>
          <a:stretch>
            <a:fillRect/>
          </a:stretch>
        </p:blipFill>
        <p:spPr>
          <a:xfrm>
            <a:off x="3624562" y="2411118"/>
            <a:ext cx="3924834" cy="2680124"/>
          </a:xfrm>
          <a:prstGeom prst="rect">
            <a:avLst/>
          </a:prstGeom>
        </p:spPr>
      </p:pic>
      <p:pic>
        <p:nvPicPr>
          <p:cNvPr id="6" name="layer_2" descr="vLLM: A Model Server — illustration part 3">    </p:cNvPr>
          <p:cNvPicPr>
            <a:picLocks noChangeAspect="1"/>
          </p:cNvPicPr>
          <p:nvPr/>
        </p:nvPicPr>
        <p:blipFill>
          <a:blip r:embed="rId3"/>
          <a:stretch>
            <a:fillRect/>
          </a:stretch>
        </p:blipFill>
        <p:spPr>
          <a:xfrm>
            <a:off x="8703167" y="3000543"/>
            <a:ext cx="1264613" cy="1783391"/>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Now it's a real product — so what does the server do each time a request comes in?</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vLLM is that always-on model server. Built on PyTorch, it wraps the model in a normal web API. Next question: what does it do with each request?</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57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Serving a Model Takes One Command</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vLLM reads the weights off disk and loads them into GPU memory</a:t>
            </a:r>
            <a:endParaRPr lang="en-US" sz="1700" dirty="0"/>
          </a:p>
        </p:txBody>
      </p:sp>
      <p:pic>
        <p:nvPicPr>
          <p:cNvPr id="4" name="layer_0" descr="Serving a Model Takes One Command — illustration part 1">    </p:cNvPr>
          <p:cNvPicPr>
            <a:picLocks noChangeAspect="1"/>
          </p:cNvPicPr>
          <p:nvPr/>
        </p:nvPicPr>
        <p:blipFill>
          <a:blip r:embed="rId1"/>
          <a:stretch>
            <a:fillRect/>
          </a:stretch>
        </p:blipFill>
        <p:spPr>
          <a:xfrm>
            <a:off x="1296869" y="1998016"/>
            <a:ext cx="5920000" cy="1098246"/>
          </a:xfrm>
          <a:prstGeom prst="rect">
            <a:avLst/>
          </a:prstGeom>
        </p:spPr>
      </p:pic>
      <p:pic>
        <p:nvPicPr>
          <p:cNvPr id="5" name="layer_1" descr="Serving a Model Takes One Command — illustration part 2">    </p:cNvPr>
          <p:cNvPicPr>
            <a:picLocks noChangeAspect="1"/>
          </p:cNvPicPr>
          <p:nvPr/>
        </p:nvPicPr>
        <p:blipFill>
          <a:blip r:embed="rId2"/>
          <a:stretch>
            <a:fillRect/>
          </a:stretch>
        </p:blipFill>
        <p:spPr>
          <a:xfrm>
            <a:off x="1463133" y="2668047"/>
            <a:ext cx="9240238" cy="2665010"/>
          </a:xfrm>
          <a:prstGeom prst="rect">
            <a:avLst/>
          </a:prstGeom>
        </p:spPr>
      </p:pic>
      <p:pic>
        <p:nvPicPr>
          <p:cNvPr id="6" name="layer_2" descr="Serving a Model Takes One Command — illustration part 3">    </p:cNvPr>
          <p:cNvPicPr>
            <a:picLocks noChangeAspect="1"/>
          </p:cNvPicPr>
          <p:nvPr/>
        </p:nvPicPr>
        <p:blipFill>
          <a:blip r:embed="rId3"/>
          <a:stretch>
            <a:fillRect/>
          </a:stretch>
        </p:blipFill>
        <p:spPr>
          <a:xfrm>
            <a:off x="7781158" y="3826747"/>
            <a:ext cx="2927251" cy="1264494"/>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~16 GB to move, so a minute or two — then the server stays up, waiting for requests</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'vllm serve &lt;model&gt;' reads the weights off disk and loads them into GPU memory. Moving ~16 GB takes a minute or two; then the server stays up, waiting for requests.</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58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It Speaks OpenAI's Language</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A normal web request, in the exact format the OpenAI API uses</a:t>
            </a:r>
            <a:endParaRPr lang="en-US" sz="1700" dirty="0"/>
          </a:p>
        </p:txBody>
      </p:sp>
      <p:pic>
        <p:nvPicPr>
          <p:cNvPr id="4" name="layer_0" descr="It Speaks OpenAI's Language — illustration part 1">    </p:cNvPr>
          <p:cNvPicPr>
            <a:picLocks noChangeAspect="1"/>
          </p:cNvPicPr>
          <p:nvPr/>
        </p:nvPicPr>
        <p:blipFill>
          <a:blip r:embed="rId1"/>
          <a:stretch>
            <a:fillRect/>
          </a:stretch>
        </p:blipFill>
        <p:spPr>
          <a:xfrm>
            <a:off x="1296869" y="1998016"/>
            <a:ext cx="5254945" cy="3093225"/>
          </a:xfrm>
          <a:prstGeom prst="rect">
            <a:avLst/>
          </a:prstGeom>
        </p:spPr>
      </p:pic>
      <p:pic>
        <p:nvPicPr>
          <p:cNvPr id="5" name="layer_1" descr="It Speaks OpenAI's Language — illustration part 2">    </p:cNvPr>
          <p:cNvPicPr>
            <a:picLocks noChangeAspect="1"/>
          </p:cNvPicPr>
          <p:nvPr/>
        </p:nvPicPr>
        <p:blipFill>
          <a:blip r:embed="rId2"/>
          <a:stretch>
            <a:fillRect/>
          </a:stretch>
        </p:blipFill>
        <p:spPr>
          <a:xfrm>
            <a:off x="7282367" y="2164264"/>
            <a:ext cx="3592306" cy="2639821"/>
          </a:xfrm>
          <a:prstGeom prst="rect">
            <a:avLst/>
          </a:prstGeom>
        </p:spPr>
      </p:pic>
      <p:pic>
        <p:nvPicPr>
          <p:cNvPr id="6" name="layer_2" descr="It Speaks OpenAI's Language — illustration part 3">    </p:cNvPr>
          <p:cNvPicPr>
            <a:picLocks noChangeAspect="1"/>
          </p:cNvPicPr>
          <p:nvPr/>
        </p:nvPicPr>
        <p:blipFill>
          <a:blip r:embed="rId3"/>
          <a:stretch>
            <a:fillRect/>
          </a:stretch>
        </p:blipFill>
        <p:spPr>
          <a:xfrm>
            <a:off x="7378094" y="5252452"/>
            <a:ext cx="1738213" cy="246853"/>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Any tool or script that talks to OpenAI can talk to your own server — no code changes</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You talk to vLLM with ordinary web requests in the same format the OpenAI API uses, so existing OpenAI tools and scripts work against your own server unchanged.</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59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A Model Server Is a Heavy Beast</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It holds the entire model in GPU memory the whole time it runs</a:t>
            </a:r>
            <a:endParaRPr lang="en-US" sz="1700" dirty="0"/>
          </a:p>
        </p:txBody>
      </p:sp>
      <p:pic>
        <p:nvPicPr>
          <p:cNvPr id="4" name="layer_0" descr="A Model Server Is a Heavy Beast — illustration part 1">    </p:cNvPr>
          <p:cNvPicPr>
            <a:picLocks noChangeAspect="1"/>
          </p:cNvPicPr>
          <p:nvPr/>
        </p:nvPicPr>
        <p:blipFill>
          <a:blip r:embed="rId1"/>
          <a:stretch>
            <a:fillRect/>
          </a:stretch>
        </p:blipFill>
        <p:spPr>
          <a:xfrm>
            <a:off x="1463133" y="2270058"/>
            <a:ext cx="2927251" cy="2599518"/>
          </a:xfrm>
          <a:prstGeom prst="rect">
            <a:avLst/>
          </a:prstGeom>
        </p:spPr>
      </p:pic>
      <p:pic>
        <p:nvPicPr>
          <p:cNvPr id="5" name="layer_1" descr="A Model Server Is a Heavy Beast — illustration part 2">    </p:cNvPr>
          <p:cNvPicPr>
            <a:picLocks noChangeAspect="1"/>
          </p:cNvPicPr>
          <p:nvPr/>
        </p:nvPicPr>
        <p:blipFill>
          <a:blip r:embed="rId2"/>
          <a:stretch>
            <a:fillRect/>
          </a:stretch>
        </p:blipFill>
        <p:spPr>
          <a:xfrm>
            <a:off x="4541533" y="2663009"/>
            <a:ext cx="4171711" cy="2251908"/>
          </a:xfrm>
          <a:prstGeom prst="rect">
            <a:avLst/>
          </a:prstGeom>
        </p:spPr>
      </p:pic>
      <p:pic>
        <p:nvPicPr>
          <p:cNvPr id="6" name="layer_2" descr="A Model Server Is a Heavy Beast — illustration part 3">    </p:cNvPr>
          <p:cNvPicPr>
            <a:picLocks noChangeAspect="1"/>
          </p:cNvPicPr>
          <p:nvPr/>
        </p:nvPicPr>
        <p:blipFill>
          <a:blip r:embed="rId3"/>
          <a:stretch>
            <a:fillRect/>
          </a:stretch>
        </p:blipFill>
        <p:spPr>
          <a:xfrm>
            <a:off x="9025618" y="2330512"/>
            <a:ext cx="1934706" cy="2594481"/>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Need a second server? That's another full copy of the model on another expensive GPU</a:t>
            </a:r>
            <a:endParaRPr lang="en-US" sz="1200" dirty="0"/>
          </a:p>
          <a:p>
            <a:pPr indent="0" marL="0">
              <a:spcAft>
                <a:spcPts val="200"/>
              </a:spcAft>
              <a:buNone/>
            </a:pPr>
            <a:r>
              <a:rPr lang="en-US" sz="1200" dirty="0">
                <a:solidFill>
                  <a:srgbClr val="C9D6EA"/>
                </a:solidFill>
                <a:latin typeface="Calibri" pitchFamily="34" charset="0"/>
                <a:ea typeface="Calibri" pitchFamily="34" charset="-122"/>
                <a:cs typeface="Calibri" pitchFamily="34" charset="-120"/>
              </a:rPr>
              <a:t>The server holds the entire model in GPU memory the whole time it runs. A second server means a second full copy on another expensive GPU — costly to run, slow to start, costly to copy.</a:t>
            </a:r>
            <a:endParaRPr lang="en-US" sz="1200" dirty="0"/>
          </a:p>
          <a:p>
            <a:pPr indent="0" marL="0">
              <a:spcAft>
                <a:spcPts val="200"/>
              </a:spcAft>
              <a:buNone/>
            </a:pPr>
            <a:r>
              <a:rPr lang="en-US" sz="1200" b="1" dirty="0">
                <a:solidFill>
                  <a:srgbClr val="5EE6A8"/>
                </a:solidFill>
                <a:latin typeface="Calibri" pitchFamily="34" charset="0"/>
                <a:ea typeface="Calibri" pitchFamily="34" charset="-122"/>
                <a:cs typeface="Calibri" pitchFamily="34" charset="-120"/>
              </a:rPr>
              <a:t>➜ How we'll fix it:  Chapter 5 squeezes many users onto one server (batching); Chapter 7 handles fleets of servers.</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60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Tokens: How Models Read and Write</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Not whole words — little pieces, roughly ¾ of a word each</a:t>
            </a:r>
            <a:endParaRPr lang="en-US" sz="1700" dirty="0"/>
          </a:p>
        </p:txBody>
      </p:sp>
      <p:pic>
        <p:nvPicPr>
          <p:cNvPr id="4" name="layer_0" descr="Tokens: How Models Read and Write — illustration part 1">    </p:cNvPr>
          <p:cNvPicPr>
            <a:picLocks noChangeAspect="1"/>
          </p:cNvPicPr>
          <p:nvPr/>
        </p:nvPicPr>
        <p:blipFill>
          <a:blip r:embed="rId1"/>
          <a:stretch>
            <a:fillRect/>
          </a:stretch>
        </p:blipFill>
        <p:spPr>
          <a:xfrm>
            <a:off x="3574179" y="2043356"/>
            <a:ext cx="5023183" cy="745598"/>
          </a:xfrm>
          <a:prstGeom prst="rect">
            <a:avLst/>
          </a:prstGeom>
        </p:spPr>
      </p:pic>
      <p:pic>
        <p:nvPicPr>
          <p:cNvPr id="5" name="layer_1" descr="Tokens: How Models Read and Write — illustration part 2">    </p:cNvPr>
          <p:cNvPicPr>
            <a:picLocks noChangeAspect="1"/>
          </p:cNvPicPr>
          <p:nvPr/>
        </p:nvPicPr>
        <p:blipFill>
          <a:blip r:embed="rId2"/>
          <a:stretch>
            <a:fillRect/>
          </a:stretch>
        </p:blipFill>
        <p:spPr>
          <a:xfrm>
            <a:off x="2863779" y="3413645"/>
            <a:ext cx="6443983" cy="967263"/>
          </a:xfrm>
          <a:prstGeom prst="rect">
            <a:avLst/>
          </a:prstGeom>
        </p:spPr>
      </p:pic>
      <p:pic>
        <p:nvPicPr>
          <p:cNvPr id="6" name="layer_2" descr="Tokens: How Models Read and Write — illustration part 3">    </p:cNvPr>
          <p:cNvPicPr>
            <a:picLocks noChangeAspect="1"/>
          </p:cNvPicPr>
          <p:nvPr/>
        </p:nvPicPr>
        <p:blipFill>
          <a:blip r:embed="rId3"/>
          <a:stretch>
            <a:fillRect/>
          </a:stretch>
        </p:blipFill>
        <p:spPr>
          <a:xfrm>
            <a:off x="4118316" y="5081166"/>
            <a:ext cx="3934911" cy="251891"/>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"Serving LLMs is not like serving web apps" = 8 words but ~9 tokens</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Models read and write tokens — pieces of roughly ¾ of a word. Sometimes a token is a whole word, sometimes only part of one.</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61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More Tokenizer Examples</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How words actually get chopped up (illustrative splits)</a:t>
            </a:r>
            <a:endParaRPr lang="en-US" sz="1700" dirty="0"/>
          </a:p>
        </p:txBody>
      </p:sp>
      <p:pic>
        <p:nvPicPr>
          <p:cNvPr id="4" name="layer_0" descr="More Tokenizer Examples — illustration part 1">    </p:cNvPr>
          <p:cNvPicPr>
            <a:picLocks noChangeAspect="1"/>
          </p:cNvPicPr>
          <p:nvPr/>
        </p:nvPicPr>
        <p:blipFill>
          <a:blip r:embed="rId1"/>
          <a:stretch>
            <a:fillRect/>
          </a:stretch>
        </p:blipFill>
        <p:spPr>
          <a:xfrm>
            <a:off x="2249107" y="2043356"/>
            <a:ext cx="5799081" cy="508820"/>
          </a:xfrm>
          <a:prstGeom prst="rect">
            <a:avLst/>
          </a:prstGeom>
        </p:spPr>
      </p:pic>
      <p:pic>
        <p:nvPicPr>
          <p:cNvPr id="5" name="layer_1" descr="More Tokenizer Examples — illustration part 2">    </p:cNvPr>
          <p:cNvPicPr>
            <a:picLocks noChangeAspect="1"/>
          </p:cNvPicPr>
          <p:nvPr/>
        </p:nvPicPr>
        <p:blipFill>
          <a:blip r:embed="rId2"/>
          <a:stretch>
            <a:fillRect/>
          </a:stretch>
        </p:blipFill>
        <p:spPr>
          <a:xfrm>
            <a:off x="1604205" y="2673084"/>
            <a:ext cx="6564902" cy="1143587"/>
          </a:xfrm>
          <a:prstGeom prst="rect">
            <a:avLst/>
          </a:prstGeom>
        </p:spPr>
      </p:pic>
      <p:pic>
        <p:nvPicPr>
          <p:cNvPr id="6" name="layer_2" descr="More Tokenizer Examples — illustration part 3">    </p:cNvPr>
          <p:cNvPicPr>
            <a:picLocks noChangeAspect="1"/>
          </p:cNvPicPr>
          <p:nvPr/>
        </p:nvPicPr>
        <p:blipFill>
          <a:blip r:embed="rId3"/>
          <a:stretch>
            <a:fillRect/>
          </a:stretch>
        </p:blipFill>
        <p:spPr>
          <a:xfrm>
            <a:off x="1699933" y="3937579"/>
            <a:ext cx="6469175" cy="1143587"/>
          </a:xfrm>
          <a:prstGeom prst="rect">
            <a:avLst/>
          </a:prstGeom>
        </p:spPr>
      </p:pic>
      <p:pic>
        <p:nvPicPr>
          <p:cNvPr id="7" name="layer_3" descr="More Tokenizer Examples — illustration part 4">    </p:cNvPr>
          <p:cNvPicPr>
            <a:picLocks noChangeAspect="1"/>
          </p:cNvPicPr>
          <p:nvPr/>
        </p:nvPicPr>
        <p:blipFill>
          <a:blip r:embed="rId4"/>
          <a:stretch>
            <a:fillRect/>
          </a:stretch>
        </p:blipFill>
        <p:spPr>
          <a:xfrm>
            <a:off x="8778741" y="2663009"/>
            <a:ext cx="2262196" cy="1929488"/>
          </a:xfrm>
          <a:prstGeom prst="rect">
            <a:avLst/>
          </a:prstGeom>
        </p:spPr>
      </p:pic>
      <p:sp>
        <p:nvSpPr>
          <p:cNvPr id="8"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9"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Rule of thumb: ~1,000 tokens ≈ 750 words ≈ 1.5 pages of text</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Common words are usually one token; rare or long words, names, numbers and code get split into several pieces. Exact splits vary by model, but the ¾-word rule of thumb works for estimating cost and speed.</a:t>
            </a:r>
            <a:endParaRPr lang="en-US" sz="1200" dirty="0"/>
          </a:p>
        </p:txBody>
      </p:sp>
      <p:sp>
        <p:nvSpPr>
          <p:cNvPr id="10"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5"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62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par>
                    <p:cTn id="15" fill="hold">
                      <p:stCondLst>
                        <p:cond delay="indefinite"/>
                      </p:stCondLst>
                      <p:childTnLst>
                        <p:par>
                          <p:cTn id="16" fill="hold">
                            <p:stCondLst>
                              <p:cond delay="0"/>
                            </p:stCondLst>
                            <p:childTnLst>
                              <p:par>
                                <p:cTn id="20" presetID="42"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p:cTn id="18" dur="600" fill="hold"/>
                                        <p:tgtEl>
                                          <p:spTgt spid="7"/>
                                        </p:tgtEl>
                                        <p:attrNameLst>
                                          <p:attrName>ppt_y</p:attrName>
                                        </p:attrNameLst>
                                      </p:cBhvr>
                                      <p:tavLst>
                                        <p:tav tm="0">
                                          <p:val>
                                            <p:strVal val="#ppt_y+0.03"/>
                                          </p:val>
                                        </p:tav>
                                        <p:tav tm="100000">
                                          <p:val>
                                            <p:strVal val="#ppt_y"/>
                                          </p:val>
                                        </p:tav>
                                      </p:tavLst>
                                    </p:anim>
                                    <p:animEffect transition="in" filter="fade">
                                      <p:cBhvr>
                                        <p:cTn id="19" dur="6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Everything Is Counted in Tokens</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The universal unit of LLM serving</a:t>
            </a:r>
            <a:endParaRPr lang="en-US" sz="1700" dirty="0"/>
          </a:p>
        </p:txBody>
      </p:sp>
      <p:pic>
        <p:nvPicPr>
          <p:cNvPr id="4" name="layer_0" descr="Everything Is Counted in Tokens — illustration part 1">    </p:cNvPr>
          <p:cNvPicPr>
            <a:picLocks noChangeAspect="1"/>
          </p:cNvPicPr>
          <p:nvPr/>
        </p:nvPicPr>
        <p:blipFill>
          <a:blip r:embed="rId1"/>
          <a:stretch>
            <a:fillRect/>
          </a:stretch>
        </p:blipFill>
        <p:spPr>
          <a:xfrm>
            <a:off x="1715048" y="2411118"/>
            <a:ext cx="1924630" cy="2549140"/>
          </a:xfrm>
          <a:prstGeom prst="rect">
            <a:avLst/>
          </a:prstGeom>
        </p:spPr>
      </p:pic>
      <p:pic>
        <p:nvPicPr>
          <p:cNvPr id="5" name="layer_1" descr="Everything Is Counted in Tokens — illustration part 2">    </p:cNvPr>
          <p:cNvPicPr>
            <a:picLocks noChangeAspect="1"/>
          </p:cNvPicPr>
          <p:nvPr/>
        </p:nvPicPr>
        <p:blipFill>
          <a:blip r:embed="rId2"/>
          <a:stretch>
            <a:fillRect/>
          </a:stretch>
        </p:blipFill>
        <p:spPr>
          <a:xfrm>
            <a:off x="5120937" y="2411118"/>
            <a:ext cx="1929668" cy="2599518"/>
          </a:xfrm>
          <a:prstGeom prst="rect">
            <a:avLst/>
          </a:prstGeom>
        </p:spPr>
      </p:pic>
      <p:pic>
        <p:nvPicPr>
          <p:cNvPr id="6" name="layer_2" descr="Everything Is Counted in Tokens — illustration part 3">    </p:cNvPr>
          <p:cNvPicPr>
            <a:picLocks noChangeAspect="1"/>
          </p:cNvPicPr>
          <p:nvPr/>
        </p:nvPicPr>
        <p:blipFill>
          <a:blip r:embed="rId3"/>
          <a:stretch>
            <a:fillRect/>
          </a:stretch>
        </p:blipFill>
        <p:spPr>
          <a:xfrm>
            <a:off x="1795660" y="2330512"/>
            <a:ext cx="8660834" cy="2680124"/>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What a model can read, what you pay, how fast it goes — all measured in tokens</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How much a model can read, how much you pay and how fast it responds are all measured in tokens. Tokens are the unit of everything in LLM serving.</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63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The Model Has Exactly One Trick</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Given all the text so far, predict the next token</a:t>
            </a:r>
            <a:endParaRPr lang="en-US" sz="1700" dirty="0"/>
          </a:p>
        </p:txBody>
      </p:sp>
      <p:pic>
        <p:nvPicPr>
          <p:cNvPr id="4" name="layer_0" descr="The Model Has Exactly One Trick — illustration part 1">    </p:cNvPr>
          <p:cNvPicPr>
            <a:picLocks noChangeAspect="1"/>
          </p:cNvPicPr>
          <p:nvPr/>
        </p:nvPicPr>
        <p:blipFill>
          <a:blip r:embed="rId1"/>
          <a:stretch>
            <a:fillRect/>
          </a:stretch>
        </p:blipFill>
        <p:spPr>
          <a:xfrm>
            <a:off x="1463133" y="2330512"/>
            <a:ext cx="8912749" cy="1098246"/>
          </a:xfrm>
          <a:prstGeom prst="rect">
            <a:avLst/>
          </a:prstGeom>
        </p:spPr>
      </p:pic>
      <p:pic>
        <p:nvPicPr>
          <p:cNvPr id="5" name="layer_1" descr="The Model Has Exactly One Trick — illustration part 2">    </p:cNvPr>
          <p:cNvPicPr>
            <a:picLocks noChangeAspect="1"/>
          </p:cNvPicPr>
          <p:nvPr/>
        </p:nvPicPr>
        <p:blipFill>
          <a:blip r:embed="rId2"/>
          <a:stretch>
            <a:fillRect/>
          </a:stretch>
        </p:blipFill>
        <p:spPr>
          <a:xfrm>
            <a:off x="1463133" y="3207094"/>
            <a:ext cx="8162043" cy="2136038"/>
          </a:xfrm>
          <a:prstGeom prst="rect">
            <a:avLst/>
          </a:prstGeom>
        </p:spPr>
      </p:pic>
      <p:pic>
        <p:nvPicPr>
          <p:cNvPr id="6" name="layer_2" descr="The Model Has Exactly One Trick — illustration part 3">    </p:cNvPr>
          <p:cNvPicPr>
            <a:picLocks noChangeAspect="1"/>
          </p:cNvPicPr>
          <p:nvPr/>
        </p:nvPicPr>
        <p:blipFill>
          <a:blip r:embed="rId3"/>
          <a:stretch>
            <a:fillRect/>
          </a:stretch>
        </p:blipFill>
        <p:spPr>
          <a:xfrm>
            <a:off x="9196920" y="4244886"/>
            <a:ext cx="1259574" cy="1259457"/>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Append the new token and go again — a 100-token answer is 100 laps of this loop</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A model only ever predicts the next token. It appends that token to the text and predicts again — so a 100-token answer is the same loop run 100 times.</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64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How the Next Token Is Chosen</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The model scores every possible next token</a:t>
            </a:r>
            <a:endParaRPr lang="en-US" sz="1700" dirty="0"/>
          </a:p>
        </p:txBody>
      </p:sp>
      <p:pic>
        <p:nvPicPr>
          <p:cNvPr id="4" name="layer_0" descr="How the Next Token Is Chosen — illustration part 1">    </p:cNvPr>
          <p:cNvPicPr>
            <a:picLocks noChangeAspect="1"/>
          </p:cNvPicPr>
          <p:nvPr/>
        </p:nvPicPr>
        <p:blipFill>
          <a:blip r:embed="rId1"/>
          <a:stretch>
            <a:fillRect/>
          </a:stretch>
        </p:blipFill>
        <p:spPr>
          <a:xfrm>
            <a:off x="1296869" y="2411118"/>
            <a:ext cx="5174332" cy="937036"/>
          </a:xfrm>
          <a:prstGeom prst="rect">
            <a:avLst/>
          </a:prstGeom>
        </p:spPr>
      </p:pic>
      <p:pic>
        <p:nvPicPr>
          <p:cNvPr id="5" name="layer_1" descr="How the Next Token Is Chosen — illustration part 2">    </p:cNvPr>
          <p:cNvPicPr>
            <a:picLocks noChangeAspect="1"/>
          </p:cNvPicPr>
          <p:nvPr/>
        </p:nvPicPr>
        <p:blipFill>
          <a:blip r:embed="rId2"/>
          <a:stretch>
            <a:fillRect/>
          </a:stretch>
        </p:blipFill>
        <p:spPr>
          <a:xfrm>
            <a:off x="6461124" y="2169302"/>
            <a:ext cx="4489123" cy="2745615"/>
          </a:xfrm>
          <a:prstGeom prst="rect">
            <a:avLst/>
          </a:prstGeom>
        </p:spPr>
      </p:pic>
      <p:pic>
        <p:nvPicPr>
          <p:cNvPr id="6" name="layer_2" descr="How the Next Token Is Chosen — illustration part 3">    </p:cNvPr>
          <p:cNvPicPr>
            <a:picLocks noChangeAspect="1"/>
          </p:cNvPicPr>
          <p:nvPr/>
        </p:nvPicPr>
        <p:blipFill>
          <a:blip r:embed="rId3"/>
          <a:stretch>
            <a:fillRect/>
          </a:stretch>
        </p:blipFill>
        <p:spPr>
          <a:xfrm>
            <a:off x="1694894" y="2093734"/>
            <a:ext cx="9184817" cy="2977355"/>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The output is a probability for each token in the vocabulary — the server picks one and loops</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For 'The capital of France is', the model gives ' Paris' a very high probability and everything else tiny ones. The server samples or picks the top token, appends it, and runs the model again.</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65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Why Answers Stream Word by Word</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You're watching each lap of the loop finish</a:t>
            </a:r>
            <a:endParaRPr lang="en-US" sz="1700" dirty="0"/>
          </a:p>
        </p:txBody>
      </p:sp>
      <p:pic>
        <p:nvPicPr>
          <p:cNvPr id="4" name="layer_0" descr="Why Answers Stream Word by Word — illustration part 1">    </p:cNvPr>
          <p:cNvPicPr>
            <a:picLocks noChangeAspect="1"/>
          </p:cNvPicPr>
          <p:nvPr/>
        </p:nvPicPr>
        <p:blipFill>
          <a:blip r:embed="rId1"/>
          <a:stretch>
            <a:fillRect/>
          </a:stretch>
        </p:blipFill>
        <p:spPr>
          <a:xfrm>
            <a:off x="1463133" y="1998016"/>
            <a:ext cx="5920000" cy="3425722"/>
          </a:xfrm>
          <a:prstGeom prst="rect">
            <a:avLst/>
          </a:prstGeom>
        </p:spPr>
      </p:pic>
      <p:pic>
        <p:nvPicPr>
          <p:cNvPr id="5" name="layer_1" descr="Why Answers Stream Word by Word — illustration part 2">    </p:cNvPr>
          <p:cNvPicPr>
            <a:picLocks noChangeAspect="1"/>
          </p:cNvPicPr>
          <p:nvPr/>
        </p:nvPicPr>
        <p:blipFill>
          <a:blip r:embed="rId2"/>
          <a:stretch>
            <a:fillRect/>
          </a:stretch>
        </p:blipFill>
        <p:spPr>
          <a:xfrm>
            <a:off x="3251728" y="3060997"/>
            <a:ext cx="1355302" cy="745598"/>
          </a:xfrm>
          <a:prstGeom prst="rect">
            <a:avLst/>
          </a:prstGeom>
        </p:spPr>
      </p:pic>
      <p:pic>
        <p:nvPicPr>
          <p:cNvPr id="6" name="layer_2" descr="Why Answers Stream Word by Word — illustration part 3">    </p:cNvPr>
          <p:cNvPicPr>
            <a:picLocks noChangeAspect="1"/>
          </p:cNvPicPr>
          <p:nvPr/>
        </p:nvPicPr>
        <p:blipFill>
          <a:blip r:embed="rId3"/>
          <a:stretch>
            <a:fillRect/>
          </a:stretch>
        </p:blipFill>
        <p:spPr>
          <a:xfrm>
            <a:off x="5080631" y="3060997"/>
            <a:ext cx="1204153" cy="745598"/>
          </a:xfrm>
          <a:prstGeom prst="rect">
            <a:avLst/>
          </a:prstGeom>
        </p:spPr>
      </p:pic>
      <p:pic>
        <p:nvPicPr>
          <p:cNvPr id="7" name="layer_3" descr="Why Answers Stream Word by Word — illustration part 4">    </p:cNvPr>
          <p:cNvPicPr>
            <a:picLocks noChangeAspect="1"/>
          </p:cNvPicPr>
          <p:nvPr/>
        </p:nvPicPr>
        <p:blipFill>
          <a:blip r:embed="rId4"/>
          <a:stretch>
            <a:fillRect/>
          </a:stretch>
        </p:blipFill>
        <p:spPr>
          <a:xfrm>
            <a:off x="6652580" y="3166791"/>
            <a:ext cx="3229549" cy="760712"/>
          </a:xfrm>
          <a:prstGeom prst="rect">
            <a:avLst/>
          </a:prstGeom>
        </p:spPr>
      </p:pic>
      <p:sp>
        <p:nvSpPr>
          <p:cNvPr id="8"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9"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Streaming isn't a feature someone built on top — it falls out of the loop for free</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Each lap of the loop finishes one token, so you see the answer type itself out word by word. Streaming comes for free.</a:t>
            </a:r>
            <a:endParaRPr lang="en-US" sz="1200" dirty="0"/>
          </a:p>
        </p:txBody>
      </p:sp>
      <p:sp>
        <p:nvSpPr>
          <p:cNvPr id="10"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5"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66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par>
                    <p:cTn id="15" fill="hold">
                      <p:stCondLst>
                        <p:cond delay="indefinite"/>
                      </p:stCondLst>
                      <p:childTnLst>
                        <p:par>
                          <p:cTn id="16" fill="hold">
                            <p:stCondLst>
                              <p:cond delay="0"/>
                            </p:stCondLst>
                            <p:childTnLst>
                              <p:par>
                                <p:cTn id="20" presetID="42"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p:cTn id="18" dur="600" fill="hold"/>
                                        <p:tgtEl>
                                          <p:spTgt spid="7"/>
                                        </p:tgtEl>
                                        <p:attrNameLst>
                                          <p:attrName>ppt_y</p:attrName>
                                        </p:attrNameLst>
                                      </p:cBhvr>
                                      <p:tavLst>
                                        <p:tav tm="0">
                                          <p:val>
                                            <p:strVal val="#ppt_y+0.03"/>
                                          </p:val>
                                        </p:tav>
                                        <p:tav tm="100000">
                                          <p:val>
                                            <p:strVal val="#ppt_y"/>
                                          </p:val>
                                        </p:tav>
                                      </p:tavLst>
                                    </p:anim>
                                    <p:animEffect transition="in" filter="fade">
                                      <p:cBhvr>
                                        <p:cTn id="19" dur="6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Consequence #1: LLM Requests Are Slow</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A web request finishes in milliseconds</a:t>
            </a:r>
            <a:endParaRPr lang="en-US" sz="1700" dirty="0"/>
          </a:p>
        </p:txBody>
      </p:sp>
      <p:pic>
        <p:nvPicPr>
          <p:cNvPr id="4" name="layer_0" descr="Consequence #1: LLM Requests Are Slow — illustration part 1">    </p:cNvPr>
          <p:cNvPicPr>
            <a:picLocks noChangeAspect="1"/>
          </p:cNvPicPr>
          <p:nvPr/>
        </p:nvPicPr>
        <p:blipFill>
          <a:blip r:embed="rId1"/>
          <a:stretch>
            <a:fillRect/>
          </a:stretch>
        </p:blipFill>
        <p:spPr>
          <a:xfrm>
            <a:off x="1488324" y="2290210"/>
            <a:ext cx="3521770" cy="513858"/>
          </a:xfrm>
          <a:prstGeom prst="rect">
            <a:avLst/>
          </a:prstGeom>
        </p:spPr>
      </p:pic>
      <p:pic>
        <p:nvPicPr>
          <p:cNvPr id="5" name="layer_1" descr="Consequence #1: LLM Requests Are Slow — illustration part 2">    </p:cNvPr>
          <p:cNvPicPr>
            <a:picLocks noChangeAspect="1"/>
          </p:cNvPicPr>
          <p:nvPr/>
        </p:nvPicPr>
        <p:blipFill>
          <a:blip r:embed="rId2"/>
          <a:stretch>
            <a:fillRect/>
          </a:stretch>
        </p:blipFill>
        <p:spPr>
          <a:xfrm>
            <a:off x="1493362" y="3635309"/>
            <a:ext cx="9497192" cy="1788428"/>
          </a:xfrm>
          <a:prstGeom prst="rect">
            <a:avLst/>
          </a:prstGeom>
        </p:spPr>
      </p:pic>
      <p:sp>
        <p:nvSpPr>
          <p:cNvPr id="6"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7"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A few hundred tokens = a few hundred laps of the loop</a:t>
            </a:r>
            <a:endParaRPr lang="en-US" sz="1200" dirty="0"/>
          </a:p>
          <a:p>
            <a:pPr indent="0" marL="0">
              <a:spcAft>
                <a:spcPts val="200"/>
              </a:spcAft>
              <a:buNone/>
            </a:pPr>
            <a:r>
              <a:rPr lang="en-US" sz="1200" dirty="0">
                <a:solidFill>
                  <a:srgbClr val="C9D6EA"/>
                </a:solidFill>
                <a:latin typeface="Calibri" pitchFamily="34" charset="0"/>
                <a:ea typeface="Calibri" pitchFamily="34" charset="-122"/>
                <a:cs typeface="Calibri" pitchFamily="34" charset="-120"/>
              </a:rPr>
              <a:t>A normal web request finishes in milliseconds. An LLM answer of a few hundred tokens needs a few hundred laps of the loop, so it takes seconds.</a:t>
            </a:r>
            <a:endParaRPr lang="en-US" sz="1200" dirty="0"/>
          </a:p>
          <a:p>
            <a:pPr indent="0" marL="0">
              <a:spcAft>
                <a:spcPts val="200"/>
              </a:spcAft>
              <a:buNone/>
            </a:pPr>
            <a:r>
              <a:rPr lang="en-US" sz="1200" b="1" dirty="0">
                <a:solidFill>
                  <a:srgbClr val="5EE6A8"/>
                </a:solidFill>
                <a:latin typeface="Calibri" pitchFamily="34" charset="0"/>
                <a:ea typeface="Calibri" pitchFamily="34" charset="-122"/>
                <a:cs typeface="Calibri" pitchFamily="34" charset="-120"/>
              </a:rPr>
              <a:t>➜ How we'll fix it:  Chapter 4 shows exactly where the time goes — and the cache that removes the waste.</a:t>
            </a:r>
            <a:endParaRPr lang="en-US" sz="1200" dirty="0"/>
          </a:p>
        </p:txBody>
      </p:sp>
      <p:sp>
        <p:nvSpPr>
          <p:cNvPr id="8"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3"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67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Consequence #2: No Two Requests Are Alike</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Same server, same API — wildly different amounts of work</a:t>
            </a:r>
            <a:endParaRPr lang="en-US" sz="1700" dirty="0"/>
          </a:p>
        </p:txBody>
      </p:sp>
      <p:pic>
        <p:nvPicPr>
          <p:cNvPr id="4" name="layer_0" descr="Consequence #2: No Two Requests Are Alike — illustration part 1">    </p:cNvPr>
          <p:cNvPicPr>
            <a:picLocks noChangeAspect="1"/>
          </p:cNvPicPr>
          <p:nvPr/>
        </p:nvPicPr>
        <p:blipFill>
          <a:blip r:embed="rId1"/>
          <a:stretch>
            <a:fillRect/>
          </a:stretch>
        </p:blipFill>
        <p:spPr>
          <a:xfrm>
            <a:off x="1463133" y="2577366"/>
            <a:ext cx="2760987" cy="1209078"/>
          </a:xfrm>
          <a:prstGeom prst="rect">
            <a:avLst/>
          </a:prstGeom>
        </p:spPr>
      </p:pic>
      <p:pic>
        <p:nvPicPr>
          <p:cNvPr id="5" name="layer_1" descr="Consequence #2: No Two Requests Are Alike — illustration part 2">    </p:cNvPr>
          <p:cNvPicPr>
            <a:picLocks noChangeAspect="1"/>
          </p:cNvPicPr>
          <p:nvPr/>
        </p:nvPicPr>
        <p:blipFill>
          <a:blip r:embed="rId2"/>
          <a:stretch>
            <a:fillRect/>
          </a:stretch>
        </p:blipFill>
        <p:spPr>
          <a:xfrm>
            <a:off x="5090707" y="2320437"/>
            <a:ext cx="1713021" cy="3168793"/>
          </a:xfrm>
          <a:prstGeom prst="rect">
            <a:avLst/>
          </a:prstGeom>
        </p:spPr>
      </p:pic>
      <p:pic>
        <p:nvPicPr>
          <p:cNvPr id="6" name="layer_2" descr="Consequence #2: No Two Requests Are Alike — illustration part 3">    </p:cNvPr>
          <p:cNvPicPr>
            <a:picLocks noChangeAspect="1"/>
          </p:cNvPicPr>
          <p:nvPr/>
        </p:nvPicPr>
        <p:blipFill>
          <a:blip r:embed="rId3"/>
          <a:stretch>
            <a:fillRect/>
          </a:stretch>
        </p:blipFill>
        <p:spPr>
          <a:xfrm>
            <a:off x="7614894" y="2572328"/>
            <a:ext cx="3093515" cy="2851410"/>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"Capital of France?" ≈ 7 tokens · "Summarize this 100-page contract" = tens of thousands</a:t>
            </a:r>
            <a:endParaRPr lang="en-US" sz="1200" dirty="0"/>
          </a:p>
          <a:p>
            <a:pPr indent="0" marL="0">
              <a:spcAft>
                <a:spcPts val="200"/>
              </a:spcAft>
              <a:buNone/>
            </a:pPr>
            <a:r>
              <a:rPr lang="en-US" sz="1200" dirty="0">
                <a:solidFill>
                  <a:srgbClr val="C9D6EA"/>
                </a:solidFill>
                <a:latin typeface="Calibri" pitchFamily="34" charset="0"/>
                <a:ea typeface="Calibri" pitchFamily="34" charset="-122"/>
                <a:cs typeface="Calibri" pitchFamily="34" charset="-120"/>
              </a:rPr>
              <a:t>'Capital of France?' is a few tokens in and one or two out. 'Summarize this 100-page contract' is tens of thousands. Both hit the same API, but one is ~1,000× the work.</a:t>
            </a:r>
            <a:endParaRPr lang="en-US" sz="1200" dirty="0"/>
          </a:p>
          <a:p>
            <a:pPr indent="0" marL="0">
              <a:spcAft>
                <a:spcPts val="200"/>
              </a:spcAft>
              <a:buNone/>
            </a:pPr>
            <a:r>
              <a:rPr lang="en-US" sz="1200" b="1" dirty="0">
                <a:solidFill>
                  <a:srgbClr val="5EE6A8"/>
                </a:solidFill>
                <a:latin typeface="Calibri" pitchFamily="34" charset="0"/>
                <a:ea typeface="Calibri" pitchFamily="34" charset="-122"/>
                <a:cs typeface="Calibri" pitchFamily="34" charset="-120"/>
              </a:rPr>
              <a:t>➜ How we'll fix it:  Chapter 8: llm-d routes by size, cache and load instead of treating every request the same.</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68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Quick Check: Model Server &amp; Tokens</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Think about each question first — then click to reveal the answer</a:t>
            </a:r>
            <a:endParaRPr lang="en-US" sz="1700" dirty="0"/>
          </a:p>
        </p:txBody>
      </p:sp>
      <p:pic>
        <p:nvPicPr>
          <p:cNvPr id="4" name="layer_0" descr="Quick Check: Model Server &amp; Tokens — illustration part 1">    </p:cNvPr>
          <p:cNvPicPr>
            <a:picLocks noChangeAspect="1"/>
          </p:cNvPicPr>
          <p:nvPr/>
        </p:nvPicPr>
        <p:blipFill>
          <a:blip r:embed="rId1"/>
          <a:stretch>
            <a:fillRect/>
          </a:stretch>
        </p:blipFill>
        <p:spPr>
          <a:xfrm>
            <a:off x="1221294" y="1998016"/>
            <a:ext cx="4917379" cy="3259474"/>
          </a:xfrm>
          <a:prstGeom prst="rect">
            <a:avLst/>
          </a:prstGeom>
        </p:spPr>
      </p:pic>
      <p:pic>
        <p:nvPicPr>
          <p:cNvPr id="5" name="layer_1" descr="Quick Check: Model Server &amp; Tokens — illustration part 2">    </p:cNvPr>
          <p:cNvPicPr>
            <a:picLocks noChangeAspect="1"/>
          </p:cNvPicPr>
          <p:nvPr/>
        </p:nvPicPr>
        <p:blipFill>
          <a:blip r:embed="rId2"/>
          <a:stretch>
            <a:fillRect/>
          </a:stretch>
        </p:blipFill>
        <p:spPr>
          <a:xfrm>
            <a:off x="6123558" y="1998016"/>
            <a:ext cx="4836766" cy="1430743"/>
          </a:xfrm>
          <a:prstGeom prst="rect">
            <a:avLst/>
          </a:prstGeom>
        </p:spPr>
      </p:pic>
      <p:pic>
        <p:nvPicPr>
          <p:cNvPr id="6" name="layer_2" descr="Quick Check: Model Server &amp; Tokens — illustration part 3">    </p:cNvPr>
          <p:cNvPicPr>
            <a:picLocks noChangeAspect="1"/>
          </p:cNvPicPr>
          <p:nvPr/>
        </p:nvPicPr>
        <p:blipFill>
          <a:blip r:embed="rId3"/>
          <a:stretch>
            <a:fillRect/>
          </a:stretch>
        </p:blipFill>
        <p:spPr>
          <a:xfrm>
            <a:off x="6123558" y="3826747"/>
            <a:ext cx="4836766" cy="1430743"/>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Click once per answer</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Pause and answer out loud before clicking. If an answer surprises you, jump back to that part of the section using the agenda.</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69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500" fill="hold"/>
                                        <p:tgtEl>
                                          <p:spTgt spid="5"/>
                                        </p:tgtEl>
                                        <p:attrNameLst>
                                          <p:attrName>ppt_w</p:attrName>
                                        </p:attrNameLst>
                                      </p:cBhvr>
                                      <p:tavLst>
                                        <p:tav tm="0">
                                          <p:val>
                                            <p:fltVal val="0"/>
                                          </p:val>
                                        </p:tav>
                                        <p:tav tm="100000">
                                          <p:val>
                                            <p:strVal val="#ppt_w"/>
                                          </p:val>
                                        </p:tav>
                                      </p:tavLst>
                                    </p:anim>
                                    <p:anim calcmode="lin" valueType="num">
                                      <p:cBhvr>
                                        <p:cTn id="7" dur="500" fill="hold"/>
                                        <p:tgtEl>
                                          <p:spTgt spid="5"/>
                                        </p:tgtEl>
                                        <p:attrNameLst>
                                          <p:attrName>ppt_h</p:attrName>
                                        </p:attrNameLst>
                                      </p:cBhvr>
                                      <p:tavLst>
                                        <p:tav tm="0">
                                          <p:val>
                                            <p:fltVal val="0"/>
                                          </p:val>
                                        </p:tav>
                                        <p:tav tm="100000">
                                          <p:val>
                                            <p:strVal val="#ppt_h"/>
                                          </p:val>
                                        </p:tav>
                                      </p:tavLst>
                                    </p:anim>
                                    <p:animEffect transition="in" filter="fade">
                                      <p:cBhvr>
                                        <p:cTn id="8"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6" presetID="53" presetClass="entr" presetSubtype="16"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p:cTn id="13" dur="500" fill="hold"/>
                                        <p:tgtEl>
                                          <p:spTgt spid="6"/>
                                        </p:tgtEl>
                                        <p:attrNameLst>
                                          <p:attrName>ppt_w</p:attrName>
                                        </p:attrNameLst>
                                      </p:cBhvr>
                                      <p:tavLst>
                                        <p:tav tm="0">
                                          <p:val>
                                            <p:fltVal val="0"/>
                                          </p:val>
                                        </p:tav>
                                        <p:tav tm="100000">
                                          <p:val>
                                            <p:strVal val="#ppt_w"/>
                                          </p:val>
                                        </p:tav>
                                      </p:tavLst>
                                    </p:anim>
                                    <p:anim calcmode="lin" valueType="num">
                                      <p:cBhvr>
                                        <p:cTn id="14" dur="500" fill="hold"/>
                                        <p:tgtEl>
                                          <p:spTgt spid="6"/>
                                        </p:tgtEl>
                                        <p:attrNameLst>
                                          <p:attrName>ppt_h</p:attrName>
                                        </p:attrNameLst>
                                      </p:cBhvr>
                                      <p:tavLst>
                                        <p:tav tm="0">
                                          <p:val>
                                            <p:fltVal val="0"/>
                                          </p:val>
                                        </p:tav>
                                        <p:tav tm="100000">
                                          <p:val>
                                            <p:strVal val="#ppt_h"/>
                                          </p:val>
                                        </p:tav>
                                      </p:tavLst>
                                    </p:anim>
                                    <p:animEffect transition="in" filter="fade">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Story So Far: Model server ✓</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Solved: vLLM + the token-by-token loop  →  next problem: Requests are slow and wildly unequal. Why?</a:t>
            </a:r>
            <a:endParaRPr lang="en-US" sz="1700" dirty="0"/>
          </a:p>
        </p:txBody>
      </p:sp>
      <p:pic>
        <p:nvPicPr>
          <p:cNvPr id="4" name="layer_0" descr="Story So Far: Model server ✓ — illustration part 1">    </p:cNvPr>
          <p:cNvPicPr>
            <a:picLocks noChangeAspect="1"/>
          </p:cNvPicPr>
          <p:nvPr/>
        </p:nvPicPr>
        <p:blipFill>
          <a:blip r:embed="rId1"/>
          <a:stretch>
            <a:fillRect/>
          </a:stretch>
        </p:blipFill>
        <p:spPr>
          <a:xfrm>
            <a:off x="1231371" y="2229756"/>
            <a:ext cx="9144511" cy="2599518"/>
          </a:xfrm>
          <a:prstGeom prst="rect">
            <a:avLst/>
          </a:prstGeom>
        </p:spPr>
      </p:pic>
      <p:pic>
        <p:nvPicPr>
          <p:cNvPr id="5" name="layer_1" descr="Story So Far: Model server ✓ — illustration part 2">    </p:cNvPr>
          <p:cNvPicPr>
            <a:picLocks noChangeAspect="1"/>
          </p:cNvPicPr>
          <p:nvPr/>
        </p:nvPicPr>
        <p:blipFill>
          <a:blip r:embed="rId2"/>
          <a:stretch>
            <a:fillRect/>
          </a:stretch>
        </p:blipFill>
        <p:spPr>
          <a:xfrm>
            <a:off x="4753141" y="1872070"/>
            <a:ext cx="1672715" cy="1566764"/>
          </a:xfrm>
          <a:prstGeom prst="rect">
            <a:avLst/>
          </a:prstGeom>
        </p:spPr>
      </p:pic>
      <p:pic>
        <p:nvPicPr>
          <p:cNvPr id="6" name="layer_2" descr="Story So Far: Model server ✓ — illustration part 3">    </p:cNvPr>
          <p:cNvPicPr>
            <a:picLocks noChangeAspect="1"/>
          </p:cNvPicPr>
          <p:nvPr/>
        </p:nvPicPr>
        <p:blipFill>
          <a:blip r:embed="rId3"/>
          <a:stretch>
            <a:fillRect/>
          </a:stretch>
        </p:blipFill>
        <p:spPr>
          <a:xfrm>
            <a:off x="7100988" y="2154188"/>
            <a:ext cx="796051" cy="997490"/>
          </a:xfrm>
          <a:prstGeom prst="rect">
            <a:avLst/>
          </a:prstGeom>
        </p:spPr>
      </p:pic>
      <p:pic>
        <p:nvPicPr>
          <p:cNvPr id="7" name="layer_3" descr="Story So Far: Model server ✓ — illustration part 4">    </p:cNvPr>
          <p:cNvPicPr>
            <a:picLocks noChangeAspect="1"/>
          </p:cNvPicPr>
          <p:nvPr/>
        </p:nvPicPr>
        <p:blipFill>
          <a:blip r:embed="rId4"/>
          <a:stretch>
            <a:fillRect/>
          </a:stretch>
        </p:blipFill>
        <p:spPr>
          <a:xfrm>
            <a:off x="2294452" y="5121468"/>
            <a:ext cx="7582638" cy="584388"/>
          </a:xfrm>
          <a:prstGeom prst="rect">
            <a:avLst/>
          </a:prstGeom>
        </p:spPr>
      </p:pic>
      <p:sp>
        <p:nvSpPr>
          <p:cNvPr id="8"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9"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Up next — Chapter 4 · Prefill, Decode &amp; the KV Cache</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vLLM serves the model over a normal API, writing answers one token per lap. That loop makes requests slow and very unequal in size. Next we open the loop to see where the time goes — and how to stop wasting it.</a:t>
            </a:r>
            <a:endParaRPr lang="en-US" sz="1200" dirty="0"/>
          </a:p>
        </p:txBody>
      </p:sp>
      <p:sp>
        <p:nvSpPr>
          <p:cNvPr id="10"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5"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70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ppt_w</p:attrName>
                                        </p:attrNameLst>
                                      </p:cBhvr>
                                      <p:tavLst>
                                        <p:tav tm="0">
                                          <p:val>
                                            <p:fltVal val="0"/>
                                          </p:val>
                                        </p:tav>
                                        <p:tav tm="100000">
                                          <p:val>
                                            <p:strVal val="#ppt_w"/>
                                          </p:val>
                                        </p:tav>
                                      </p:tavLst>
                                    </p:anim>
                                    <p:anim calcmode="lin" valueType="num">
                                      <p:cBhvr>
                                        <p:cTn id="7" dur="600" fill="hold"/>
                                        <p:tgtEl>
                                          <p:spTgt spid="5"/>
                                        </p:tgtEl>
                                        <p:attrNameLst>
                                          <p:attrName>ppt_h</p:attrName>
                                        </p:attrNameLst>
                                      </p:cBhvr>
                                      <p:tavLst>
                                        <p:tav tm="0">
                                          <p:val>
                                            <p:fltVal val="0"/>
                                          </p:val>
                                        </p:tav>
                                        <p:tav tm="100000">
                                          <p:val>
                                            <p:strVal val="#ppt_h"/>
                                          </p:val>
                                        </p:tav>
                                      </p:tavLst>
                                    </p:anim>
                                    <p:animEffect transition="in" filter="fade">
                                      <p:cBhvr>
                                        <p:cTn id="8" dur="600"/>
                                        <p:tgtEl>
                                          <p:spTgt spid="5"/>
                                        </p:tgtEl>
                                      </p:cBhvr>
                                    </p:animEffect>
                                  </p:childTnLst>
                                </p:cTn>
                              </p:par>
                            </p:childTnLst>
                          </p:cTn>
                        </p:par>
                        <p:par>
                          <p:cTn id="10" fill="hold">
                            <p:stCondLst>
                              <p:cond delay="600"/>
                            </p:stCondLst>
                            <p:childTnLst>
                              <p:par>
                                <p:cTn id="15" presetID="53" presetClass="entr" presetSubtype="16" fill="hold" grpId="0" nodeType="after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ppt_w</p:attrName>
                                        </p:attrNameLst>
                                      </p:cBhvr>
                                      <p:tavLst>
                                        <p:tav tm="0">
                                          <p:val>
                                            <p:fltVal val="0"/>
                                          </p:val>
                                        </p:tav>
                                        <p:tav tm="100000">
                                          <p:val>
                                            <p:strVal val="#ppt_w"/>
                                          </p:val>
                                        </p:tav>
                                      </p:tavLst>
                                    </p:anim>
                                    <p:anim calcmode="lin" valueType="num">
                                      <p:cBhvr>
                                        <p:cTn id="13" dur="600" fill="hold"/>
                                        <p:tgtEl>
                                          <p:spTgt spid="6"/>
                                        </p:tgtEl>
                                        <p:attrNameLst>
                                          <p:attrName>ppt_h</p:attrName>
                                        </p:attrNameLst>
                                      </p:cBhvr>
                                      <p:tavLst>
                                        <p:tav tm="0">
                                          <p:val>
                                            <p:fltVal val="0"/>
                                          </p:val>
                                        </p:tav>
                                        <p:tav tm="100000">
                                          <p:val>
                                            <p:strVal val="#ppt_h"/>
                                          </p:val>
                                        </p:tav>
                                      </p:tavLst>
                                    </p:anim>
                                    <p:animEffect transition="in" filter="fade">
                                      <p:cBhvr>
                                        <p:cTn id="14" dur="600"/>
                                        <p:tgtEl>
                                          <p:spTgt spid="6"/>
                                        </p:tgtEl>
                                      </p:cBhvr>
                                    </p:animEffect>
                                  </p:childTnLst>
                                </p:cTn>
                              </p:par>
                            </p:childTnLst>
                          </p:cTn>
                        </p:par>
                        <p:par>
                          <p:cTn id="16" fill="hold">
                            <p:stCondLst>
                              <p:cond delay="1200"/>
                            </p:stCondLst>
                            <p:childTnLst>
                              <p:par>
                                <p:cTn id="20" presetID="2" presetClass="entr" presetSubtype="4" fill="hold" grpId="0" nodeType="after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additive="base">
                                        <p:cTn id="18" dur="600" fill="hold"/>
                                        <p:tgtEl>
                                          <p:spTgt spid="7"/>
                                        </p:tgtEl>
                                        <p:attrNameLst>
                                          <p:attrName>ppt_y</p:attrName>
                                        </p:attrNameLst>
                                      </p:cBhvr>
                                      <p:tavLst>
                                        <p:tav tm="0">
                                          <p:val>
                                            <p:strVal val="#ppt_y+0.08"/>
                                          </p:val>
                                        </p:tav>
                                        <p:tav tm="100000">
                                          <p:val>
                                            <p:strVal val="#ppt_y"/>
                                          </p:val>
                                        </p:tav>
                                      </p:tavLst>
                                    </p:anim>
                                    <p:animEffect transition="in" filter="fade">
                                      <p:cBhvr>
                                        <p:cTn id="19" dur="6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0" type="title" hasCustomPrompt="1"/>
          </p:nvPr>
        </p:nvSpPr>
        <p:spPr>
          <a:xfrm>
            <a:off x="731520" y="2834640"/>
            <a:ext cx="5669280" cy="1371600"/>
          </a:xfrm>
          <a:prstGeom prst="rect">
            <a:avLst/>
          </a:prstGeom>
          <a:noFill/>
          <a:ln/>
        </p:spPr>
        <p:txBody>
          <a:bodyPr wrap="square" lIns="0" tIns="0" rIns="0" bIns="0" rtlCol="0" anchor="t"/>
          <a:lstStyle/>
          <a:p>
            <a:pPr algn="l" indent="0" marL="0">
              <a:buNone/>
            </a:pPr>
            <a:r>
              <a:rPr lang="en-US" sz="4000" b="1" dirty="0">
                <a:solidFill>
                  <a:srgbClr val="FFFFFF"/>
                </a:solidFill>
                <a:latin typeface="Calibri" pitchFamily="34" charset="0"/>
                <a:ea typeface="Calibri" pitchFamily="34" charset="-122"/>
                <a:cs typeface="Calibri" pitchFamily="34" charset="-120"/>
              </a:rPr>
              <a:t>Prefill, Decode &amp; the KV Cache</a:t>
            </a:r>
            <a:endParaRPr lang="en-US" sz="4000" dirty="0"/>
          </a:p>
        </p:txBody>
      </p:sp>
      <p:sp>
        <p:nvSpPr>
          <p:cNvPr id="3" name="Text 0"/>
          <p:cNvSpPr/>
          <p:nvPr>
            <p:ph idx="101" type="body" hasCustomPrompt="1"/>
          </p:nvPr>
        </p:nvSpPr>
        <p:spPr>
          <a:xfrm>
            <a:off x="731520" y="4251960"/>
            <a:ext cx="5120640" cy="822960"/>
          </a:xfrm>
          <a:prstGeom prst="rect">
            <a:avLst/>
          </a:prstGeom>
          <a:noFill/>
          <a:ln/>
        </p:spPr>
        <p:txBody>
          <a:bodyPr wrap="square" lIns="0" tIns="0" rIns="0" bIns="0" rtlCol="0" anchor="t"/>
          <a:lstStyle/>
          <a:p>
            <a:pPr algn="l" indent="0" marL="0">
              <a:buNone/>
            </a:pPr>
            <a:r>
              <a:rPr lang="en-US" sz="2000" dirty="0">
                <a:solidFill>
                  <a:srgbClr val="22D3EE"/>
                </a:solidFill>
                <a:latin typeface="Calibri" pitchFamily="34" charset="0"/>
                <a:ea typeface="Calibri" pitchFamily="34" charset="-122"/>
                <a:cs typeface="Calibri" pitchFamily="34" charset="-120"/>
              </a:rPr>
              <a:t>Why is every request slow — and how do we stop wasting work?</a:t>
            </a:r>
            <a:endParaRPr lang="en-US" sz="2000" dirty="0"/>
          </a:p>
        </p:txBody>
      </p:sp>
      <p:sp>
        <p:nvSpPr>
          <p:cNvPr id="4" name="Text 2"/>
          <p:cNvSpPr txBox="1"/>
          <p:nvPr/>
        </p:nvSpPr>
        <p:spPr>
          <a:xfrm>
            <a:off x="731520" y="1371600"/>
            <a:ext cx="2743200" cy="1371600"/>
          </a:xfrm>
          <a:prstGeom prst="rect">
            <a:avLst/>
          </a:prstGeom>
          <a:noFill/>
          <a:ln/>
        </p:spPr>
        <p:txBody>
          <a:bodyPr wrap="square" lIns="0" tIns="0" rIns="0" bIns="0" rtlCol="0" anchor="ctr"/>
          <a:lstStyle/>
          <a:p>
            <a:pPr indent="0" marL="0">
              <a:buNone/>
            </a:pPr>
            <a:r>
              <a:rPr lang="en-US" sz="9600" b="1" dirty="0">
                <a:solidFill>
                  <a:srgbClr val="22D3EE">
                    <a:alpha val="80000"/>
                  </a:srgbClr>
                </a:solidFill>
                <a:latin typeface="Calibri" pitchFamily="34" charset="0"/>
                <a:ea typeface="Calibri" pitchFamily="34" charset="-122"/>
                <a:cs typeface="Calibri" pitchFamily="34" charset="-120"/>
              </a:rPr>
              <a:t>04</a:t>
            </a:r>
            <a:endParaRPr lang="en-US" sz="9600" dirty="0"/>
          </a:p>
        </p:txBody>
      </p:sp>
      <p:pic>
        <p:nvPicPr>
          <p:cNvPr id="5" name="layer_0" descr="Prefill, Decode &amp; the KV Cache — illustration part 1">    </p:cNvPr>
          <p:cNvPicPr>
            <a:picLocks noChangeAspect="1"/>
          </p:cNvPicPr>
          <p:nvPr/>
        </p:nvPicPr>
        <p:blipFill>
          <a:blip r:embed="rId1"/>
          <a:stretch>
            <a:fillRect/>
          </a:stretch>
        </p:blipFill>
        <p:spPr>
          <a:xfrm>
            <a:off x="6393660" y="2979403"/>
            <a:ext cx="3476357" cy="1025623"/>
          </a:xfrm>
          <a:prstGeom prst="rect">
            <a:avLst/>
          </a:prstGeom>
        </p:spPr>
      </p:pic>
      <p:sp>
        <p:nvSpPr>
          <p:cNvPr id="6" name="nav_agenda"/>
          <p:cNvSpPr txBox="1"/>
          <p:nvPr/>
        </p:nvSpPr>
        <p:spPr>
          <a:xfrm>
            <a:off x="731520" y="5669280"/>
            <a:ext cx="1371600" cy="384048"/>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1300" u="sng" dirty="0">
                <a:solidFill>
                  <a:srgbClr val="22D3EE"/>
                </a:solidFill>
                <a:latin typeface="Calibri" pitchFamily="34" charset="0"/>
                <a:ea typeface="Calibri" pitchFamily="34" charset="-122"/>
                <a:cs typeface="Calibri" pitchFamily="34" charset="-120"/>
                <a:hlinkClick r:id="rId2" action="ppaction://hlinksldjump" tooltip="Back to agenda">
                  <a:extLst>
                    <a:ext uri="{A12FA001-AC4F-418D-AE19-62706E023703}">
                      <ahyp:hlinkClr xmlns:ahyp="http://schemas.microsoft.com/office/drawing/2018/hyperlinkcolor" val="tx"/>
                    </a:ext>
                  </a:extLst>
                </a:hlinkClick>
              </a:rPr>
              <a:t>⌂ Agenda</a:t>
            </a:r>
            <a:endParaRPr lang="en-US" sz="13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71</a:t>
            </a:fld>
            <a:endParaRPr lang="en-US"/>
          </a:p>
        </p:txBody>
      </p:sp>
    </p:spTree>
  </p:cSld>
  <p:clrMapOvr>
    <a:masterClrMapping/>
  </p:clrMapOvr>
  <p:transition spd="med">
    <p:fade/>
  </p:transition>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Every Answer Has Two Halves</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First a pause... then a steady stream</a:t>
            </a:r>
            <a:endParaRPr lang="en-US" sz="1700" dirty="0"/>
          </a:p>
        </p:txBody>
      </p:sp>
      <p:pic>
        <p:nvPicPr>
          <p:cNvPr id="4" name="layer_0" descr="Every Answer Has Two Halves — illustration part 1">    </p:cNvPr>
          <p:cNvPicPr>
            <a:picLocks noChangeAspect="1"/>
          </p:cNvPicPr>
          <p:nvPr/>
        </p:nvPicPr>
        <p:blipFill>
          <a:blip r:embed="rId1"/>
          <a:stretch>
            <a:fillRect/>
          </a:stretch>
        </p:blipFill>
        <p:spPr>
          <a:xfrm>
            <a:off x="1473209" y="2270058"/>
            <a:ext cx="9396426" cy="2261984"/>
          </a:xfrm>
          <a:prstGeom prst="rect">
            <a:avLst/>
          </a:prstGeom>
        </p:spPr>
      </p:pic>
      <p:pic>
        <p:nvPicPr>
          <p:cNvPr id="5" name="layer_1" descr="Every Answer Has Two Halves — illustration part 2">    </p:cNvPr>
          <p:cNvPicPr>
            <a:picLocks noChangeAspect="1"/>
          </p:cNvPicPr>
          <p:nvPr/>
        </p:nvPicPr>
        <p:blipFill>
          <a:blip r:embed="rId2"/>
          <a:stretch>
            <a:fillRect/>
          </a:stretch>
        </p:blipFill>
        <p:spPr>
          <a:xfrm>
            <a:off x="4788409" y="2562252"/>
            <a:ext cx="5239830" cy="1365251"/>
          </a:xfrm>
          <a:prstGeom prst="rect">
            <a:avLst/>
          </a:prstGeom>
        </p:spPr>
      </p:pic>
      <p:sp>
        <p:nvSpPr>
          <p:cNvPr id="6"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7"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Paste a big chunk of text: nothing for a second or two, then words flow out steadily</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Paste in a big chunk of text and you'll notice two phases: a pause of a second or two where nothing happens, then a steady stream of words.</a:t>
            </a:r>
            <a:endParaRPr lang="en-US" sz="1200" dirty="0"/>
          </a:p>
        </p:txBody>
      </p:sp>
      <p:sp>
        <p:nvSpPr>
          <p:cNvPr id="8"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3"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72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The Pause: Reading Everything at Once</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Your whole prompt goes through the model in one big burst</a:t>
            </a:r>
            <a:endParaRPr lang="en-US" sz="1700" dirty="0"/>
          </a:p>
        </p:txBody>
      </p:sp>
      <p:pic>
        <p:nvPicPr>
          <p:cNvPr id="4" name="layer_0" descr="The Pause: Reading Everything at Once — illustration part 1">    </p:cNvPr>
          <p:cNvPicPr>
            <a:picLocks noChangeAspect="1"/>
          </p:cNvPicPr>
          <p:nvPr/>
        </p:nvPicPr>
        <p:blipFill>
          <a:blip r:embed="rId1"/>
          <a:stretch>
            <a:fillRect/>
          </a:stretch>
        </p:blipFill>
        <p:spPr>
          <a:xfrm>
            <a:off x="1301907" y="1952675"/>
            <a:ext cx="1587064" cy="3314890"/>
          </a:xfrm>
          <a:prstGeom prst="rect">
            <a:avLst/>
          </a:prstGeom>
        </p:spPr>
      </p:pic>
      <p:pic>
        <p:nvPicPr>
          <p:cNvPr id="5" name="layer_1" descr="The Pause: Reading Everything at Once — illustration part 2">    </p:cNvPr>
          <p:cNvPicPr>
            <a:picLocks noChangeAspect="1"/>
          </p:cNvPicPr>
          <p:nvPr/>
        </p:nvPicPr>
        <p:blipFill>
          <a:blip r:embed="rId2"/>
          <a:stretch>
            <a:fillRect/>
          </a:stretch>
        </p:blipFill>
        <p:spPr>
          <a:xfrm>
            <a:off x="2888971" y="2108848"/>
            <a:ext cx="4992953" cy="3002545"/>
          </a:xfrm>
          <a:prstGeom prst="rect">
            <a:avLst/>
          </a:prstGeom>
        </p:spPr>
      </p:pic>
      <p:pic>
        <p:nvPicPr>
          <p:cNvPr id="6" name="layer_2" descr="The Pause: Reading Everything at Once — illustration part 3">    </p:cNvPr>
          <p:cNvPicPr>
            <a:picLocks noChangeAspect="1"/>
          </p:cNvPicPr>
          <p:nvPr/>
        </p:nvPicPr>
        <p:blipFill>
          <a:blip r:embed="rId3"/>
          <a:stretch>
            <a:fillRect/>
          </a:stretch>
        </p:blipFill>
        <p:spPr>
          <a:xfrm>
            <a:off x="7952460" y="2526988"/>
            <a:ext cx="2841600" cy="1566764"/>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Weights loaded from VRAM once, thousands of cores fire together — and out pops the first token</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During the pause, the model reads your whole prompt at once: every token goes through in one big burst, thousands of cores fire together, and the first answer token pops out.</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73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Pause Length = How Much You Gave It</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One tiny pass vs one giant burst</a:t>
            </a:r>
            <a:endParaRPr lang="en-US" sz="1700" dirty="0"/>
          </a:p>
        </p:txBody>
      </p:sp>
      <p:pic>
        <p:nvPicPr>
          <p:cNvPr id="4" name="layer_0" descr="Pause Length = How Much You Gave It — illustration part 1">    </p:cNvPr>
          <p:cNvPicPr>
            <a:picLocks noChangeAspect="1"/>
          </p:cNvPicPr>
          <p:nvPr/>
        </p:nvPicPr>
        <p:blipFill>
          <a:blip r:embed="rId1"/>
          <a:stretch>
            <a:fillRect/>
          </a:stretch>
        </p:blipFill>
        <p:spPr>
          <a:xfrm>
            <a:off x="1493362" y="2244869"/>
            <a:ext cx="5899847" cy="604539"/>
          </a:xfrm>
          <a:prstGeom prst="rect">
            <a:avLst/>
          </a:prstGeom>
        </p:spPr>
      </p:pic>
      <p:pic>
        <p:nvPicPr>
          <p:cNvPr id="5" name="layer_1" descr="Pause Length = How Much You Gave It — illustration part 2">    </p:cNvPr>
          <p:cNvPicPr>
            <a:picLocks noChangeAspect="1"/>
          </p:cNvPicPr>
          <p:nvPr/>
        </p:nvPicPr>
        <p:blipFill>
          <a:blip r:embed="rId2"/>
          <a:stretch>
            <a:fillRect/>
          </a:stretch>
        </p:blipFill>
        <p:spPr>
          <a:xfrm>
            <a:off x="1493362" y="3574855"/>
            <a:ext cx="9215047" cy="1551651"/>
          </a:xfrm>
          <a:prstGeom prst="rect">
            <a:avLst/>
          </a:prstGeom>
        </p:spPr>
      </p:pic>
      <p:sp>
        <p:nvSpPr>
          <p:cNvPr id="6"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7"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~7 tokens: no noticeable pause · a 100-page contract: tens of thousands of tokens = a real wait</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The length of the pause depends on how much text you gave it. Seven tokens is one tiny pass; a 100-page contract is a single huge burst and a real wait.</a:t>
            </a:r>
            <a:endParaRPr lang="en-US" sz="1200" dirty="0"/>
          </a:p>
        </p:txBody>
      </p:sp>
      <p:sp>
        <p:nvSpPr>
          <p:cNvPr id="8"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3"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74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Its Real Name: Prefill → TTFT</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The pause is called PREFILL; the wait it causes is Time To First Token</a:t>
            </a:r>
            <a:endParaRPr lang="en-US" sz="1700" dirty="0"/>
          </a:p>
        </p:txBody>
      </p:sp>
      <p:pic>
        <p:nvPicPr>
          <p:cNvPr id="4" name="layer_0" descr="Its Real Name: Prefill → TTFT — illustration part 1">    </p:cNvPr>
          <p:cNvPicPr>
            <a:picLocks noChangeAspect="1"/>
          </p:cNvPicPr>
          <p:nvPr/>
        </p:nvPicPr>
        <p:blipFill>
          <a:blip r:embed="rId1"/>
          <a:stretch>
            <a:fillRect/>
          </a:stretch>
        </p:blipFill>
        <p:spPr>
          <a:xfrm>
            <a:off x="1473209" y="3161754"/>
            <a:ext cx="9396426" cy="1264494"/>
          </a:xfrm>
          <a:prstGeom prst="rect">
            <a:avLst/>
          </a:prstGeom>
        </p:spPr>
      </p:pic>
      <p:pic>
        <p:nvPicPr>
          <p:cNvPr id="5" name="layer_1" descr="Its Real Name: Prefill → TTFT — illustration part 2">    </p:cNvPr>
          <p:cNvPicPr>
            <a:picLocks noChangeAspect="1"/>
          </p:cNvPicPr>
          <p:nvPr/>
        </p:nvPicPr>
        <p:blipFill>
          <a:blip r:embed="rId2"/>
          <a:stretch>
            <a:fillRect/>
          </a:stretch>
        </p:blipFill>
        <p:spPr>
          <a:xfrm>
            <a:off x="5453465" y="3257472"/>
            <a:ext cx="4630196" cy="1002527"/>
          </a:xfrm>
          <a:prstGeom prst="rect">
            <a:avLst/>
          </a:prstGeom>
        </p:spPr>
      </p:pic>
      <p:pic>
        <p:nvPicPr>
          <p:cNvPr id="6" name="layer_2" descr="Its Real Name: Prefill → TTFT — illustration part 3">    </p:cNvPr>
          <p:cNvPicPr>
            <a:picLocks noChangeAspect="1"/>
          </p:cNvPicPr>
          <p:nvPr/>
        </p:nvPicPr>
        <p:blipFill>
          <a:blip r:embed="rId3"/>
          <a:stretch>
            <a:fillRect/>
          </a:stretch>
        </p:blipFill>
        <p:spPr>
          <a:xfrm>
            <a:off x="1830928" y="3514402"/>
            <a:ext cx="3723302" cy="1884147"/>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TTFT = how long until the first token of the response appears</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This first phase is called prefill. The wait it causes is called time to first token (TTFT): how long until the first word of the answer appears.</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75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Decode: One Full Model Read per Token</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The token-by-token loop has a completely different bottleneck</a:t>
            </a:r>
            <a:endParaRPr lang="en-US" sz="1700" dirty="0"/>
          </a:p>
        </p:txBody>
      </p:sp>
      <p:pic>
        <p:nvPicPr>
          <p:cNvPr id="4" name="layer_0" descr="Decode: One Full Model Read per Token — illustration part 1">    </p:cNvPr>
          <p:cNvPicPr>
            <a:picLocks noChangeAspect="1"/>
          </p:cNvPicPr>
          <p:nvPr/>
        </p:nvPicPr>
        <p:blipFill>
          <a:blip r:embed="rId1"/>
          <a:stretch>
            <a:fillRect/>
          </a:stretch>
        </p:blipFill>
        <p:spPr>
          <a:xfrm>
            <a:off x="1463133" y="2078621"/>
            <a:ext cx="9159626" cy="2846372"/>
          </a:xfrm>
          <a:prstGeom prst="rect">
            <a:avLst/>
          </a:prstGeom>
        </p:spPr>
      </p:pic>
      <p:pic>
        <p:nvPicPr>
          <p:cNvPr id="5" name="layer_1" descr="Decode: One Full Model Read per Token — illustration part 2">    </p:cNvPr>
          <p:cNvPicPr>
            <a:picLocks noChangeAspect="1"/>
          </p:cNvPicPr>
          <p:nvPr/>
        </p:nvPicPr>
        <p:blipFill>
          <a:blip r:embed="rId2"/>
          <a:stretch>
            <a:fillRect/>
          </a:stretch>
        </p:blipFill>
        <p:spPr>
          <a:xfrm>
            <a:off x="3528835" y="2496761"/>
            <a:ext cx="4519353" cy="2584405"/>
          </a:xfrm>
          <a:prstGeom prst="rect">
            <a:avLst/>
          </a:prstGeom>
        </p:spPr>
      </p:pic>
      <p:pic>
        <p:nvPicPr>
          <p:cNvPr id="6" name="layer_2" descr="Decode: One Full Model Read per Token — illustration part 3">    </p:cNvPr>
          <p:cNvPicPr>
            <a:picLocks noChangeAspect="1"/>
          </p:cNvPicPr>
          <p:nvPr/>
        </p:nvPicPr>
        <p:blipFill>
          <a:blip r:embed="rId3"/>
          <a:stretch>
            <a:fillRect/>
          </a:stretch>
        </p:blipFill>
        <p:spPr>
          <a:xfrm>
            <a:off x="3458299" y="3907352"/>
            <a:ext cx="851472" cy="604539"/>
          </a:xfrm>
          <a:prstGeom prst="rect">
            <a:avLst/>
          </a:prstGeom>
        </p:spPr>
      </p:pic>
      <p:pic>
        <p:nvPicPr>
          <p:cNvPr id="7" name="layer_3" descr="Decode: One Full Model Read per Token — illustration part 4">    </p:cNvPr>
          <p:cNvPicPr>
            <a:picLocks noChangeAspect="1"/>
          </p:cNvPicPr>
          <p:nvPr/>
        </p:nvPicPr>
        <p:blipFill>
          <a:blip r:embed="rId4"/>
          <a:stretch>
            <a:fillRect/>
          </a:stretch>
        </p:blipFill>
        <p:spPr>
          <a:xfrm>
            <a:off x="8118724" y="3242359"/>
            <a:ext cx="2010281" cy="770787"/>
          </a:xfrm>
          <a:prstGeom prst="rect">
            <a:avLst/>
          </a:prstGeom>
        </p:spPr>
      </p:pic>
      <p:pic>
        <p:nvPicPr>
          <p:cNvPr id="8" name="layer_4" descr="Decode: One Full Model Read per Token — illustration part 5">    </p:cNvPr>
          <p:cNvPicPr>
            <a:picLocks noChangeAspect="1"/>
          </p:cNvPicPr>
          <p:nvPr/>
        </p:nvPicPr>
        <p:blipFill>
          <a:blip r:embed="rId5"/>
          <a:stretch>
            <a:fillRect/>
          </a:stretch>
        </p:blipFill>
        <p:spPr>
          <a:xfrm>
            <a:off x="2662248" y="3952692"/>
            <a:ext cx="7748902" cy="1486159"/>
          </a:xfrm>
          <a:prstGeom prst="rect">
            <a:avLst/>
          </a:prstGeom>
        </p:spPr>
      </p:pic>
      <p:sp>
        <p:nvSpPr>
          <p:cNvPr id="9"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10"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200-token answer = read the entire model 200 times — each read buys exactly ONE token</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The second phase, decode, writes the answer one token at a time. Each token requires reading the entire model out of memory, so a 200-token answer means 200 full reads.</a:t>
            </a:r>
            <a:endParaRPr lang="en-US" sz="1200" dirty="0"/>
          </a:p>
        </p:txBody>
      </p:sp>
      <p:sp>
        <p:nvSpPr>
          <p:cNvPr id="11"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6"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76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22" presetClass="entr" presetSubtype="8"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wipe(left)">
                                      <p:cBhvr>
                                        <p:cTn id="6" dur="700"/>
                                        <p:tgtEl>
                                          <p:spTgt spid="5"/>
                                        </p:tgtEl>
                                      </p:cBhvr>
                                    </p:animEffect>
                                  </p:childTnLst>
                                </p:cTn>
                              </p:par>
                            </p:childTnLst>
                          </p:cTn>
                        </p:par>
                        <p:par>
                          <p:cTn id="8" fill="hold">
                            <p:stCondLst>
                              <p:cond delay="700"/>
                            </p:stCondLst>
                            <p:childTnLst>
                              <p:par>
                                <p:cTn id="10" presetID="1" presetClass="entr" presetSubtype="0" fill="hold" grpId="0" nodeType="afterEffect">
                                  <p:stCondLst>
                                    <p:cond delay="0"/>
                                  </p:stCondLst>
                                  <p:childTnLst>
                                    <p:set>
                                      <p:cBhvr>
                                        <p:cTn id="9" dur="1" fill="hold">
                                          <p:stCondLst>
                                            <p:cond delay="0"/>
                                          </p:stCondLst>
                                        </p:cTn>
                                        <p:tgtEl>
                                          <p:spTgt spid="6"/>
                                        </p:tgtEl>
                                        <p:attrNameLst>
                                          <p:attrName>style.visibility</p:attrName>
                                        </p:attrNameLst>
                                      </p:cBhvr>
                                      <p:to>
                                        <p:strVal val="visible"/>
                                      </p:to>
                                    </p:set>
                                  </p:childTnLst>
                                </p:cTn>
                              </p:par>
                            </p:childTnLst>
                          </p:cTn>
                        </p:par>
                        <p:par>
                          <p:cTn id="11" fill="hold">
                            <p:stCondLst>
                              <p:cond delay="701"/>
                            </p:stCondLst>
                            <p:childTnLst>
                              <p:par>
                                <p:cTn id="14" presetID="0" presetClass="path" presetSubtype="0" fill="hold" grpId="0" nodeType="afterEffect">
                                  <p:stCondLst>
                                    <p:cond delay="0"/>
                                  </p:stCondLst>
                                  <p:childTnLst>
                                    <p:animMotion origin="layout" path="M 0 0 L 0.1636 0.0000 E" pathEditMode="relative" ptsTypes="">
                                      <p:cBhvr>
                                        <p:cTn id="13" dur="1300" fill="hold"/>
                                        <p:tgtEl>
                                          <p:spTgt spid="6"/>
                                        </p:tgtEl>
                                        <p:attrNameLst>
                                          <p:attrName>ppt_x</p:attrName>
                                          <p:attrName>ppt_y</p:attrName>
                                        </p:attrNameLst>
                                      </p:cBhvr>
                                    </p:animMotion>
                                  </p:childTnLst>
                                </p:cTn>
                              </p:par>
                            </p:childTnLst>
                          </p:cTn>
                        </p:par>
                        <p:par>
                          <p:cTn id="15" fill="hold">
                            <p:stCondLst>
                              <p:cond delay="2001"/>
                            </p:stCondLst>
                            <p:childTnLst>
                              <p:par>
                                <p:cTn id="18" presetID="22" presetClass="entr" presetSubtype="8"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par>
                    <p:cTn id="19" fill="hold">
                      <p:stCondLst>
                        <p:cond delay="indefinite"/>
                      </p:stCondLst>
                      <p:childTnLst>
                        <p:par>
                          <p:cTn id="20" fill="hold">
                            <p:stCondLst>
                              <p:cond delay="0"/>
                            </p:stCondLst>
                            <p:childTnLst>
                              <p:par>
                                <p:cTn id="23" presetID="22" presetClass="entr" presetSubtype="8"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12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Do the Math</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A high-end GPU reads its own memory at ~3 TB/s</a:t>
            </a:r>
            <a:endParaRPr lang="en-US" sz="1700" dirty="0"/>
          </a:p>
        </p:txBody>
      </p:sp>
      <p:pic>
        <p:nvPicPr>
          <p:cNvPr id="4" name="layer_0" descr="Do the Math — illustration part 1">    </p:cNvPr>
          <p:cNvPicPr>
            <a:picLocks noChangeAspect="1"/>
          </p:cNvPicPr>
          <p:nvPr/>
        </p:nvPicPr>
        <p:blipFill>
          <a:blip r:embed="rId1"/>
          <a:stretch>
            <a:fillRect/>
          </a:stretch>
        </p:blipFill>
        <p:spPr>
          <a:xfrm>
            <a:off x="1997192" y="2622706"/>
            <a:ext cx="4332936" cy="1037792"/>
          </a:xfrm>
          <a:prstGeom prst="rect">
            <a:avLst/>
          </a:prstGeom>
        </p:spPr>
      </p:pic>
      <p:pic>
        <p:nvPicPr>
          <p:cNvPr id="5" name="layer_1" descr="Do the Math — illustration part 2">    </p:cNvPr>
          <p:cNvPicPr>
            <a:picLocks noChangeAspect="1"/>
          </p:cNvPicPr>
          <p:nvPr/>
        </p:nvPicPr>
        <p:blipFill>
          <a:blip r:embed="rId2"/>
          <a:stretch>
            <a:fillRect/>
          </a:stretch>
        </p:blipFill>
        <p:spPr>
          <a:xfrm>
            <a:off x="7040528" y="2486685"/>
            <a:ext cx="2766026" cy="1057944"/>
          </a:xfrm>
          <a:prstGeom prst="rect">
            <a:avLst/>
          </a:prstGeom>
        </p:spPr>
      </p:pic>
      <p:pic>
        <p:nvPicPr>
          <p:cNvPr id="6" name="layer_2" descr="Do the Math — illustration part 3">    </p:cNvPr>
          <p:cNvPicPr>
            <a:picLocks noChangeAspect="1"/>
          </p:cNvPicPr>
          <p:nvPr/>
        </p:nvPicPr>
        <p:blipFill>
          <a:blip r:embed="rId3"/>
          <a:stretch>
            <a:fillRect/>
          </a:stretch>
        </p:blipFill>
        <p:spPr>
          <a:xfrm>
            <a:off x="3458299" y="4239849"/>
            <a:ext cx="5254945" cy="1183889"/>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3 TB/s ÷ 16 GB ≈ 200 full reads per second ≈ 200 tokens/s max ≈ one token every 5 ms</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A high-end GPU reads ~3 TB/s. Divide by a 16 GB model and you get ~200 full reads per second: ~200 tokens per second at most, or one token every 5 milliseconds.</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77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Where Does the Time Go During Decode?</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One token for an 8B model on a ~990 TFLOPS / ~3 TB/s GPU</a:t>
            </a:r>
            <a:endParaRPr lang="en-US" sz="1700" dirty="0"/>
          </a:p>
        </p:txBody>
      </p:sp>
      <p:pic>
        <p:nvPicPr>
          <p:cNvPr id="4" name="layer_0" descr="Where Does the Time Go During Decode? — illustration part 1">    </p:cNvPr>
          <p:cNvPicPr>
            <a:picLocks noChangeAspect="1"/>
          </p:cNvPicPr>
          <p:nvPr/>
        </p:nvPicPr>
        <p:blipFill>
          <a:blip r:embed="rId1"/>
          <a:stretch>
            <a:fillRect/>
          </a:stretch>
        </p:blipFill>
        <p:spPr>
          <a:xfrm>
            <a:off x="1488324" y="2164264"/>
            <a:ext cx="9053821" cy="765750"/>
          </a:xfrm>
          <a:prstGeom prst="rect">
            <a:avLst/>
          </a:prstGeom>
        </p:spPr>
      </p:pic>
      <p:pic>
        <p:nvPicPr>
          <p:cNvPr id="5" name="layer_1" descr="Where Does the Time Go During Decode? — illustration part 2">    </p:cNvPr>
          <p:cNvPicPr>
            <a:picLocks noChangeAspect="1"/>
          </p:cNvPicPr>
          <p:nvPr/>
        </p:nvPicPr>
        <p:blipFill>
          <a:blip r:embed="rId2"/>
          <a:stretch>
            <a:fillRect/>
          </a:stretch>
        </p:blipFill>
        <p:spPr>
          <a:xfrm>
            <a:off x="1483286" y="3418683"/>
            <a:ext cx="5496783" cy="589426"/>
          </a:xfrm>
          <a:prstGeom prst="rect">
            <a:avLst/>
          </a:prstGeom>
        </p:spPr>
      </p:pic>
      <p:pic>
        <p:nvPicPr>
          <p:cNvPr id="6" name="layer_2" descr="Where Does the Time Go During Decode? — illustration part 3">    </p:cNvPr>
          <p:cNvPicPr>
            <a:picLocks noChangeAspect="1"/>
          </p:cNvPicPr>
          <p:nvPr/>
        </p:nvPicPr>
        <p:blipFill>
          <a:blip r:embed="rId3"/>
          <a:stretch>
            <a:fillRect/>
          </a:stretch>
        </p:blipFill>
        <p:spPr>
          <a:xfrm>
            <a:off x="3463337" y="4577383"/>
            <a:ext cx="7073770" cy="675069"/>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Reading weights ≈ 5 ms · doing the math ≈ 0.02 ms — the cores are idle 99%+ of the time</a:t>
            </a:r>
            <a:endParaRPr lang="en-US" sz="1200" dirty="0"/>
          </a:p>
          <a:p>
            <a:pPr indent="0" marL="0">
              <a:spcAft>
                <a:spcPts val="200"/>
              </a:spcAft>
              <a:buNone/>
            </a:pPr>
            <a:r>
              <a:rPr lang="en-US" sz="1200" dirty="0">
                <a:solidFill>
                  <a:srgbClr val="C9D6EA"/>
                </a:solidFill>
                <a:latin typeface="Calibri" pitchFamily="34" charset="0"/>
                <a:ea typeface="Calibri" pitchFamily="34" charset="-122"/>
                <a:cs typeface="Calibri" pitchFamily="34" charset="-120"/>
              </a:rPr>
              <a:t>An 8B model needs about 16 billion operations per token: ~0.02 ms of math for this GPU. But reading 16 GB of weights takes ~5 ms. Decode is memory-bound — which is exactly why batching works so well.</a:t>
            </a:r>
            <a:endParaRPr lang="en-US" sz="1200" dirty="0"/>
          </a:p>
          <a:p>
            <a:pPr indent="0" marL="0">
              <a:spcAft>
                <a:spcPts val="200"/>
              </a:spcAft>
              <a:buNone/>
            </a:pPr>
            <a:r>
              <a:rPr lang="en-US" sz="1200" b="1" dirty="0">
                <a:solidFill>
                  <a:srgbClr val="5EE6A8"/>
                </a:solidFill>
                <a:latin typeface="Calibri" pitchFamily="34" charset="0"/>
                <a:ea typeface="Calibri" pitchFamily="34" charset="-122"/>
                <a:cs typeface="Calibri" pitchFamily="34" charset="-120"/>
              </a:rPr>
              <a:t>➜ How we'll fix it:  The cores are idle — so Chapter 5 uses each read for many users at once (batching).</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78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The Two Numbers Every Benchmark Uses</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TTFT for the pause, TPOT for the stream</a:t>
            </a:r>
            <a:endParaRPr lang="en-US" sz="1700" dirty="0"/>
          </a:p>
        </p:txBody>
      </p:sp>
      <p:pic>
        <p:nvPicPr>
          <p:cNvPr id="4" name="layer_0" descr="The Two Numbers Every Benchmark Uses — illustration part 1">    </p:cNvPr>
          <p:cNvPicPr>
            <a:picLocks noChangeAspect="1"/>
          </p:cNvPicPr>
          <p:nvPr/>
        </p:nvPicPr>
        <p:blipFill>
          <a:blip r:embed="rId1"/>
          <a:stretch>
            <a:fillRect/>
          </a:stretch>
        </p:blipFill>
        <p:spPr>
          <a:xfrm>
            <a:off x="1473209" y="2995505"/>
            <a:ext cx="9396426" cy="1098246"/>
          </a:xfrm>
          <a:prstGeom prst="rect">
            <a:avLst/>
          </a:prstGeom>
        </p:spPr>
      </p:pic>
      <p:pic>
        <p:nvPicPr>
          <p:cNvPr id="5" name="layer_1" descr="The Two Numbers Every Benchmark Uses — illustration part 2">    </p:cNvPr>
          <p:cNvPicPr>
            <a:picLocks noChangeAspect="1"/>
          </p:cNvPicPr>
          <p:nvPr/>
        </p:nvPicPr>
        <p:blipFill>
          <a:blip r:embed="rId2"/>
          <a:stretch>
            <a:fillRect/>
          </a:stretch>
        </p:blipFill>
        <p:spPr>
          <a:xfrm>
            <a:off x="1664665" y="4451437"/>
            <a:ext cx="3189243" cy="690182"/>
          </a:xfrm>
          <a:prstGeom prst="rect">
            <a:avLst/>
          </a:prstGeom>
        </p:spPr>
      </p:pic>
      <p:pic>
        <p:nvPicPr>
          <p:cNvPr id="6" name="layer_2" descr="The Two Numbers Every Benchmark Uses — illustration part 3">    </p:cNvPr>
          <p:cNvPicPr>
            <a:picLocks noChangeAspect="1"/>
          </p:cNvPicPr>
          <p:nvPr/>
        </p:nvPicPr>
        <p:blipFill>
          <a:blip r:embed="rId3"/>
          <a:stretch>
            <a:fillRect/>
          </a:stretch>
        </p:blipFill>
        <p:spPr>
          <a:xfrm>
            <a:off x="4813601" y="2159226"/>
            <a:ext cx="4615081" cy="2725464"/>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TTFT = time to first token · TPOT = time per output token (the gap between tokens)</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TTFT measures the initial pause; TPOT (time per output token) measures the gap between streamed tokens. Every serving benchmark is built on these two numbers.</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79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Two Phases, Two Very Different Jobs</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Prefill is compute-heavy · decode is memory-bandwidth-heavy</a:t>
            </a:r>
            <a:endParaRPr lang="en-US" sz="1700" dirty="0"/>
          </a:p>
        </p:txBody>
      </p:sp>
      <p:pic>
        <p:nvPicPr>
          <p:cNvPr id="4" name="layer_0" descr="Two Phases, Two Very Different Jobs — illustration part 1">    </p:cNvPr>
          <p:cNvPicPr>
            <a:picLocks noChangeAspect="1"/>
          </p:cNvPicPr>
          <p:nvPr/>
        </p:nvPicPr>
        <p:blipFill>
          <a:blip r:embed="rId1"/>
          <a:stretch>
            <a:fillRect/>
          </a:stretch>
        </p:blipFill>
        <p:spPr>
          <a:xfrm>
            <a:off x="1296869" y="1998016"/>
            <a:ext cx="4257362" cy="3093225"/>
          </a:xfrm>
          <a:prstGeom prst="rect">
            <a:avLst/>
          </a:prstGeom>
        </p:spPr>
      </p:pic>
      <p:pic>
        <p:nvPicPr>
          <p:cNvPr id="5" name="layer_1" descr="Two Phases, Two Very Different Jobs — illustration part 2">    </p:cNvPr>
          <p:cNvPicPr>
            <a:picLocks noChangeAspect="1"/>
          </p:cNvPicPr>
          <p:nvPr/>
        </p:nvPicPr>
        <p:blipFill>
          <a:blip r:embed="rId2"/>
          <a:stretch>
            <a:fillRect/>
          </a:stretch>
        </p:blipFill>
        <p:spPr>
          <a:xfrm>
            <a:off x="6617311" y="1998016"/>
            <a:ext cx="4257362" cy="3093225"/>
          </a:xfrm>
          <a:prstGeom prst="rect">
            <a:avLst/>
          </a:prstGeom>
        </p:spPr>
      </p:pic>
      <p:pic>
        <p:nvPicPr>
          <p:cNvPr id="6" name="layer_2" descr="Two Phases, Two Very Different Jobs — illustration part 3">    </p:cNvPr>
          <p:cNvPicPr>
            <a:picLocks noChangeAspect="1"/>
          </p:cNvPicPr>
          <p:nvPr/>
        </p:nvPicPr>
        <p:blipFill>
          <a:blip r:embed="rId3"/>
          <a:stretch>
            <a:fillRect/>
          </a:stretch>
        </p:blipFill>
        <p:spPr>
          <a:xfrm>
            <a:off x="5141090" y="1771314"/>
            <a:ext cx="1889362" cy="3934542"/>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Right now both run on the same GPU, taking turns</a:t>
            </a:r>
            <a:endParaRPr lang="en-US" sz="1200" dirty="0"/>
          </a:p>
          <a:p>
            <a:pPr indent="0" marL="0">
              <a:spcAft>
                <a:spcPts val="200"/>
              </a:spcAft>
              <a:buNone/>
            </a:pPr>
            <a:r>
              <a:rPr lang="en-US" sz="1200" dirty="0">
                <a:solidFill>
                  <a:srgbClr val="C9D6EA"/>
                </a:solidFill>
                <a:latin typeface="Calibri" pitchFamily="34" charset="0"/>
                <a:ea typeface="Calibri" pitchFamily="34" charset="-122"/>
                <a:cs typeface="Calibri" pitchFamily="34" charset="-120"/>
              </a:rPr>
              <a:t>Prefill is a one-time, compute-heavy calculation. Decode is a long, memory-bandwidth-heavy grind. Today both run on the same GPU, taking turns.</a:t>
            </a:r>
            <a:endParaRPr lang="en-US" sz="1200" dirty="0"/>
          </a:p>
          <a:p>
            <a:pPr indent="0" marL="0">
              <a:spcAft>
                <a:spcPts val="200"/>
              </a:spcAft>
              <a:buNone/>
            </a:pPr>
            <a:r>
              <a:rPr lang="en-US" sz="1200" b="1" dirty="0">
                <a:solidFill>
                  <a:srgbClr val="5EE6A8"/>
                </a:solidFill>
                <a:latin typeface="Calibri" pitchFamily="34" charset="0"/>
                <a:ea typeface="Calibri" pitchFamily="34" charset="-122"/>
                <a:cs typeface="Calibri" pitchFamily="34" charset="-120"/>
              </a:rPr>
              <a:t>➜ How we'll fix it:  Chapter 8 gives each phase its own pool of GPUs (disaggregation).</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80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What If Every Word Needed a Fresh Prefill?</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Re-read everything before each new token...</a:t>
            </a:r>
            <a:endParaRPr lang="en-US" sz="1700" dirty="0"/>
          </a:p>
        </p:txBody>
      </p:sp>
      <p:pic>
        <p:nvPicPr>
          <p:cNvPr id="4" name="layer_0" descr="What If Every Word Needed a Fresh Prefill? — illustration part 1">    </p:cNvPr>
          <p:cNvPicPr>
            <a:picLocks noChangeAspect="1"/>
          </p:cNvPicPr>
          <p:nvPr/>
        </p:nvPicPr>
        <p:blipFill>
          <a:blip r:embed="rId1"/>
          <a:stretch>
            <a:fillRect/>
          </a:stretch>
        </p:blipFill>
        <p:spPr>
          <a:xfrm>
            <a:off x="1463133" y="2254945"/>
            <a:ext cx="9421617" cy="1093208"/>
          </a:xfrm>
          <a:prstGeom prst="rect">
            <a:avLst/>
          </a:prstGeom>
        </p:spPr>
      </p:pic>
      <p:pic>
        <p:nvPicPr>
          <p:cNvPr id="5" name="layer_1" descr="What If Every Word Needed a Fresh Prefill? — illustration part 2">    </p:cNvPr>
          <p:cNvPicPr>
            <a:picLocks noChangeAspect="1"/>
          </p:cNvPicPr>
          <p:nvPr/>
        </p:nvPicPr>
        <p:blipFill>
          <a:blip r:embed="rId2"/>
          <a:stretch>
            <a:fillRect/>
          </a:stretch>
        </p:blipFill>
        <p:spPr>
          <a:xfrm>
            <a:off x="1463133" y="4083676"/>
            <a:ext cx="8948017" cy="1093208"/>
          </a:xfrm>
          <a:prstGeom prst="rect">
            <a:avLst/>
          </a:prstGeom>
        </p:spPr>
      </p:pic>
      <p:sp>
        <p:nvSpPr>
          <p:cNvPr id="6"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7"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A fresh pause before every single word — the chat would be far too slow to use</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If the model redid the whole prefill before every new word, each word would come after a fresh pause and chat would be unusably slow. That's not what happens.</a:t>
            </a:r>
            <a:endParaRPr lang="en-US" sz="1200" dirty="0"/>
          </a:p>
        </p:txBody>
      </p:sp>
      <p:sp>
        <p:nvSpPr>
          <p:cNvPr id="8"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3"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81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The Secret: the KV Cache</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Prefill's expensive work is saved right there in GPU memory</a:t>
            </a:r>
            <a:endParaRPr lang="en-US" sz="1700" dirty="0"/>
          </a:p>
        </p:txBody>
      </p:sp>
      <p:pic>
        <p:nvPicPr>
          <p:cNvPr id="4" name="layer_0" descr="The Secret: the KV Cache — illustration part 1">    </p:cNvPr>
          <p:cNvPicPr>
            <a:picLocks noChangeAspect="1"/>
          </p:cNvPicPr>
          <p:nvPr/>
        </p:nvPicPr>
        <p:blipFill>
          <a:blip r:embed="rId1"/>
          <a:stretch>
            <a:fillRect/>
          </a:stretch>
        </p:blipFill>
        <p:spPr>
          <a:xfrm>
            <a:off x="1296869" y="2496761"/>
            <a:ext cx="2095932" cy="1098246"/>
          </a:xfrm>
          <a:prstGeom prst="rect">
            <a:avLst/>
          </a:prstGeom>
        </p:spPr>
      </p:pic>
      <p:pic>
        <p:nvPicPr>
          <p:cNvPr id="5" name="layer_1" descr="The Secret: the KV Cache — illustration part 2">    </p:cNvPr>
          <p:cNvPicPr>
            <a:picLocks noChangeAspect="1"/>
          </p:cNvPicPr>
          <p:nvPr/>
        </p:nvPicPr>
        <p:blipFill>
          <a:blip r:embed="rId2"/>
          <a:stretch>
            <a:fillRect/>
          </a:stretch>
        </p:blipFill>
        <p:spPr>
          <a:xfrm>
            <a:off x="3377686" y="2164264"/>
            <a:ext cx="4171711" cy="2261984"/>
          </a:xfrm>
          <a:prstGeom prst="rect">
            <a:avLst/>
          </a:prstGeom>
        </p:spPr>
      </p:pic>
      <p:pic>
        <p:nvPicPr>
          <p:cNvPr id="6" name="layer_2" descr="The Secret: the KV Cache — illustration part 3">    </p:cNvPr>
          <p:cNvPicPr>
            <a:picLocks noChangeAspect="1"/>
          </p:cNvPicPr>
          <p:nvPr/>
        </p:nvPicPr>
        <p:blipFill>
          <a:blip r:embed="rId3"/>
          <a:stretch>
            <a:fillRect/>
          </a:stretch>
        </p:blipFill>
        <p:spPr>
          <a:xfrm>
            <a:off x="7141294" y="2577366"/>
            <a:ext cx="3567115" cy="1466007"/>
          </a:xfrm>
          <a:prstGeom prst="rect">
            <a:avLst/>
          </a:prstGeom>
        </p:spPr>
      </p:pic>
      <p:pic>
        <p:nvPicPr>
          <p:cNvPr id="7" name="layer_3" descr="The Secret: the KV Cache — illustration part 4">    </p:cNvPr>
          <p:cNvPicPr>
            <a:picLocks noChangeAspect="1"/>
          </p:cNvPicPr>
          <p:nvPr/>
        </p:nvPicPr>
        <p:blipFill>
          <a:blip r:embed="rId4"/>
          <a:stretch>
            <a:fillRect/>
          </a:stretch>
        </p:blipFill>
        <p:spPr>
          <a:xfrm>
            <a:off x="3861362" y="5071090"/>
            <a:ext cx="4443779" cy="272043"/>
          </a:xfrm>
          <a:prstGeom prst="rect">
            <a:avLst/>
          </a:prstGeom>
        </p:spPr>
      </p:pic>
      <p:sp>
        <p:nvSpPr>
          <p:cNvPr id="8"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9"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Prefill runs once; every new token reuses the cache and adds just one token on top</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Prefill's expensive work is kept in GPU memory as the KV cache. Each new token reuses everything already computed and adds just one token on top — the pause is paid only once.</a:t>
            </a:r>
            <a:endParaRPr lang="en-US" sz="1200" dirty="0"/>
          </a:p>
        </p:txBody>
      </p:sp>
      <p:sp>
        <p:nvSpPr>
          <p:cNvPr id="10"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5"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82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par>
                    <p:cTn id="15" fill="hold">
                      <p:stCondLst>
                        <p:cond delay="indefinite"/>
                      </p:stCondLst>
                      <p:childTnLst>
                        <p:par>
                          <p:cTn id="16" fill="hold">
                            <p:stCondLst>
                              <p:cond delay="0"/>
                            </p:stCondLst>
                            <p:childTnLst>
                              <p:par>
                                <p:cTn id="20" presetID="42"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p:cTn id="18" dur="600" fill="hold"/>
                                        <p:tgtEl>
                                          <p:spTgt spid="7"/>
                                        </p:tgtEl>
                                        <p:attrNameLst>
                                          <p:attrName>ppt_y</p:attrName>
                                        </p:attrNameLst>
                                      </p:cBhvr>
                                      <p:tavLst>
                                        <p:tav tm="0">
                                          <p:val>
                                            <p:strVal val="#ppt_y+0.03"/>
                                          </p:val>
                                        </p:tav>
                                        <p:tav tm="100000">
                                          <p:val>
                                            <p:strVal val="#ppt_y"/>
                                          </p:val>
                                        </p:tav>
                                      </p:tavLst>
                                    </p:anim>
                                    <p:animEffect transition="in" filter="fade">
                                      <p:cBhvr>
                                        <p:cTn id="19" dur="6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Then You Send a Second Message...</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Models remember nothing between messages</a:t>
            </a:r>
            <a:endParaRPr lang="en-US" sz="1700" dirty="0"/>
          </a:p>
        </p:txBody>
      </p:sp>
      <p:pic>
        <p:nvPicPr>
          <p:cNvPr id="4" name="layer_0" descr="Then You Send a Second Message... — illustration part 1">    </p:cNvPr>
          <p:cNvPicPr>
            <a:picLocks noChangeAspect="1"/>
          </p:cNvPicPr>
          <p:nvPr/>
        </p:nvPicPr>
        <p:blipFill>
          <a:blip r:embed="rId1"/>
          <a:stretch>
            <a:fillRect/>
          </a:stretch>
        </p:blipFill>
        <p:spPr>
          <a:xfrm>
            <a:off x="1437941" y="1982902"/>
            <a:ext cx="3360545" cy="710334"/>
          </a:xfrm>
          <a:prstGeom prst="rect">
            <a:avLst/>
          </a:prstGeom>
        </p:spPr>
      </p:pic>
      <p:pic>
        <p:nvPicPr>
          <p:cNvPr id="5" name="layer_1" descr="Then You Send a Second Message... — illustration part 2">    </p:cNvPr>
          <p:cNvPicPr>
            <a:picLocks noChangeAspect="1"/>
          </p:cNvPicPr>
          <p:nvPr/>
        </p:nvPicPr>
        <p:blipFill>
          <a:blip r:embed="rId2"/>
          <a:stretch>
            <a:fillRect/>
          </a:stretch>
        </p:blipFill>
        <p:spPr>
          <a:xfrm>
            <a:off x="1412750" y="2980392"/>
            <a:ext cx="5380902" cy="710334"/>
          </a:xfrm>
          <a:prstGeom prst="rect">
            <a:avLst/>
          </a:prstGeom>
        </p:spPr>
      </p:pic>
      <p:pic>
        <p:nvPicPr>
          <p:cNvPr id="6" name="layer_2" descr="Then You Send a Second Message... — illustration part 3">    </p:cNvPr>
          <p:cNvPicPr>
            <a:picLocks noChangeAspect="1"/>
          </p:cNvPicPr>
          <p:nvPr/>
        </p:nvPicPr>
        <p:blipFill>
          <a:blip r:embed="rId3"/>
          <a:stretch>
            <a:fillRect/>
          </a:stretch>
        </p:blipFill>
        <p:spPr>
          <a:xfrm>
            <a:off x="1417788" y="3977882"/>
            <a:ext cx="7371030" cy="710334"/>
          </a:xfrm>
          <a:prstGeom prst="rect">
            <a:avLst/>
          </a:prstGeom>
        </p:spPr>
      </p:pic>
      <p:pic>
        <p:nvPicPr>
          <p:cNvPr id="7" name="layer_3" descr="Then You Send a Second Message... — illustration part 4">    </p:cNvPr>
          <p:cNvPicPr>
            <a:picLocks noChangeAspect="1"/>
          </p:cNvPicPr>
          <p:nvPr/>
        </p:nvPicPr>
        <p:blipFill>
          <a:blip r:embed="rId4"/>
          <a:stretch>
            <a:fillRect/>
          </a:stretch>
        </p:blipFill>
        <p:spPr>
          <a:xfrm>
            <a:off x="8945005" y="2995505"/>
            <a:ext cx="1929668" cy="1264494"/>
          </a:xfrm>
          <a:prstGeom prst="rect">
            <a:avLst/>
          </a:prstGeom>
        </p:spPr>
      </p:pic>
      <p:sp>
        <p:nvSpPr>
          <p:cNvPr id="8"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9"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The app resends the whole thread; last time's cache is gone, so everything is re-read from scratch</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Once your reply finishes, its cache is cleared. Models remember nothing between messages, so the app resends the entire conversation and the server re-reads all of it.</a:t>
            </a:r>
            <a:endParaRPr lang="en-US" sz="1200" dirty="0"/>
          </a:p>
        </p:txBody>
      </p:sp>
      <p:sp>
        <p:nvSpPr>
          <p:cNvPr id="10"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5"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83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par>
                    <p:cTn id="15" fill="hold">
                      <p:stCondLst>
                        <p:cond delay="indefinite"/>
                      </p:stCondLst>
                      <p:childTnLst>
                        <p:par>
                          <p:cTn id="16" fill="hold">
                            <p:stCondLst>
                              <p:cond delay="0"/>
                            </p:stCondLst>
                            <p:childTnLst>
                              <p:par>
                                <p:cTn id="20" presetID="42"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p:cTn id="18" dur="600" fill="hold"/>
                                        <p:tgtEl>
                                          <p:spTgt spid="7"/>
                                        </p:tgtEl>
                                        <p:attrNameLst>
                                          <p:attrName>ppt_y</p:attrName>
                                        </p:attrNameLst>
                                      </p:cBhvr>
                                      <p:tavLst>
                                        <p:tav tm="0">
                                          <p:val>
                                            <p:strVal val="#ppt_y+0.03"/>
                                          </p:val>
                                        </p:tav>
                                        <p:tav tm="100000">
                                          <p:val>
                                            <p:strVal val="#ppt_y"/>
                                          </p:val>
                                        </p:tav>
                                      </p:tavLst>
                                    </p:anim>
                                    <p:animEffect transition="in" filter="fade">
                                      <p:cBhvr>
                                        <p:cTn id="19" dur="6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Prefix Caching: Just Keep It</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Hang on to the saved blocks, labelled by the exact text that produced them</a:t>
            </a:r>
            <a:endParaRPr lang="en-US" sz="1700" dirty="0"/>
          </a:p>
        </p:txBody>
      </p:sp>
      <p:pic>
        <p:nvPicPr>
          <p:cNvPr id="4" name="layer_0" descr="Prefix Caching: Just Keep It — illustration part 1">    </p:cNvPr>
          <p:cNvPicPr>
            <a:picLocks noChangeAspect="1"/>
          </p:cNvPicPr>
          <p:nvPr/>
        </p:nvPicPr>
        <p:blipFill>
          <a:blip r:embed="rId1"/>
          <a:stretch>
            <a:fillRect/>
          </a:stretch>
        </p:blipFill>
        <p:spPr>
          <a:xfrm>
            <a:off x="1412750" y="2244869"/>
            <a:ext cx="8902673" cy="1602029"/>
          </a:xfrm>
          <a:prstGeom prst="rect">
            <a:avLst/>
          </a:prstGeom>
        </p:spPr>
      </p:pic>
      <p:pic>
        <p:nvPicPr>
          <p:cNvPr id="5" name="layer_1" descr="Prefix Caching: Just Keep It — illustration part 2">    </p:cNvPr>
          <p:cNvPicPr>
            <a:picLocks noChangeAspect="1"/>
          </p:cNvPicPr>
          <p:nvPr/>
        </p:nvPicPr>
        <p:blipFill>
          <a:blip r:embed="rId2"/>
          <a:stretch>
            <a:fillRect/>
          </a:stretch>
        </p:blipFill>
        <p:spPr>
          <a:xfrm>
            <a:off x="1800699" y="4254962"/>
            <a:ext cx="8902673" cy="1335024"/>
          </a:xfrm>
          <a:prstGeom prst="rect">
            <a:avLst/>
          </a:prstGeom>
        </p:spPr>
      </p:pic>
      <p:sp>
        <p:nvSpPr>
          <p:cNvPr id="6"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7"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Only the newest message needs prefill — turn 10 costs about what turn 2 cost</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Prefix caching keeps the saved blocks, labelled by the text that produced them. On the next turn only your newest message needs prefill, so the pause stays small.</a:t>
            </a:r>
            <a:endParaRPr lang="en-US" sz="1200" dirty="0"/>
          </a:p>
        </p:txBody>
      </p:sp>
      <p:sp>
        <p:nvSpPr>
          <p:cNvPr id="8"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3"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84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Prompt Caching Saves Real Money</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Providers expose it too — e.g. prompt caching in the Anthropic API</a:t>
            </a:r>
            <a:endParaRPr lang="en-US" sz="1700" dirty="0"/>
          </a:p>
        </p:txBody>
      </p:sp>
      <p:pic>
        <p:nvPicPr>
          <p:cNvPr id="4" name="layer_0" descr="Prompt Caching Saves Real Money — illustration part 1">    </p:cNvPr>
          <p:cNvPicPr>
            <a:picLocks noChangeAspect="1"/>
          </p:cNvPicPr>
          <p:nvPr/>
        </p:nvPicPr>
        <p:blipFill>
          <a:blip r:embed="rId1"/>
          <a:stretch>
            <a:fillRect/>
          </a:stretch>
        </p:blipFill>
        <p:spPr>
          <a:xfrm>
            <a:off x="1720086" y="2743614"/>
            <a:ext cx="2912136" cy="1924450"/>
          </a:xfrm>
          <a:prstGeom prst="rect">
            <a:avLst/>
          </a:prstGeom>
        </p:spPr>
      </p:pic>
      <p:pic>
        <p:nvPicPr>
          <p:cNvPr id="5" name="layer_1" descr="Prompt Caching Saves Real Money — illustration part 2">    </p:cNvPr>
          <p:cNvPicPr>
            <a:picLocks noChangeAspect="1"/>
          </p:cNvPicPr>
          <p:nvPr/>
        </p:nvPicPr>
        <p:blipFill>
          <a:blip r:embed="rId2"/>
          <a:stretch>
            <a:fillRect/>
          </a:stretch>
        </p:blipFill>
        <p:spPr>
          <a:xfrm>
            <a:off x="5856528" y="3035808"/>
            <a:ext cx="3284970" cy="1632256"/>
          </a:xfrm>
          <a:prstGeom prst="rect">
            <a:avLst/>
          </a:prstGeom>
        </p:spPr>
      </p:pic>
      <p:pic>
        <p:nvPicPr>
          <p:cNvPr id="6" name="layer_2" descr="Prompt Caching Saves Real Money — illustration part 3">    </p:cNvPr>
          <p:cNvPicPr>
            <a:picLocks noChangeAspect="1"/>
          </p:cNvPicPr>
          <p:nvPr/>
        </p:nvPicPr>
        <p:blipFill>
          <a:blip r:embed="rId3"/>
          <a:stretch>
            <a:fillRect/>
          </a:stretch>
        </p:blipFill>
        <p:spPr>
          <a:xfrm>
            <a:off x="9358146" y="1902297"/>
            <a:ext cx="1269651" cy="1249381"/>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A cached input token costs roughly a tenth of a fresh one</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Providers expose this too — the Anthropic API calls it prompt caching. Cached input tokens cost about a tenth of fresh ones, which adds up to big savings.</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85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Shared Prefixes: One System Prompt, Many Users</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Saved work depends only on the text before it — not whose chat it is</a:t>
            </a:r>
            <a:endParaRPr lang="en-US" sz="1700" dirty="0"/>
          </a:p>
        </p:txBody>
      </p:sp>
      <p:pic>
        <p:nvPicPr>
          <p:cNvPr id="4" name="layer_0" descr="Shared Prefixes: One System Prompt, Many Users — illustration part 1">    </p:cNvPr>
          <p:cNvPicPr>
            <a:picLocks noChangeAspect="1"/>
          </p:cNvPicPr>
          <p:nvPr/>
        </p:nvPicPr>
        <p:blipFill>
          <a:blip r:embed="rId1"/>
          <a:stretch>
            <a:fillRect/>
          </a:stretch>
        </p:blipFill>
        <p:spPr>
          <a:xfrm>
            <a:off x="1463133" y="2995505"/>
            <a:ext cx="2927251" cy="1828731"/>
          </a:xfrm>
          <a:prstGeom prst="rect">
            <a:avLst/>
          </a:prstGeom>
        </p:spPr>
      </p:pic>
      <p:pic>
        <p:nvPicPr>
          <p:cNvPr id="5" name="layer_1" descr="Shared Prefixes: One System Prompt, Many Users — illustration part 2">    </p:cNvPr>
          <p:cNvPicPr>
            <a:picLocks noChangeAspect="1"/>
          </p:cNvPicPr>
          <p:nvPr/>
        </p:nvPicPr>
        <p:blipFill>
          <a:blip r:embed="rId2"/>
          <a:stretch>
            <a:fillRect/>
          </a:stretch>
        </p:blipFill>
        <p:spPr>
          <a:xfrm>
            <a:off x="4380307" y="2204567"/>
            <a:ext cx="5859541" cy="3012620"/>
          </a:xfrm>
          <a:prstGeom prst="rect">
            <a:avLst/>
          </a:prstGeom>
        </p:spPr>
      </p:pic>
      <p:pic>
        <p:nvPicPr>
          <p:cNvPr id="6" name="layer_2" descr="Shared Prefixes: One System Prompt, Many Users — illustration part 3">    </p:cNvPr>
          <p:cNvPicPr>
            <a:picLocks noChangeAspect="1"/>
          </p:cNvPicPr>
          <p:nvPr/>
        </p:nvPicPr>
        <p:blipFill>
          <a:blip r:embed="rId3"/>
          <a:stretch>
            <a:fillRect/>
          </a:stretch>
        </p:blipFill>
        <p:spPr>
          <a:xfrm>
            <a:off x="8279950" y="5343132"/>
            <a:ext cx="2095932" cy="226702"/>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A long system prompt is computed once and reused for everyone who talks to the assistant</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Cached work depends only on the text before it, not on whose conversation it is. A shared system prompt is computed once and reused for every user.</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86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Prefix Caching Needs an Exact Match From the Start</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Saved work is labelled by the exact text that produced it</a:t>
            </a:r>
            <a:endParaRPr lang="en-US" sz="1700" dirty="0"/>
          </a:p>
        </p:txBody>
      </p:sp>
      <p:pic>
        <p:nvPicPr>
          <p:cNvPr id="4" name="layer_0" descr="Prefix Caching Needs an Exact Match From the Start — illustration part 1">    </p:cNvPr>
          <p:cNvPicPr>
            <a:picLocks noChangeAspect="1"/>
          </p:cNvPicPr>
          <p:nvPr/>
        </p:nvPicPr>
        <p:blipFill>
          <a:blip r:embed="rId1"/>
          <a:stretch>
            <a:fillRect/>
          </a:stretch>
        </p:blipFill>
        <p:spPr>
          <a:xfrm>
            <a:off x="1488324" y="1700784"/>
            <a:ext cx="5894809" cy="649880"/>
          </a:xfrm>
          <a:prstGeom prst="rect">
            <a:avLst/>
          </a:prstGeom>
        </p:spPr>
      </p:pic>
      <p:pic>
        <p:nvPicPr>
          <p:cNvPr id="5" name="layer_1" descr="Prefix Caching Needs an Exact Match From the Start — illustration part 2">    </p:cNvPr>
          <p:cNvPicPr>
            <a:picLocks noChangeAspect="1"/>
          </p:cNvPicPr>
          <p:nvPr/>
        </p:nvPicPr>
        <p:blipFill>
          <a:blip r:embed="rId2"/>
          <a:stretch>
            <a:fillRect/>
          </a:stretch>
        </p:blipFill>
        <p:spPr>
          <a:xfrm>
            <a:off x="1488324" y="2663009"/>
            <a:ext cx="8761600" cy="685144"/>
          </a:xfrm>
          <a:prstGeom prst="rect">
            <a:avLst/>
          </a:prstGeom>
        </p:spPr>
      </p:pic>
      <p:pic>
        <p:nvPicPr>
          <p:cNvPr id="6" name="layer_2" descr="Prefix Caching Needs an Exact Match From the Start — illustration part 3">    </p:cNvPr>
          <p:cNvPicPr>
            <a:picLocks noChangeAspect="1"/>
          </p:cNvPicPr>
          <p:nvPr/>
        </p:nvPicPr>
        <p:blipFill>
          <a:blip r:embed="rId3"/>
          <a:stretch>
            <a:fillRect/>
          </a:stretch>
        </p:blipFill>
        <p:spPr>
          <a:xfrm>
            <a:off x="1488324" y="3660498"/>
            <a:ext cx="8887558" cy="1113360"/>
          </a:xfrm>
          <a:prstGeom prst="rect">
            <a:avLst/>
          </a:prstGeom>
        </p:spPr>
      </p:pic>
      <p:pic>
        <p:nvPicPr>
          <p:cNvPr id="7" name="layer_3" descr="Prefix Caching Needs an Exact Match From the Start — illustration part 4">    </p:cNvPr>
          <p:cNvPicPr>
            <a:picLocks noChangeAspect="1"/>
          </p:cNvPicPr>
          <p:nvPr/>
        </p:nvPicPr>
        <p:blipFill>
          <a:blip r:embed="rId4"/>
          <a:stretch>
            <a:fillRect/>
          </a:stretch>
        </p:blipFill>
        <p:spPr>
          <a:xfrm>
            <a:off x="2626979" y="4990485"/>
            <a:ext cx="6917583" cy="685144"/>
          </a:xfrm>
          <a:prstGeom prst="rect">
            <a:avLst/>
          </a:prstGeom>
        </p:spPr>
      </p:pic>
      <p:sp>
        <p:nvSpPr>
          <p:cNvPr id="8"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9"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Same beginning → cache hit · change even the first word → everything after it must be recomputed</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Because the work for each token depends on all the text before it, the cache can only be reused for an identical beginning. Practical tip: put stable text (system prompt, documents) first and changing text (dates, user questions) last.</a:t>
            </a:r>
            <a:endParaRPr lang="en-US" sz="1200" dirty="0"/>
          </a:p>
        </p:txBody>
      </p:sp>
      <p:sp>
        <p:nvSpPr>
          <p:cNvPr id="10"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5"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87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2" presetClass="entr" presetSubtype="4"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additive="base">
                                        <p:cTn id="6" dur="600" fill="hold"/>
                                        <p:tgtEl>
                                          <p:spTgt spid="5"/>
                                        </p:tgtEl>
                                        <p:attrNameLst>
                                          <p:attrName>ppt_y</p:attrName>
                                        </p:attrNameLst>
                                      </p:cBhvr>
                                      <p:tavLst>
                                        <p:tav tm="0">
                                          <p:val>
                                            <p:strVal val="#ppt_y+0.08"/>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600" fill="hold"/>
                                        <p:tgtEl>
                                          <p:spTgt spid="6"/>
                                        </p:tgtEl>
                                        <p:attrNameLst>
                                          <p:attrName>ppt_y</p:attrName>
                                        </p:attrNameLst>
                                      </p:cBhvr>
                                      <p:tavLst>
                                        <p:tav tm="0">
                                          <p:val>
                                            <p:strVal val="#ppt_y+0.08"/>
                                          </p:val>
                                        </p:tav>
                                        <p:tav tm="100000">
                                          <p:val>
                                            <p:strVal val="#ppt_y"/>
                                          </p:val>
                                        </p:tav>
                                      </p:tavLst>
                                    </p:anim>
                                    <p:animEffect transition="in" filter="fade">
                                      <p:cBhvr>
                                        <p:cTn id="13" dur="600"/>
                                        <p:tgtEl>
                                          <p:spTgt spid="6"/>
                                        </p:tgtEl>
                                      </p:cBhvr>
                                    </p:animEffect>
                                  </p:childTnLst>
                                </p:cTn>
                              </p:par>
                            </p:childTnLst>
                          </p:cTn>
                        </p:par>
                      </p:childTnLst>
                    </p:cTn>
                  </p:par>
                  <p:par>
                    <p:cTn id="15" fill="hold">
                      <p:stCondLst>
                        <p:cond delay="indefinite"/>
                      </p:stCondLst>
                      <p:childTnLst>
                        <p:par>
                          <p:cTn id="16" fill="hold">
                            <p:stCondLst>
                              <p:cond delay="0"/>
                            </p:stCondLst>
                            <p:childTnLst>
                              <p:par>
                                <p:cTn id="21" presetID="53" presetClass="entr" presetSubtype="16"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p:cTn id="18" dur="600" fill="hold"/>
                                        <p:tgtEl>
                                          <p:spTgt spid="7"/>
                                        </p:tgtEl>
                                        <p:attrNameLst>
                                          <p:attrName>ppt_w</p:attrName>
                                        </p:attrNameLst>
                                      </p:cBhvr>
                                      <p:tavLst>
                                        <p:tav tm="0">
                                          <p:val>
                                            <p:fltVal val="0"/>
                                          </p:val>
                                        </p:tav>
                                        <p:tav tm="100000">
                                          <p:val>
                                            <p:strVal val="#ppt_w"/>
                                          </p:val>
                                        </p:tav>
                                      </p:tavLst>
                                    </p:anim>
                                    <p:anim calcmode="lin" valueType="num">
                                      <p:cBhvr>
                                        <p:cTn id="19" dur="600" fill="hold"/>
                                        <p:tgtEl>
                                          <p:spTgt spid="7"/>
                                        </p:tgtEl>
                                        <p:attrNameLst>
                                          <p:attrName>ppt_h</p:attrName>
                                        </p:attrNameLst>
                                      </p:cBhvr>
                                      <p:tavLst>
                                        <p:tav tm="0">
                                          <p:val>
                                            <p:fltVal val="0"/>
                                          </p:val>
                                        </p:tav>
                                        <p:tav tm="100000">
                                          <p:val>
                                            <p:strVal val="#ppt_h"/>
                                          </p:val>
                                        </p:tav>
                                      </p:tavLst>
                                    </p:anim>
                                    <p:animEffect transition="in" filter="fade">
                                      <p:cBhvr>
                                        <p:cTn id="20" dur="6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Quick Check: Prefill, Decode &amp; Caching</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Think about each question first — then click to reveal the answer</a:t>
            </a:r>
            <a:endParaRPr lang="en-US" sz="1700" dirty="0"/>
          </a:p>
        </p:txBody>
      </p:sp>
      <p:pic>
        <p:nvPicPr>
          <p:cNvPr id="4" name="layer_0" descr="Quick Check: Prefill, Decode &amp; Caching — illustration part 1">    </p:cNvPr>
          <p:cNvPicPr>
            <a:picLocks noChangeAspect="1"/>
          </p:cNvPicPr>
          <p:nvPr/>
        </p:nvPicPr>
        <p:blipFill>
          <a:blip r:embed="rId1"/>
          <a:stretch>
            <a:fillRect/>
          </a:stretch>
        </p:blipFill>
        <p:spPr>
          <a:xfrm>
            <a:off x="1221294" y="1998016"/>
            <a:ext cx="4917379" cy="3259474"/>
          </a:xfrm>
          <a:prstGeom prst="rect">
            <a:avLst/>
          </a:prstGeom>
        </p:spPr>
      </p:pic>
      <p:pic>
        <p:nvPicPr>
          <p:cNvPr id="5" name="layer_1" descr="Quick Check: Prefill, Decode &amp; Caching — illustration part 2">    </p:cNvPr>
          <p:cNvPicPr>
            <a:picLocks noChangeAspect="1"/>
          </p:cNvPicPr>
          <p:nvPr/>
        </p:nvPicPr>
        <p:blipFill>
          <a:blip r:embed="rId2"/>
          <a:stretch>
            <a:fillRect/>
          </a:stretch>
        </p:blipFill>
        <p:spPr>
          <a:xfrm>
            <a:off x="6123558" y="1998016"/>
            <a:ext cx="4836766" cy="1430743"/>
          </a:xfrm>
          <a:prstGeom prst="rect">
            <a:avLst/>
          </a:prstGeom>
        </p:spPr>
      </p:pic>
      <p:pic>
        <p:nvPicPr>
          <p:cNvPr id="6" name="layer_2" descr="Quick Check: Prefill, Decode &amp; Caching — illustration part 3">    </p:cNvPr>
          <p:cNvPicPr>
            <a:picLocks noChangeAspect="1"/>
          </p:cNvPicPr>
          <p:nvPr/>
        </p:nvPicPr>
        <p:blipFill>
          <a:blip r:embed="rId3"/>
          <a:stretch>
            <a:fillRect/>
          </a:stretch>
        </p:blipFill>
        <p:spPr>
          <a:xfrm>
            <a:off x="6123558" y="3826747"/>
            <a:ext cx="4836766" cy="1430743"/>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Click once per answer</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Pause and answer out loud before clicking. If an answer surprises you, jump back to that part of the section using the agenda.</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88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500" fill="hold"/>
                                        <p:tgtEl>
                                          <p:spTgt spid="5"/>
                                        </p:tgtEl>
                                        <p:attrNameLst>
                                          <p:attrName>ppt_w</p:attrName>
                                        </p:attrNameLst>
                                      </p:cBhvr>
                                      <p:tavLst>
                                        <p:tav tm="0">
                                          <p:val>
                                            <p:fltVal val="0"/>
                                          </p:val>
                                        </p:tav>
                                        <p:tav tm="100000">
                                          <p:val>
                                            <p:strVal val="#ppt_w"/>
                                          </p:val>
                                        </p:tav>
                                      </p:tavLst>
                                    </p:anim>
                                    <p:anim calcmode="lin" valueType="num">
                                      <p:cBhvr>
                                        <p:cTn id="7" dur="500" fill="hold"/>
                                        <p:tgtEl>
                                          <p:spTgt spid="5"/>
                                        </p:tgtEl>
                                        <p:attrNameLst>
                                          <p:attrName>ppt_h</p:attrName>
                                        </p:attrNameLst>
                                      </p:cBhvr>
                                      <p:tavLst>
                                        <p:tav tm="0">
                                          <p:val>
                                            <p:fltVal val="0"/>
                                          </p:val>
                                        </p:tav>
                                        <p:tav tm="100000">
                                          <p:val>
                                            <p:strVal val="#ppt_h"/>
                                          </p:val>
                                        </p:tav>
                                      </p:tavLst>
                                    </p:anim>
                                    <p:animEffect transition="in" filter="fade">
                                      <p:cBhvr>
                                        <p:cTn id="8"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6" presetID="53" presetClass="entr" presetSubtype="16"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p:cTn id="13" dur="500" fill="hold"/>
                                        <p:tgtEl>
                                          <p:spTgt spid="6"/>
                                        </p:tgtEl>
                                        <p:attrNameLst>
                                          <p:attrName>ppt_w</p:attrName>
                                        </p:attrNameLst>
                                      </p:cBhvr>
                                      <p:tavLst>
                                        <p:tav tm="0">
                                          <p:val>
                                            <p:fltVal val="0"/>
                                          </p:val>
                                        </p:tav>
                                        <p:tav tm="100000">
                                          <p:val>
                                            <p:strVal val="#ppt_w"/>
                                          </p:val>
                                        </p:tav>
                                      </p:tavLst>
                                    </p:anim>
                                    <p:anim calcmode="lin" valueType="num">
                                      <p:cBhvr>
                                        <p:cTn id="14" dur="500" fill="hold"/>
                                        <p:tgtEl>
                                          <p:spTgt spid="6"/>
                                        </p:tgtEl>
                                        <p:attrNameLst>
                                          <p:attrName>ppt_h</p:attrName>
                                        </p:attrNameLst>
                                      </p:cBhvr>
                                      <p:tavLst>
                                        <p:tav tm="0">
                                          <p:val>
                                            <p:fltVal val="0"/>
                                          </p:val>
                                        </p:tav>
                                        <p:tav tm="100000">
                                          <p:val>
                                            <p:strVal val="#ppt_h"/>
                                          </p:val>
                                        </p:tav>
                                      </p:tavLst>
                                    </p:anim>
                                    <p:animEffect transition="in" filter="fade">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Story So Far: KV cache ✓</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Solved: prefill once, reuse saved work  →  next problem: Each model read still serves just ONE user</a:t>
            </a:r>
            <a:endParaRPr lang="en-US" sz="1700" dirty="0"/>
          </a:p>
        </p:txBody>
      </p:sp>
      <p:pic>
        <p:nvPicPr>
          <p:cNvPr id="4" name="layer_0" descr="Story So Far: KV cache ✓ — illustration part 1">    </p:cNvPr>
          <p:cNvPicPr>
            <a:picLocks noChangeAspect="1"/>
          </p:cNvPicPr>
          <p:nvPr/>
        </p:nvPicPr>
        <p:blipFill>
          <a:blip r:embed="rId1"/>
          <a:stretch>
            <a:fillRect/>
          </a:stretch>
        </p:blipFill>
        <p:spPr>
          <a:xfrm>
            <a:off x="1231371" y="2229756"/>
            <a:ext cx="9144511" cy="2599518"/>
          </a:xfrm>
          <a:prstGeom prst="rect">
            <a:avLst/>
          </a:prstGeom>
        </p:spPr>
      </p:pic>
      <p:pic>
        <p:nvPicPr>
          <p:cNvPr id="5" name="layer_1" descr="Story So Far: KV cache ✓ — illustration part 2">    </p:cNvPr>
          <p:cNvPicPr>
            <a:picLocks noChangeAspect="1"/>
          </p:cNvPicPr>
          <p:nvPr/>
        </p:nvPicPr>
        <p:blipFill>
          <a:blip r:embed="rId2"/>
          <a:stretch>
            <a:fillRect/>
          </a:stretch>
        </p:blipFill>
        <p:spPr>
          <a:xfrm>
            <a:off x="6748307" y="1872070"/>
            <a:ext cx="1496374" cy="1566764"/>
          </a:xfrm>
          <a:prstGeom prst="rect">
            <a:avLst/>
          </a:prstGeom>
        </p:spPr>
      </p:pic>
      <p:pic>
        <p:nvPicPr>
          <p:cNvPr id="6" name="layer_2" descr="Story So Far: KV cache ✓ — illustration part 3">    </p:cNvPr>
          <p:cNvPicPr>
            <a:picLocks noChangeAspect="1"/>
          </p:cNvPicPr>
          <p:nvPr/>
        </p:nvPicPr>
        <p:blipFill>
          <a:blip r:embed="rId3"/>
          <a:stretch>
            <a:fillRect/>
          </a:stretch>
        </p:blipFill>
        <p:spPr>
          <a:xfrm>
            <a:off x="9010503" y="2154188"/>
            <a:ext cx="801089" cy="1037792"/>
          </a:xfrm>
          <a:prstGeom prst="rect">
            <a:avLst/>
          </a:prstGeom>
        </p:spPr>
      </p:pic>
      <p:pic>
        <p:nvPicPr>
          <p:cNvPr id="7" name="layer_3" descr="Story So Far: KV cache ✓ — illustration part 4">    </p:cNvPr>
          <p:cNvPicPr>
            <a:picLocks noChangeAspect="1"/>
          </p:cNvPicPr>
          <p:nvPr/>
        </p:nvPicPr>
        <p:blipFill>
          <a:blip r:embed="rId4"/>
          <a:stretch>
            <a:fillRect/>
          </a:stretch>
        </p:blipFill>
        <p:spPr>
          <a:xfrm>
            <a:off x="2294452" y="5121468"/>
            <a:ext cx="7582638" cy="584388"/>
          </a:xfrm>
          <a:prstGeom prst="rect">
            <a:avLst/>
          </a:prstGeom>
        </p:spPr>
      </p:pic>
      <p:sp>
        <p:nvSpPr>
          <p:cNvPr id="8"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9"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Up next — Chapter 5 · Batching</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Prefill reads the prompt once, decode streams tokens, and the KV cache plus prefix caching stop us redoing work. But every model read still serves just one user. Next: batching.</a:t>
            </a:r>
            <a:endParaRPr lang="en-US" sz="1200" dirty="0"/>
          </a:p>
        </p:txBody>
      </p:sp>
      <p:sp>
        <p:nvSpPr>
          <p:cNvPr id="10"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5"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89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ppt_w</p:attrName>
                                        </p:attrNameLst>
                                      </p:cBhvr>
                                      <p:tavLst>
                                        <p:tav tm="0">
                                          <p:val>
                                            <p:fltVal val="0"/>
                                          </p:val>
                                        </p:tav>
                                        <p:tav tm="100000">
                                          <p:val>
                                            <p:strVal val="#ppt_w"/>
                                          </p:val>
                                        </p:tav>
                                      </p:tavLst>
                                    </p:anim>
                                    <p:anim calcmode="lin" valueType="num">
                                      <p:cBhvr>
                                        <p:cTn id="7" dur="600" fill="hold"/>
                                        <p:tgtEl>
                                          <p:spTgt spid="5"/>
                                        </p:tgtEl>
                                        <p:attrNameLst>
                                          <p:attrName>ppt_h</p:attrName>
                                        </p:attrNameLst>
                                      </p:cBhvr>
                                      <p:tavLst>
                                        <p:tav tm="0">
                                          <p:val>
                                            <p:fltVal val="0"/>
                                          </p:val>
                                        </p:tav>
                                        <p:tav tm="100000">
                                          <p:val>
                                            <p:strVal val="#ppt_h"/>
                                          </p:val>
                                        </p:tav>
                                      </p:tavLst>
                                    </p:anim>
                                    <p:animEffect transition="in" filter="fade">
                                      <p:cBhvr>
                                        <p:cTn id="8" dur="600"/>
                                        <p:tgtEl>
                                          <p:spTgt spid="5"/>
                                        </p:tgtEl>
                                      </p:cBhvr>
                                    </p:animEffect>
                                  </p:childTnLst>
                                </p:cTn>
                              </p:par>
                            </p:childTnLst>
                          </p:cTn>
                        </p:par>
                        <p:par>
                          <p:cTn id="10" fill="hold">
                            <p:stCondLst>
                              <p:cond delay="600"/>
                            </p:stCondLst>
                            <p:childTnLst>
                              <p:par>
                                <p:cTn id="15" presetID="53" presetClass="entr" presetSubtype="16" fill="hold" grpId="0" nodeType="after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ppt_w</p:attrName>
                                        </p:attrNameLst>
                                      </p:cBhvr>
                                      <p:tavLst>
                                        <p:tav tm="0">
                                          <p:val>
                                            <p:fltVal val="0"/>
                                          </p:val>
                                        </p:tav>
                                        <p:tav tm="100000">
                                          <p:val>
                                            <p:strVal val="#ppt_w"/>
                                          </p:val>
                                        </p:tav>
                                      </p:tavLst>
                                    </p:anim>
                                    <p:anim calcmode="lin" valueType="num">
                                      <p:cBhvr>
                                        <p:cTn id="13" dur="600" fill="hold"/>
                                        <p:tgtEl>
                                          <p:spTgt spid="6"/>
                                        </p:tgtEl>
                                        <p:attrNameLst>
                                          <p:attrName>ppt_h</p:attrName>
                                        </p:attrNameLst>
                                      </p:cBhvr>
                                      <p:tavLst>
                                        <p:tav tm="0">
                                          <p:val>
                                            <p:fltVal val="0"/>
                                          </p:val>
                                        </p:tav>
                                        <p:tav tm="100000">
                                          <p:val>
                                            <p:strVal val="#ppt_h"/>
                                          </p:val>
                                        </p:tav>
                                      </p:tavLst>
                                    </p:anim>
                                    <p:animEffect transition="in" filter="fade">
                                      <p:cBhvr>
                                        <p:cTn id="14" dur="600"/>
                                        <p:tgtEl>
                                          <p:spTgt spid="6"/>
                                        </p:tgtEl>
                                      </p:cBhvr>
                                    </p:animEffect>
                                  </p:childTnLst>
                                </p:cTn>
                              </p:par>
                            </p:childTnLst>
                          </p:cTn>
                        </p:par>
                        <p:par>
                          <p:cTn id="16" fill="hold">
                            <p:stCondLst>
                              <p:cond delay="1200"/>
                            </p:stCondLst>
                            <p:childTnLst>
                              <p:par>
                                <p:cTn id="20" presetID="2" presetClass="entr" presetSubtype="4" fill="hold" grpId="0" nodeType="after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additive="base">
                                        <p:cTn id="18" dur="600" fill="hold"/>
                                        <p:tgtEl>
                                          <p:spTgt spid="7"/>
                                        </p:tgtEl>
                                        <p:attrNameLst>
                                          <p:attrName>ppt_y</p:attrName>
                                        </p:attrNameLst>
                                      </p:cBhvr>
                                      <p:tavLst>
                                        <p:tav tm="0">
                                          <p:val>
                                            <p:strVal val="#ppt_y+0.08"/>
                                          </p:val>
                                        </p:tav>
                                        <p:tav tm="100000">
                                          <p:val>
                                            <p:strVal val="#ppt_y"/>
                                          </p:val>
                                        </p:tav>
                                      </p:tavLst>
                                    </p:anim>
                                    <p:animEffect transition="in" filter="fade">
                                      <p:cBhvr>
                                        <p:cTn id="19" dur="6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p:nvPr>
            <p:ph idx="100" type="title" hasCustomPrompt="1"/>
          </p:nvPr>
        </p:nvSpPr>
        <p:spPr>
          <a:xfrm>
            <a:off x="731520" y="2834640"/>
            <a:ext cx="5669280" cy="1371600"/>
          </a:xfrm>
          <a:prstGeom prst="rect">
            <a:avLst/>
          </a:prstGeom>
          <a:noFill/>
          <a:ln/>
        </p:spPr>
        <p:txBody>
          <a:bodyPr wrap="square" lIns="0" tIns="0" rIns="0" bIns="0" rtlCol="0" anchor="t"/>
          <a:lstStyle/>
          <a:p>
            <a:pPr algn="l" indent="0" marL="0">
              <a:buNone/>
            </a:pPr>
            <a:r>
              <a:rPr lang="en-US" sz="4000" b="1" dirty="0">
                <a:solidFill>
                  <a:srgbClr val="FFFFFF"/>
                </a:solidFill>
                <a:latin typeface="Calibri" pitchFamily="34" charset="0"/>
                <a:ea typeface="Calibri" pitchFamily="34" charset="-122"/>
                <a:cs typeface="Calibri" pitchFamily="34" charset="-120"/>
              </a:rPr>
              <a:t>Batching: Many Users, One GPU</a:t>
            </a:r>
            <a:endParaRPr lang="en-US" sz="4000" dirty="0"/>
          </a:p>
        </p:txBody>
      </p:sp>
      <p:sp>
        <p:nvSpPr>
          <p:cNvPr id="3" name="Text 0"/>
          <p:cNvSpPr/>
          <p:nvPr>
            <p:ph idx="101" type="body" hasCustomPrompt="1"/>
          </p:nvPr>
        </p:nvSpPr>
        <p:spPr>
          <a:xfrm>
            <a:off x="731520" y="4251960"/>
            <a:ext cx="5120640" cy="822960"/>
          </a:xfrm>
          <a:prstGeom prst="rect">
            <a:avLst/>
          </a:prstGeom>
          <a:noFill/>
          <a:ln/>
        </p:spPr>
        <p:txBody>
          <a:bodyPr wrap="square" lIns="0" tIns="0" rIns="0" bIns="0" rtlCol="0" anchor="t"/>
          <a:lstStyle/>
          <a:p>
            <a:pPr algn="l" indent="0" marL="0">
              <a:buNone/>
            </a:pPr>
            <a:r>
              <a:rPr lang="en-US" sz="2000" dirty="0">
                <a:solidFill>
                  <a:srgbClr val="22D3EE"/>
                </a:solidFill>
                <a:latin typeface="Calibri" pitchFamily="34" charset="0"/>
                <a:ea typeface="Calibri" pitchFamily="34" charset="-122"/>
                <a:cs typeface="Calibri" pitchFamily="34" charset="-120"/>
              </a:rPr>
              <a:t>Each model read serves one user — can it serve fifty?</a:t>
            </a:r>
            <a:endParaRPr lang="en-US" sz="2000" dirty="0"/>
          </a:p>
        </p:txBody>
      </p:sp>
      <p:sp>
        <p:nvSpPr>
          <p:cNvPr id="4" name="Text 2"/>
          <p:cNvSpPr txBox="1"/>
          <p:nvPr/>
        </p:nvSpPr>
        <p:spPr>
          <a:xfrm>
            <a:off x="731520" y="1371600"/>
            <a:ext cx="2743200" cy="1371600"/>
          </a:xfrm>
          <a:prstGeom prst="rect">
            <a:avLst/>
          </a:prstGeom>
          <a:noFill/>
          <a:ln/>
        </p:spPr>
        <p:txBody>
          <a:bodyPr wrap="square" lIns="0" tIns="0" rIns="0" bIns="0" rtlCol="0" anchor="ctr"/>
          <a:lstStyle/>
          <a:p>
            <a:pPr indent="0" marL="0">
              <a:buNone/>
            </a:pPr>
            <a:r>
              <a:rPr lang="en-US" sz="9600" b="1" dirty="0">
                <a:solidFill>
                  <a:srgbClr val="22D3EE">
                    <a:alpha val="80000"/>
                  </a:srgbClr>
                </a:solidFill>
                <a:latin typeface="Calibri" pitchFamily="34" charset="0"/>
                <a:ea typeface="Calibri" pitchFamily="34" charset="-122"/>
                <a:cs typeface="Calibri" pitchFamily="34" charset="-120"/>
              </a:rPr>
              <a:t>05</a:t>
            </a:r>
            <a:endParaRPr lang="en-US" sz="9600" dirty="0"/>
          </a:p>
        </p:txBody>
      </p:sp>
      <p:pic>
        <p:nvPicPr>
          <p:cNvPr id="5" name="layer_0" descr="Batching: Many Users, One GPU — illustration part 1">    </p:cNvPr>
          <p:cNvPicPr>
            <a:picLocks noChangeAspect="1"/>
          </p:cNvPicPr>
          <p:nvPr/>
        </p:nvPicPr>
        <p:blipFill>
          <a:blip r:embed="rId1"/>
          <a:stretch>
            <a:fillRect/>
          </a:stretch>
        </p:blipFill>
        <p:spPr>
          <a:xfrm>
            <a:off x="6515637" y="2009219"/>
            <a:ext cx="3526256" cy="2378337"/>
          </a:xfrm>
          <a:prstGeom prst="rect">
            <a:avLst/>
          </a:prstGeom>
        </p:spPr>
      </p:pic>
      <p:sp>
        <p:nvSpPr>
          <p:cNvPr id="6" name="nav_agenda"/>
          <p:cNvSpPr txBox="1"/>
          <p:nvPr/>
        </p:nvSpPr>
        <p:spPr>
          <a:xfrm>
            <a:off x="731520" y="5669280"/>
            <a:ext cx="1371600" cy="384048"/>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1300" u="sng" dirty="0">
                <a:solidFill>
                  <a:srgbClr val="22D3EE"/>
                </a:solidFill>
                <a:latin typeface="Calibri" pitchFamily="34" charset="0"/>
                <a:ea typeface="Calibri" pitchFamily="34" charset="-122"/>
                <a:cs typeface="Calibri" pitchFamily="34" charset="-120"/>
                <a:hlinkClick r:id="rId2" action="ppaction://hlinksldjump" tooltip="Back to agenda">
                  <a:extLst>
                    <a:ext uri="{A12FA001-AC4F-418D-AE19-62706E023703}">
                      <ahyp:hlinkClr xmlns:ahyp="http://schemas.microsoft.com/office/drawing/2018/hyperlinkcolor" val="tx"/>
                    </a:ext>
                  </a:extLst>
                </a:hlinkClick>
              </a:rPr>
              <a:t>⌂ Agenda</a:t>
            </a:r>
            <a:endParaRPr lang="en-US" sz="13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90</a:t>
            </a:fld>
            <a:endParaRPr lang="en-US"/>
          </a:p>
        </p:txBody>
      </p:sp>
    </p:spTree>
  </p:cSld>
  <p:clrMapOvr>
    <a:masterClrMapping/>
  </p:clrMapOvr>
  <p:transition spd="med">
    <p:fade/>
  </p:transition>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How Many Users Can One GPU Serve?</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Remember the expensive part: every token = one full read of the model</a:t>
            </a:r>
            <a:endParaRPr lang="en-US" sz="1700" dirty="0"/>
          </a:p>
        </p:txBody>
      </p:sp>
      <p:pic>
        <p:nvPicPr>
          <p:cNvPr id="4" name="layer_0" descr="How Many Users Can One GPU Serve? — illustration part 1">    </p:cNvPr>
          <p:cNvPicPr>
            <a:picLocks noChangeAspect="1"/>
          </p:cNvPicPr>
          <p:nvPr/>
        </p:nvPicPr>
        <p:blipFill>
          <a:blip r:embed="rId1"/>
          <a:stretch>
            <a:fillRect/>
          </a:stretch>
        </p:blipFill>
        <p:spPr>
          <a:xfrm>
            <a:off x="1463133" y="2496761"/>
            <a:ext cx="8010894" cy="2261984"/>
          </a:xfrm>
          <a:prstGeom prst="rect">
            <a:avLst/>
          </a:prstGeom>
        </p:spPr>
      </p:pic>
      <p:pic>
        <p:nvPicPr>
          <p:cNvPr id="5" name="layer_1" descr="How Many Users Can One GPU Serve? — illustration part 2">    </p:cNvPr>
          <p:cNvPicPr>
            <a:picLocks noChangeAspect="1"/>
          </p:cNvPicPr>
          <p:nvPr/>
        </p:nvPicPr>
        <p:blipFill>
          <a:blip r:embed="rId2"/>
          <a:stretch>
            <a:fillRect/>
          </a:stretch>
        </p:blipFill>
        <p:spPr>
          <a:xfrm>
            <a:off x="4556648" y="2063508"/>
            <a:ext cx="5325481" cy="3385419"/>
          </a:xfrm>
          <a:prstGeom prst="rect">
            <a:avLst/>
          </a:prstGeom>
        </p:spPr>
      </p:pic>
      <p:sp>
        <p:nvSpPr>
          <p:cNvPr id="6"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7"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If you're reading the whole model anyway... why serve only one user with that read?</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Each output token requires reading the whole model from memory — that read is the real cost. So why spend it on just one user?</a:t>
            </a:r>
            <a:endParaRPr lang="en-US" sz="1200" dirty="0"/>
          </a:p>
        </p:txBody>
      </p:sp>
      <p:sp>
        <p:nvSpPr>
          <p:cNvPr id="8"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3"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91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Batching: One Read, Fifty Tokens</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Pack many people's requests together and run them as one group</a:t>
            </a:r>
            <a:endParaRPr lang="en-US" sz="1700" dirty="0"/>
          </a:p>
        </p:txBody>
      </p:sp>
      <p:pic>
        <p:nvPicPr>
          <p:cNvPr id="4" name="layer_0" descr="Batching: One Read, Fifty Tokens — illustration part 1">    </p:cNvPr>
          <p:cNvPicPr>
            <a:picLocks noChangeAspect="1"/>
          </p:cNvPicPr>
          <p:nvPr/>
        </p:nvPicPr>
        <p:blipFill>
          <a:blip r:embed="rId1"/>
          <a:stretch>
            <a:fillRect/>
          </a:stretch>
        </p:blipFill>
        <p:spPr>
          <a:xfrm>
            <a:off x="1296869" y="2496761"/>
            <a:ext cx="5088681" cy="2372816"/>
          </a:xfrm>
          <a:prstGeom prst="rect">
            <a:avLst/>
          </a:prstGeom>
        </p:spPr>
      </p:pic>
      <p:pic>
        <p:nvPicPr>
          <p:cNvPr id="5" name="layer_1" descr="Batching: One Read, Fifty Tokens — illustration part 2">    </p:cNvPr>
          <p:cNvPicPr>
            <a:picLocks noChangeAspect="1"/>
          </p:cNvPicPr>
          <p:nvPr/>
        </p:nvPicPr>
        <p:blipFill>
          <a:blip r:embed="rId2"/>
          <a:stretch>
            <a:fillRect/>
          </a:stretch>
        </p:blipFill>
        <p:spPr>
          <a:xfrm>
            <a:off x="2793243" y="3907352"/>
            <a:ext cx="851472" cy="604539"/>
          </a:xfrm>
          <a:prstGeom prst="rect">
            <a:avLst/>
          </a:prstGeom>
        </p:spPr>
      </p:pic>
      <p:pic>
        <p:nvPicPr>
          <p:cNvPr id="6" name="layer_2" descr="Batching: One Read, Fifty Tokens — illustration part 3">    </p:cNvPr>
          <p:cNvPicPr>
            <a:picLocks noChangeAspect="1"/>
          </p:cNvPicPr>
          <p:nvPr/>
        </p:nvPicPr>
        <p:blipFill>
          <a:blip r:embed="rId3"/>
          <a:stretch>
            <a:fillRect/>
          </a:stretch>
        </p:blipFill>
        <p:spPr>
          <a:xfrm>
            <a:off x="6380511" y="1751162"/>
            <a:ext cx="4408511" cy="3350155"/>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One read of the model → 1 token for 1 user, or 50 tokens for 50 users: same single read</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Batching packs many users' requests into one group. One read of the model then produces the next token for all of them: 1 token for 1 user, or 50 tokens for 50 users.</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92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childTnLst>
                                </p:cTn>
                              </p:par>
                            </p:childTnLst>
                          </p:cTn>
                        </p:par>
                        <p:par>
                          <p:cTn id="7" fill="hold">
                            <p:stCondLst>
                              <p:cond delay="1"/>
                            </p:stCondLst>
                            <p:childTnLst>
                              <p:par>
                                <p:cTn id="10" presetID="0" presetClass="path" presetSubtype="0" fill="hold" grpId="0" nodeType="afterEffect">
                                  <p:stCondLst>
                                    <p:cond delay="0"/>
                                  </p:stCondLst>
                                  <p:childTnLst>
                                    <p:animMotion origin="layout" path="M 0 0 L 0.1159 0.0000 E" pathEditMode="relative" ptsTypes="">
                                      <p:cBhvr>
                                        <p:cTn id="9" dur="1200" fill="hold"/>
                                        <p:tgtEl>
                                          <p:spTgt spid="5"/>
                                        </p:tgtEl>
                                        <p:attrNameLst>
                                          <p:attrName>ppt_x</p:attrName>
                                          <p:attrName>ppt_y</p:attrName>
                                        </p:attrNameLst>
                                      </p:cBhvr>
                                    </p:animMotion>
                                  </p:childTnLst>
                                </p:cTn>
                              </p:par>
                            </p:childTnLst>
                          </p:cTn>
                        </p:par>
                        <p:par>
                          <p:cTn id="11" fill="hold">
                            <p:stCondLst>
                              <p:cond delay="1201"/>
                            </p:stCondLst>
                            <p:childTnLst>
                              <p:par>
                                <p:cTn id="14" presetID="22" presetClass="entr" presetSubtype="8"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left)">
                                      <p:cBhvr>
                                        <p:cTn id="13" dur="1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Throughput Shoots Up</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Each person's answer streams at roughly the same speed — but add up everyone's tokens...</a:t>
            </a:r>
            <a:endParaRPr lang="en-US" sz="1700" dirty="0"/>
          </a:p>
        </p:txBody>
      </p:sp>
      <p:pic>
        <p:nvPicPr>
          <p:cNvPr id="4" name="layer_0" descr="Throughput Shoots Up — illustration part 1">    </p:cNvPr>
          <p:cNvPicPr>
            <a:picLocks noChangeAspect="1"/>
          </p:cNvPicPr>
          <p:nvPr/>
        </p:nvPicPr>
        <p:blipFill>
          <a:blip r:embed="rId1"/>
          <a:stretch>
            <a:fillRect/>
          </a:stretch>
        </p:blipFill>
        <p:spPr>
          <a:xfrm>
            <a:off x="1236409" y="2003054"/>
            <a:ext cx="4972800" cy="3566781"/>
          </a:xfrm>
          <a:prstGeom prst="rect">
            <a:avLst/>
          </a:prstGeom>
        </p:spPr>
      </p:pic>
      <p:pic>
        <p:nvPicPr>
          <p:cNvPr id="5" name="layer_1" descr="Throughput Shoots Up — illustration part 2">    </p:cNvPr>
          <p:cNvPicPr>
            <a:picLocks noChangeAspect="1"/>
          </p:cNvPicPr>
          <p:nvPr/>
        </p:nvPicPr>
        <p:blipFill>
          <a:blip r:embed="rId2"/>
          <a:stretch>
            <a:fillRect/>
          </a:stretch>
        </p:blipFill>
        <p:spPr>
          <a:xfrm>
            <a:off x="1956886" y="1927486"/>
            <a:ext cx="4101175" cy="3163755"/>
          </a:xfrm>
          <a:prstGeom prst="rect">
            <a:avLst/>
          </a:prstGeom>
        </p:spPr>
      </p:pic>
      <p:pic>
        <p:nvPicPr>
          <p:cNvPr id="6" name="layer_2" descr="Throughput Shoots Up — illustration part 3">    </p:cNvPr>
          <p:cNvPicPr>
            <a:picLocks noChangeAspect="1"/>
          </p:cNvPicPr>
          <p:nvPr/>
        </p:nvPicPr>
        <p:blipFill>
          <a:blip r:embed="rId3"/>
          <a:stretch>
            <a:fillRect/>
          </a:stretch>
        </p:blipFill>
        <p:spPr>
          <a:xfrm>
            <a:off x="6949839" y="2330512"/>
            <a:ext cx="3758570" cy="2926977"/>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Serve 50 people for close to the cost of one — without batching, nobody could afford the hardware</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Each user's answer streams at about the same speed as before, but the server's total output — its throughput — shoots up. Without batching, the hardware would be unaffordable.</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93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The Ceiling Is Memory</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Every user in the batch needs their own scratchpad (KV cache) in VRAM</a:t>
            </a:r>
            <a:endParaRPr lang="en-US" sz="1700" dirty="0"/>
          </a:p>
        </p:txBody>
      </p:sp>
      <p:pic>
        <p:nvPicPr>
          <p:cNvPr id="4" name="layer_0" descr="The Ceiling Is Memory — illustration part 1">    </p:cNvPr>
          <p:cNvPicPr>
            <a:picLocks noChangeAspect="1"/>
          </p:cNvPicPr>
          <p:nvPr/>
        </p:nvPicPr>
        <p:blipFill>
          <a:blip r:embed="rId1"/>
          <a:stretch>
            <a:fillRect/>
          </a:stretch>
        </p:blipFill>
        <p:spPr>
          <a:xfrm>
            <a:off x="1629396" y="1700784"/>
            <a:ext cx="2760987" cy="3556705"/>
          </a:xfrm>
          <a:prstGeom prst="rect">
            <a:avLst/>
          </a:prstGeom>
        </p:spPr>
      </p:pic>
      <p:pic>
        <p:nvPicPr>
          <p:cNvPr id="5" name="layer_1" descr="The Ceiling Is Memory — illustration part 2">    </p:cNvPr>
          <p:cNvPicPr>
            <a:picLocks noChangeAspect="1"/>
          </p:cNvPicPr>
          <p:nvPr/>
        </p:nvPicPr>
        <p:blipFill>
          <a:blip r:embed="rId2"/>
          <a:stretch>
            <a:fillRect/>
          </a:stretch>
        </p:blipFill>
        <p:spPr>
          <a:xfrm>
            <a:off x="1755354" y="2078621"/>
            <a:ext cx="6988119" cy="1017641"/>
          </a:xfrm>
          <a:prstGeom prst="rect">
            <a:avLst/>
          </a:prstGeom>
        </p:spPr>
      </p:pic>
      <p:pic>
        <p:nvPicPr>
          <p:cNvPr id="6" name="layer_2" descr="The Ceiling Is Memory — illustration part 3">    </p:cNvPr>
          <p:cNvPicPr>
            <a:picLocks noChangeAspect="1"/>
          </p:cNvPicPr>
          <p:nvPr/>
        </p:nvPicPr>
        <p:blipFill>
          <a:blip r:embed="rId3"/>
          <a:stretch>
            <a:fillRect/>
          </a:stretch>
        </p:blipFill>
        <p:spPr>
          <a:xfrm>
            <a:off x="5816222" y="3615158"/>
            <a:ext cx="4559660" cy="1622180"/>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Weights are fixed and take most of the room — only what's left over holds everyone's scratchpads</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Every user in the batch needs their own KV cache in VRAM for as long as they're being served. The weights already take most of the memory; only what's left holds those caches.</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94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Worked Example: How Many Chats Fit on One GPU?</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Llama-3-8B on an 80 GB H100, 16-bit weights</a:t>
            </a:r>
            <a:endParaRPr lang="en-US" sz="1700" dirty="0"/>
          </a:p>
        </p:txBody>
      </p:sp>
      <p:pic>
        <p:nvPicPr>
          <p:cNvPr id="4" name="layer_0" descr="Worked Example: How Many Chats Fit on One GPU? — illustration part 1">    </p:cNvPr>
          <p:cNvPicPr>
            <a:picLocks noChangeAspect="1"/>
          </p:cNvPicPr>
          <p:nvPr/>
        </p:nvPicPr>
        <p:blipFill>
          <a:blip r:embed="rId1"/>
          <a:stretch>
            <a:fillRect/>
          </a:stretch>
        </p:blipFill>
        <p:spPr>
          <a:xfrm>
            <a:off x="1463133" y="1736049"/>
            <a:ext cx="1929668" cy="3687689"/>
          </a:xfrm>
          <a:prstGeom prst="rect">
            <a:avLst/>
          </a:prstGeom>
        </p:spPr>
      </p:pic>
      <p:pic>
        <p:nvPicPr>
          <p:cNvPr id="5" name="layer_1" descr="Worked Example: How Many Chats Fit on One GPU? — illustration part 2">    </p:cNvPr>
          <p:cNvPicPr>
            <a:picLocks noChangeAspect="1"/>
          </p:cNvPicPr>
          <p:nvPr/>
        </p:nvPicPr>
        <p:blipFill>
          <a:blip r:embed="rId2"/>
          <a:stretch>
            <a:fillRect/>
          </a:stretch>
        </p:blipFill>
        <p:spPr>
          <a:xfrm>
            <a:off x="1543745" y="2078621"/>
            <a:ext cx="1768443" cy="2267022"/>
          </a:xfrm>
          <a:prstGeom prst="rect">
            <a:avLst/>
          </a:prstGeom>
        </p:spPr>
      </p:pic>
      <p:pic>
        <p:nvPicPr>
          <p:cNvPr id="6" name="layer_2" descr="Worked Example: How Many Chats Fit on One GPU? — illustration part 3">    </p:cNvPr>
          <p:cNvPicPr>
            <a:picLocks noChangeAspect="1"/>
          </p:cNvPicPr>
          <p:nvPr/>
        </p:nvPicPr>
        <p:blipFill>
          <a:blip r:embed="rId3"/>
          <a:stretch>
            <a:fillRect/>
          </a:stretch>
        </p:blipFill>
        <p:spPr>
          <a:xfrm>
            <a:off x="3816018" y="2093734"/>
            <a:ext cx="3763609" cy="1254419"/>
          </a:xfrm>
          <a:prstGeom prst="rect">
            <a:avLst/>
          </a:prstGeom>
        </p:spPr>
      </p:pic>
      <p:pic>
        <p:nvPicPr>
          <p:cNvPr id="7" name="layer_3" descr="Worked Example: How Many Chats Fit on One GPU? — illustration part 4">    </p:cNvPr>
          <p:cNvPicPr>
            <a:picLocks noChangeAspect="1"/>
          </p:cNvPicPr>
          <p:nvPr/>
        </p:nvPicPr>
        <p:blipFill>
          <a:blip r:embed="rId4"/>
          <a:stretch>
            <a:fillRect/>
          </a:stretch>
        </p:blipFill>
        <p:spPr>
          <a:xfrm>
            <a:off x="3816018" y="3756217"/>
            <a:ext cx="3768647" cy="231740"/>
          </a:xfrm>
          <a:prstGeom prst="rect">
            <a:avLst/>
          </a:prstGeom>
        </p:spPr>
      </p:pic>
      <p:pic>
        <p:nvPicPr>
          <p:cNvPr id="8" name="layer_4" descr="Worked Example: How Many Chats Fit on One GPU? — illustration part 5">    </p:cNvPr>
          <p:cNvPicPr>
            <a:picLocks noChangeAspect="1"/>
          </p:cNvPicPr>
          <p:nvPr/>
        </p:nvPicPr>
        <p:blipFill>
          <a:blip r:embed="rId5"/>
          <a:stretch>
            <a:fillRect/>
          </a:stretch>
        </p:blipFill>
        <p:spPr>
          <a:xfrm>
            <a:off x="3790826" y="4406097"/>
            <a:ext cx="6917583" cy="1103284"/>
          </a:xfrm>
          <a:prstGeom prst="rect">
            <a:avLst/>
          </a:prstGeom>
        </p:spPr>
      </p:pic>
      <p:sp>
        <p:nvSpPr>
          <p:cNvPr id="9"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10"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Weights ~16 GB · KV cache ≈ 128 KB per token · 4,000-token chat ≈ 0.5 GB → roughly 120 chats</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KV per token = 32 layers × 8 KV heads × 128 dims × 2 (K and V) × 2 bytes ≈ 128 KB. A 4,000-token conversation needs ~0.5 GB. With ~60 GB left after weights and overhead, about 120 chats fit at once.</a:t>
            </a:r>
            <a:endParaRPr lang="en-US" sz="1200" dirty="0"/>
          </a:p>
        </p:txBody>
      </p:sp>
      <p:sp>
        <p:nvSpPr>
          <p:cNvPr id="11"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6"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95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par>
                    <p:cTn id="15" fill="hold">
                      <p:stCondLst>
                        <p:cond delay="indefinite"/>
                      </p:stCondLst>
                      <p:childTnLst>
                        <p:par>
                          <p:cTn id="16" fill="hold">
                            <p:stCondLst>
                              <p:cond delay="0"/>
                            </p:stCondLst>
                            <p:childTnLst>
                              <p:par>
                                <p:cTn id="20" presetID="42"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p:cTn id="18" dur="600" fill="hold"/>
                                        <p:tgtEl>
                                          <p:spTgt spid="7"/>
                                        </p:tgtEl>
                                        <p:attrNameLst>
                                          <p:attrName>ppt_y</p:attrName>
                                        </p:attrNameLst>
                                      </p:cBhvr>
                                      <p:tavLst>
                                        <p:tav tm="0">
                                          <p:val>
                                            <p:strVal val="#ppt_y+0.03"/>
                                          </p:val>
                                        </p:tav>
                                        <p:tav tm="100000">
                                          <p:val>
                                            <p:strVal val="#ppt_y"/>
                                          </p:val>
                                        </p:tav>
                                      </p:tavLst>
                                    </p:anim>
                                    <p:animEffect transition="in" filter="fade">
                                      <p:cBhvr>
                                        <p:cTn id="19" dur="600"/>
                                        <p:tgtEl>
                                          <p:spTgt spid="7"/>
                                        </p:tgtEl>
                                      </p:cBhvr>
                                    </p:animEffect>
                                  </p:childTnLst>
                                </p:cTn>
                              </p:par>
                            </p:childTnLst>
                          </p:cTn>
                        </p:par>
                      </p:childTnLst>
                    </p:cTn>
                  </p:par>
                  <p:par>
                    <p:cTn id="21" fill="hold">
                      <p:stCondLst>
                        <p:cond delay="indefinite"/>
                      </p:stCondLst>
                      <p:childTnLst>
                        <p:par>
                          <p:cTn id="22" fill="hold">
                            <p:stCondLst>
                              <p:cond delay="0"/>
                            </p:stCondLst>
                            <p:childTnLst>
                              <p:par>
                                <p:cTn id="27" presetID="53" presetClass="entr" presetSubtype="16"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p:cTn id="24" dur="700" fill="hold"/>
                                        <p:tgtEl>
                                          <p:spTgt spid="8"/>
                                        </p:tgtEl>
                                        <p:attrNameLst>
                                          <p:attrName>ppt_w</p:attrName>
                                        </p:attrNameLst>
                                      </p:cBhvr>
                                      <p:tavLst>
                                        <p:tav tm="0">
                                          <p:val>
                                            <p:fltVal val="0"/>
                                          </p:val>
                                        </p:tav>
                                        <p:tav tm="100000">
                                          <p:val>
                                            <p:strVal val="#ppt_w"/>
                                          </p:val>
                                        </p:tav>
                                      </p:tavLst>
                                    </p:anim>
                                    <p:anim calcmode="lin" valueType="num">
                                      <p:cBhvr>
                                        <p:cTn id="25" dur="700" fill="hold"/>
                                        <p:tgtEl>
                                          <p:spTgt spid="8"/>
                                        </p:tgtEl>
                                        <p:attrNameLst>
                                          <p:attrName>ppt_h</p:attrName>
                                        </p:attrNameLst>
                                      </p:cBhvr>
                                      <p:tavLst>
                                        <p:tav tm="0">
                                          <p:val>
                                            <p:fltVal val="0"/>
                                          </p:val>
                                        </p:tav>
                                        <p:tav tm="100000">
                                          <p:val>
                                            <p:strVal val="#ppt_h"/>
                                          </p:val>
                                        </p:tav>
                                      </p:tavLst>
                                    </p:anim>
                                    <p:animEffect transition="in" filter="fade">
                                      <p:cBhvr>
                                        <p:cTn id="26" dur="7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When the Scratchpad Space Fills Up</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The server is full</a:t>
            </a:r>
            <a:endParaRPr lang="en-US" sz="1700" dirty="0"/>
          </a:p>
        </p:txBody>
      </p:sp>
      <p:pic>
        <p:nvPicPr>
          <p:cNvPr id="4" name="layer_0" descr="When the Scratchpad Space Fills Up — illustration part 1">    </p:cNvPr>
          <p:cNvPicPr>
            <a:picLocks noChangeAspect="1"/>
          </p:cNvPicPr>
          <p:nvPr/>
        </p:nvPicPr>
        <p:blipFill>
          <a:blip r:embed="rId1"/>
          <a:stretch>
            <a:fillRect/>
          </a:stretch>
        </p:blipFill>
        <p:spPr>
          <a:xfrm>
            <a:off x="1463133" y="1998016"/>
            <a:ext cx="2760987" cy="3586932"/>
          </a:xfrm>
          <a:prstGeom prst="rect">
            <a:avLst/>
          </a:prstGeom>
        </p:spPr>
      </p:pic>
      <p:pic>
        <p:nvPicPr>
          <p:cNvPr id="5" name="layer_1" descr="When the Scratchpad Space Fills Up — illustration part 2">    </p:cNvPr>
          <p:cNvPicPr>
            <a:picLocks noChangeAspect="1"/>
          </p:cNvPicPr>
          <p:nvPr/>
        </p:nvPicPr>
        <p:blipFill>
          <a:blip r:embed="rId2"/>
          <a:stretch>
            <a:fillRect/>
          </a:stretch>
        </p:blipFill>
        <p:spPr>
          <a:xfrm>
            <a:off x="5040324" y="3403569"/>
            <a:ext cx="3249702" cy="1254419"/>
          </a:xfrm>
          <a:prstGeom prst="rect">
            <a:avLst/>
          </a:prstGeom>
        </p:spPr>
      </p:pic>
      <p:pic>
        <p:nvPicPr>
          <p:cNvPr id="6" name="layer_2" descr="When the Scratchpad Space Fills Up — illustration part 3">    </p:cNvPr>
          <p:cNvPicPr>
            <a:picLocks noChangeAspect="1"/>
          </p:cNvPicPr>
          <p:nvPr/>
        </p:nvPicPr>
        <p:blipFill>
          <a:blip r:embed="rId3"/>
          <a:stretch>
            <a:fillRect/>
          </a:stretch>
        </p:blipFill>
        <p:spPr>
          <a:xfrm>
            <a:off x="2123150" y="1700784"/>
            <a:ext cx="2070740" cy="1566764"/>
          </a:xfrm>
          <a:prstGeom prst="rect">
            <a:avLst/>
          </a:prstGeom>
        </p:spPr>
      </p:pic>
      <p:pic>
        <p:nvPicPr>
          <p:cNvPr id="7" name="layer_3" descr="When the Scratchpad Space Fills Up — illustration part 4">    </p:cNvPr>
          <p:cNvPicPr>
            <a:picLocks noChangeAspect="1"/>
          </p:cNvPicPr>
          <p:nvPr/>
        </p:nvPicPr>
        <p:blipFill>
          <a:blip r:embed="rId4"/>
          <a:stretch>
            <a:fillRect/>
          </a:stretch>
        </p:blipFill>
        <p:spPr>
          <a:xfrm>
            <a:off x="8279950" y="2330512"/>
            <a:ext cx="2594723" cy="1264494"/>
          </a:xfrm>
          <a:prstGeom prst="rect">
            <a:avLst/>
          </a:prstGeom>
        </p:spPr>
      </p:pic>
      <p:sp>
        <p:nvSpPr>
          <p:cNvPr id="8"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9"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New users wait in line, or someone's cache gets evicted — that's ChatGPT's "at capacity"</a:t>
            </a:r>
            <a:endParaRPr lang="en-US" sz="1200" dirty="0"/>
          </a:p>
          <a:p>
            <a:pPr indent="0" marL="0">
              <a:spcAft>
                <a:spcPts val="200"/>
              </a:spcAft>
              <a:buNone/>
            </a:pPr>
            <a:r>
              <a:rPr lang="en-US" sz="1200" dirty="0">
                <a:solidFill>
                  <a:srgbClr val="C9D6EA"/>
                </a:solidFill>
                <a:latin typeface="Calibri" pitchFamily="34" charset="0"/>
                <a:ea typeface="Calibri" pitchFamily="34" charset="-122"/>
                <a:cs typeface="Calibri" pitchFamily="34" charset="-120"/>
              </a:rPr>
              <a:t>When that leftover space fills up, the server is full. New users wait in a queue or someone's cache is evicted — which is exactly when ChatGPT says it's at capacity.</a:t>
            </a:r>
            <a:endParaRPr lang="en-US" sz="1200" dirty="0"/>
          </a:p>
          <a:p>
            <a:pPr indent="0" marL="0">
              <a:spcAft>
                <a:spcPts val="200"/>
              </a:spcAft>
              <a:buNone/>
            </a:pPr>
            <a:r>
              <a:rPr lang="en-US" sz="1200" b="1" dirty="0">
                <a:solidFill>
                  <a:srgbClr val="5EE6A8"/>
                </a:solidFill>
                <a:latin typeface="Calibri" pitchFamily="34" charset="0"/>
                <a:ea typeface="Calibri" pitchFamily="34" charset="-122"/>
                <a:cs typeface="Calibri" pitchFamily="34" charset="-120"/>
              </a:rPr>
              <a:t>➜ Coming up:  Next slides: why memory is the real limit — and the plan to fight it.</a:t>
            </a:r>
            <a:endParaRPr lang="en-US" sz="1200" dirty="0"/>
          </a:p>
        </p:txBody>
      </p:sp>
      <p:sp>
        <p:nvSpPr>
          <p:cNvPr id="10"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5"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96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par>
                    <p:cTn id="15" fill="hold">
                      <p:stCondLst>
                        <p:cond delay="indefinite"/>
                      </p:stCondLst>
                      <p:childTnLst>
                        <p:par>
                          <p:cTn id="16" fill="hold">
                            <p:stCondLst>
                              <p:cond delay="0"/>
                            </p:stCondLst>
                            <p:childTnLst>
                              <p:par>
                                <p:cTn id="20" presetID="42"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p:cTn id="18" dur="600" fill="hold"/>
                                        <p:tgtEl>
                                          <p:spTgt spid="7"/>
                                        </p:tgtEl>
                                        <p:attrNameLst>
                                          <p:attrName>ppt_y</p:attrName>
                                        </p:attrNameLst>
                                      </p:cBhvr>
                                      <p:tavLst>
                                        <p:tav tm="0">
                                          <p:val>
                                            <p:strVal val="#ppt_y+0.03"/>
                                          </p:val>
                                        </p:tav>
                                        <p:tav tm="100000">
                                          <p:val>
                                            <p:strVal val="#ppt_y"/>
                                          </p:val>
                                        </p:tav>
                                      </p:tavLst>
                                    </p:anim>
                                    <p:animEffect transition="in" filter="fade">
                                      <p:cBhvr>
                                        <p:cTn id="19" dur="6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Memory, Not Math, Decides How Many Fit</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Plenty of compute left idle — memory runs out first</a:t>
            </a:r>
            <a:endParaRPr lang="en-US" sz="1700" dirty="0"/>
          </a:p>
        </p:txBody>
      </p:sp>
      <p:pic>
        <p:nvPicPr>
          <p:cNvPr id="4" name="layer_0" descr="Memory, Not Math, Decides How Many Fit — illustration part 1">    </p:cNvPr>
          <p:cNvPicPr>
            <a:picLocks noChangeAspect="1"/>
          </p:cNvPicPr>
          <p:nvPr/>
        </p:nvPicPr>
        <p:blipFill>
          <a:blip r:embed="rId1"/>
          <a:stretch>
            <a:fillRect/>
          </a:stretch>
        </p:blipFill>
        <p:spPr>
          <a:xfrm>
            <a:off x="1634435" y="2254945"/>
            <a:ext cx="4413549" cy="2498762"/>
          </a:xfrm>
          <a:prstGeom prst="rect">
            <a:avLst/>
          </a:prstGeom>
        </p:spPr>
      </p:pic>
      <p:pic>
        <p:nvPicPr>
          <p:cNvPr id="5" name="layer_1" descr="Memory, Not Math, Decides How Many Fit — illustration part 2">    </p:cNvPr>
          <p:cNvPicPr>
            <a:picLocks noChangeAspect="1"/>
          </p:cNvPicPr>
          <p:nvPr/>
        </p:nvPicPr>
        <p:blipFill>
          <a:blip r:embed="rId2"/>
          <a:stretch>
            <a:fillRect/>
          </a:stretch>
        </p:blipFill>
        <p:spPr>
          <a:xfrm>
            <a:off x="6783575" y="1927486"/>
            <a:ext cx="3844221" cy="3637311"/>
          </a:xfrm>
          <a:prstGeom prst="rect">
            <a:avLst/>
          </a:prstGeom>
        </p:spPr>
      </p:pic>
      <p:sp>
        <p:nvSpPr>
          <p:cNvPr id="6"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7"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Teams buy far more GPUs than the math calls for, and they sit half idle</a:t>
            </a:r>
            <a:endParaRPr lang="en-US" sz="1200" dirty="0"/>
          </a:p>
          <a:p>
            <a:pPr indent="0" marL="0">
              <a:spcAft>
                <a:spcPts val="200"/>
              </a:spcAft>
              <a:buNone/>
            </a:pPr>
            <a:r>
              <a:rPr lang="en-US" sz="1200" dirty="0">
                <a:solidFill>
                  <a:srgbClr val="C9D6EA"/>
                </a:solidFill>
                <a:latin typeface="Calibri" pitchFamily="34" charset="0"/>
                <a:ea typeface="Calibri" pitchFamily="34" charset="-122"/>
                <a:cs typeface="Calibri" pitchFamily="34" charset="-120"/>
              </a:rPr>
              <a:t>It's memory, not compute, that runs out first: the cores still have plenty of math to spare. Teams often buy more GPUs than the math needs, and those GPUs sit half idle.</a:t>
            </a:r>
            <a:endParaRPr lang="en-US" sz="1200" dirty="0"/>
          </a:p>
          <a:p>
            <a:pPr indent="0" marL="0">
              <a:spcAft>
                <a:spcPts val="200"/>
              </a:spcAft>
              <a:buNone/>
            </a:pPr>
            <a:r>
              <a:rPr lang="en-US" sz="1200" b="1" dirty="0">
                <a:solidFill>
                  <a:srgbClr val="5EE6A8"/>
                </a:solidFill>
                <a:latin typeface="Calibri" pitchFamily="34" charset="0"/>
                <a:ea typeface="Calibri" pitchFamily="34" charset="-122"/>
                <a:cs typeface="Calibri" pitchFamily="34" charset="-120"/>
              </a:rPr>
              <a:t>➜ Coming up:  Next slide: the four-part plan to fight the memory ceiling.</a:t>
            </a:r>
            <a:endParaRPr lang="en-US" sz="1200" dirty="0"/>
          </a:p>
        </p:txBody>
      </p:sp>
      <p:sp>
        <p:nvSpPr>
          <p:cNvPr id="8"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3"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97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Fighting the Memory Ceiling: The Plan</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Memory is the limit — so every tool we add from here helps use it better</a:t>
            </a:r>
            <a:endParaRPr lang="en-US" sz="1700" dirty="0"/>
          </a:p>
        </p:txBody>
      </p:sp>
      <p:pic>
        <p:nvPicPr>
          <p:cNvPr id="4" name="layer_0" descr="Fighting the Memory Ceiling: The Plan — illustration part 1">    </p:cNvPr>
          <p:cNvPicPr>
            <a:picLocks noChangeAspect="1"/>
          </p:cNvPicPr>
          <p:nvPr/>
        </p:nvPicPr>
        <p:blipFill>
          <a:blip r:embed="rId1"/>
          <a:stretch>
            <a:fillRect/>
          </a:stretch>
        </p:blipFill>
        <p:spPr>
          <a:xfrm>
            <a:off x="1296869" y="1902297"/>
            <a:ext cx="1763404" cy="3506327"/>
          </a:xfrm>
          <a:prstGeom prst="rect">
            <a:avLst/>
          </a:prstGeom>
        </p:spPr>
      </p:pic>
      <p:pic>
        <p:nvPicPr>
          <p:cNvPr id="5" name="layer_1" descr="Fighting the Memory Ceiling: The Plan — illustration part 2">    </p:cNvPr>
          <p:cNvPicPr>
            <a:picLocks noChangeAspect="1"/>
          </p:cNvPicPr>
          <p:nvPr/>
        </p:nvPicPr>
        <p:blipFill>
          <a:blip r:embed="rId2"/>
          <a:stretch>
            <a:fillRect/>
          </a:stretch>
        </p:blipFill>
        <p:spPr>
          <a:xfrm>
            <a:off x="3055235" y="2038318"/>
            <a:ext cx="7819438" cy="1214116"/>
          </a:xfrm>
          <a:prstGeom prst="rect">
            <a:avLst/>
          </a:prstGeom>
        </p:spPr>
      </p:pic>
      <p:pic>
        <p:nvPicPr>
          <p:cNvPr id="6" name="layer_2" descr="Fighting the Memory Ceiling: The Plan — illustration part 3">    </p:cNvPr>
          <p:cNvPicPr>
            <a:picLocks noChangeAspect="1"/>
          </p:cNvPicPr>
          <p:nvPr/>
        </p:nvPicPr>
        <p:blipFill>
          <a:blip r:embed="rId3"/>
          <a:stretch>
            <a:fillRect/>
          </a:stretch>
        </p:blipFill>
        <p:spPr>
          <a:xfrm>
            <a:off x="3055235" y="2869560"/>
            <a:ext cx="7819438" cy="811090"/>
          </a:xfrm>
          <a:prstGeom prst="rect">
            <a:avLst/>
          </a:prstGeom>
        </p:spPr>
      </p:pic>
      <p:pic>
        <p:nvPicPr>
          <p:cNvPr id="7" name="layer_3" descr="Fighting the Memory Ceiling: The Plan — illustration part 4">    </p:cNvPr>
          <p:cNvPicPr>
            <a:picLocks noChangeAspect="1"/>
          </p:cNvPicPr>
          <p:nvPr/>
        </p:nvPicPr>
        <p:blipFill>
          <a:blip r:embed="rId4"/>
          <a:stretch>
            <a:fillRect/>
          </a:stretch>
        </p:blipFill>
        <p:spPr>
          <a:xfrm>
            <a:off x="3055235" y="3670574"/>
            <a:ext cx="7819438" cy="841317"/>
          </a:xfrm>
          <a:prstGeom prst="rect">
            <a:avLst/>
          </a:prstGeom>
        </p:spPr>
      </p:pic>
      <p:pic>
        <p:nvPicPr>
          <p:cNvPr id="8" name="layer_4" descr="Fighting the Memory Ceiling: The Plan — illustration part 5">    </p:cNvPr>
          <p:cNvPicPr>
            <a:picLocks noChangeAspect="1"/>
          </p:cNvPicPr>
          <p:nvPr/>
        </p:nvPicPr>
        <p:blipFill>
          <a:blip r:embed="rId5"/>
          <a:stretch>
            <a:fillRect/>
          </a:stretch>
        </p:blipFill>
        <p:spPr>
          <a:xfrm>
            <a:off x="3055235" y="3922465"/>
            <a:ext cx="7819438" cy="1420667"/>
          </a:xfrm>
          <a:prstGeom prst="rect">
            <a:avLst/>
          </a:prstGeom>
        </p:spPr>
      </p:pic>
      <p:sp>
        <p:nvSpPr>
          <p:cNvPr id="9"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10"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Four ways to fit more users into the same GPU memory — one done, three coming up</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Share identical prefixes so many users reuse one cache (done, Chapter 4). Split giant weights across GPUs so each holds less (Chapter 6). Route each request to a server that still has free KV memory (Chapter 8). Spill old caches to CPU RAM or NVMe instead of throwing them away (llm-d's tiered cache).</a:t>
            </a:r>
            <a:endParaRPr lang="en-US" sz="1200" dirty="0"/>
          </a:p>
        </p:txBody>
      </p:sp>
      <p:sp>
        <p:nvSpPr>
          <p:cNvPr id="11"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6"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98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2" presetClass="entr" presetSubtype="4"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additive="base">
                                        <p:cTn id="6" dur="500" fill="hold"/>
                                        <p:tgtEl>
                                          <p:spTgt spid="5"/>
                                        </p:tgtEl>
                                        <p:attrNameLst>
                                          <p:attrName>ppt_y</p:attrName>
                                        </p:attrNameLst>
                                      </p:cBhvr>
                                      <p:tavLst>
                                        <p:tav tm="0">
                                          <p:val>
                                            <p:strVal val="#ppt_y+0.08"/>
                                          </p:val>
                                        </p:tav>
                                        <p:tav tm="100000">
                                          <p:val>
                                            <p:strVal val="#ppt_y"/>
                                          </p:val>
                                        </p:tav>
                                      </p:tavLst>
                                    </p:anim>
                                    <p:animEffect transition="in" filter="fade">
                                      <p:cBhvr>
                                        <p:cTn id="7" dur="500"/>
                                        <p:tgtEl>
                                          <p:spTgt spid="5"/>
                                        </p:tgtEl>
                                      </p:cBhvr>
                                    </p:animEffect>
                                  </p:childTnLst>
                                </p:cTn>
                              </p:par>
                            </p:childTnLst>
                          </p:cTn>
                        </p:par>
                        <p:par>
                          <p:cTn id="9" fill="hold">
                            <p:stCondLst>
                              <p:cond delay="500"/>
                            </p:stCondLst>
                            <p:childTnLst>
                              <p:par>
                                <p:cTn id="13" presetID="2" presetClass="entr" presetSubtype="4"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ppt_y</p:attrName>
                                        </p:attrNameLst>
                                      </p:cBhvr>
                                      <p:tavLst>
                                        <p:tav tm="0">
                                          <p:val>
                                            <p:strVal val="#ppt_y+0.08"/>
                                          </p:val>
                                        </p:tav>
                                        <p:tav tm="100000">
                                          <p:val>
                                            <p:strVal val="#ppt_y"/>
                                          </p:val>
                                        </p:tav>
                                      </p:tavLst>
                                    </p:anim>
                                    <p:animEffect transition="in" filter="fade">
                                      <p:cBhvr>
                                        <p:cTn id="12" dur="500"/>
                                        <p:tgtEl>
                                          <p:spTgt spid="6"/>
                                        </p:tgtEl>
                                      </p:cBhvr>
                                    </p:animEffect>
                                  </p:childTnLst>
                                </p:cTn>
                              </p:par>
                            </p:childTnLst>
                          </p:cTn>
                        </p:par>
                        <p:par>
                          <p:cTn id="14" fill="hold">
                            <p:stCondLst>
                              <p:cond delay="1000"/>
                            </p:stCondLst>
                            <p:childTnLst>
                              <p:par>
                                <p:cTn id="18" presetID="2" presetClass="entr" presetSubtype="4" fill="hold" grpId="0" nodeType="after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additive="base">
                                        <p:cTn id="16" dur="500" fill="hold"/>
                                        <p:tgtEl>
                                          <p:spTgt spid="7"/>
                                        </p:tgtEl>
                                        <p:attrNameLst>
                                          <p:attrName>ppt_y</p:attrName>
                                        </p:attrNameLst>
                                      </p:cBhvr>
                                      <p:tavLst>
                                        <p:tav tm="0">
                                          <p:val>
                                            <p:strVal val="#ppt_y+0.08"/>
                                          </p:val>
                                        </p:tav>
                                        <p:tav tm="100000">
                                          <p:val>
                                            <p:strVal val="#ppt_y"/>
                                          </p:val>
                                        </p:tav>
                                      </p:tavLst>
                                    </p:anim>
                                    <p:animEffect transition="in" filter="fade">
                                      <p:cBhvr>
                                        <p:cTn id="17" dur="500"/>
                                        <p:tgtEl>
                                          <p:spTgt spid="7"/>
                                        </p:tgtEl>
                                      </p:cBhvr>
                                    </p:animEffect>
                                  </p:childTnLst>
                                </p:cTn>
                              </p:par>
                            </p:childTnLst>
                          </p:cTn>
                        </p:par>
                        <p:par>
                          <p:cTn id="19" fill="hold">
                            <p:stCondLst>
                              <p:cond delay="1500"/>
                            </p:stCondLst>
                            <p:childTnLst>
                              <p:par>
                                <p:cTn id="23" presetID="2" presetClass="entr" presetSubtype="4" fill="hold" grpId="0" nodeType="after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additive="base">
                                        <p:cTn id="21" dur="500" fill="hold"/>
                                        <p:tgtEl>
                                          <p:spTgt spid="8"/>
                                        </p:tgtEl>
                                        <p:attrNameLst>
                                          <p:attrName>ppt_y</p:attrName>
                                        </p:attrNameLst>
                                      </p:cBhvr>
                                      <p:tavLst>
                                        <p:tav tm="0">
                                          <p:val>
                                            <p:strVal val="#ppt_y+0.08"/>
                                          </p:val>
                                        </p:tav>
                                        <p:tav tm="100000">
                                          <p:val>
                                            <p:strVal val="#ppt_y"/>
                                          </p:val>
                                        </p:tav>
                                      </p:tavLst>
                                    </p:anim>
                                    <p:animEffect transition="in" filter="fade">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Quick Check: Batching</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Think about each question first — then click to reveal the answer</a:t>
            </a:r>
            <a:endParaRPr lang="en-US" sz="1700" dirty="0"/>
          </a:p>
        </p:txBody>
      </p:sp>
      <p:pic>
        <p:nvPicPr>
          <p:cNvPr id="4" name="layer_0" descr="Quick Check: Batching — illustration part 1">    </p:cNvPr>
          <p:cNvPicPr>
            <a:picLocks noChangeAspect="1"/>
          </p:cNvPicPr>
          <p:nvPr/>
        </p:nvPicPr>
        <p:blipFill>
          <a:blip r:embed="rId1"/>
          <a:stretch>
            <a:fillRect/>
          </a:stretch>
        </p:blipFill>
        <p:spPr>
          <a:xfrm>
            <a:off x="1221294" y="1998016"/>
            <a:ext cx="4917379" cy="3259474"/>
          </a:xfrm>
          <a:prstGeom prst="rect">
            <a:avLst/>
          </a:prstGeom>
        </p:spPr>
      </p:pic>
      <p:pic>
        <p:nvPicPr>
          <p:cNvPr id="5" name="layer_1" descr="Quick Check: Batching — illustration part 2">    </p:cNvPr>
          <p:cNvPicPr>
            <a:picLocks noChangeAspect="1"/>
          </p:cNvPicPr>
          <p:nvPr/>
        </p:nvPicPr>
        <p:blipFill>
          <a:blip r:embed="rId2"/>
          <a:stretch>
            <a:fillRect/>
          </a:stretch>
        </p:blipFill>
        <p:spPr>
          <a:xfrm>
            <a:off x="6123558" y="1998016"/>
            <a:ext cx="4836766" cy="1430743"/>
          </a:xfrm>
          <a:prstGeom prst="rect">
            <a:avLst/>
          </a:prstGeom>
        </p:spPr>
      </p:pic>
      <p:pic>
        <p:nvPicPr>
          <p:cNvPr id="6" name="layer_2" descr="Quick Check: Batching — illustration part 3">    </p:cNvPr>
          <p:cNvPicPr>
            <a:picLocks noChangeAspect="1"/>
          </p:cNvPicPr>
          <p:nvPr/>
        </p:nvPicPr>
        <p:blipFill>
          <a:blip r:embed="rId3"/>
          <a:stretch>
            <a:fillRect/>
          </a:stretch>
        </p:blipFill>
        <p:spPr>
          <a:xfrm>
            <a:off x="6123558" y="3826747"/>
            <a:ext cx="4836766" cy="1430743"/>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Click once per answer</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Pause and answer out loud before clicking. If an answer surprises you, jump back to that part of the section using the agenda.</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99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500" fill="hold"/>
                                        <p:tgtEl>
                                          <p:spTgt spid="5"/>
                                        </p:tgtEl>
                                        <p:attrNameLst>
                                          <p:attrName>ppt_w</p:attrName>
                                        </p:attrNameLst>
                                      </p:cBhvr>
                                      <p:tavLst>
                                        <p:tav tm="0">
                                          <p:val>
                                            <p:fltVal val="0"/>
                                          </p:val>
                                        </p:tav>
                                        <p:tav tm="100000">
                                          <p:val>
                                            <p:strVal val="#ppt_w"/>
                                          </p:val>
                                        </p:tav>
                                      </p:tavLst>
                                    </p:anim>
                                    <p:anim calcmode="lin" valueType="num">
                                      <p:cBhvr>
                                        <p:cTn id="7" dur="500" fill="hold"/>
                                        <p:tgtEl>
                                          <p:spTgt spid="5"/>
                                        </p:tgtEl>
                                        <p:attrNameLst>
                                          <p:attrName>ppt_h</p:attrName>
                                        </p:attrNameLst>
                                      </p:cBhvr>
                                      <p:tavLst>
                                        <p:tav tm="0">
                                          <p:val>
                                            <p:fltVal val="0"/>
                                          </p:val>
                                        </p:tav>
                                        <p:tav tm="100000">
                                          <p:val>
                                            <p:strVal val="#ppt_h"/>
                                          </p:val>
                                        </p:tav>
                                      </p:tavLst>
                                    </p:anim>
                                    <p:animEffect transition="in" filter="fade">
                                      <p:cBhvr>
                                        <p:cTn id="8"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6" presetID="53" presetClass="entr" presetSubtype="16"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p:cTn id="13" dur="500" fill="hold"/>
                                        <p:tgtEl>
                                          <p:spTgt spid="6"/>
                                        </p:tgtEl>
                                        <p:attrNameLst>
                                          <p:attrName>ppt_w</p:attrName>
                                        </p:attrNameLst>
                                      </p:cBhvr>
                                      <p:tavLst>
                                        <p:tav tm="0">
                                          <p:val>
                                            <p:fltVal val="0"/>
                                          </p:val>
                                        </p:tav>
                                        <p:tav tm="100000">
                                          <p:val>
                                            <p:strVal val="#ppt_w"/>
                                          </p:val>
                                        </p:tav>
                                      </p:tavLst>
                                    </p:anim>
                                    <p:anim calcmode="lin" valueType="num">
                                      <p:cBhvr>
                                        <p:cTn id="14" dur="500" fill="hold"/>
                                        <p:tgtEl>
                                          <p:spTgt spid="6"/>
                                        </p:tgtEl>
                                        <p:attrNameLst>
                                          <p:attrName>ppt_h</p:attrName>
                                        </p:attrNameLst>
                                      </p:cBhvr>
                                      <p:tavLst>
                                        <p:tav tm="0">
                                          <p:val>
                                            <p:fltVal val="0"/>
                                          </p:val>
                                        </p:tav>
                                        <p:tav tm="100000">
                                          <p:val>
                                            <p:strVal val="#ppt_h"/>
                                          </p:val>
                                        </p:tav>
                                      </p:tavLst>
                                    </p:anim>
                                    <p:animEffect transition="in" filter="fade">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Story So Far: Batching ✓</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Solved: one read → many users' tokens  →  next problem: Giant models don't fit on ONE GPU at all</a:t>
            </a:r>
            <a:endParaRPr lang="en-US" sz="1700" dirty="0"/>
          </a:p>
        </p:txBody>
      </p:sp>
      <p:pic>
        <p:nvPicPr>
          <p:cNvPr id="4" name="layer_0" descr="Story So Far: Batching ✓ — illustration part 1">    </p:cNvPr>
          <p:cNvPicPr>
            <a:picLocks noChangeAspect="1"/>
          </p:cNvPicPr>
          <p:nvPr/>
        </p:nvPicPr>
        <p:blipFill>
          <a:blip r:embed="rId1"/>
          <a:stretch>
            <a:fillRect/>
          </a:stretch>
        </p:blipFill>
        <p:spPr>
          <a:xfrm>
            <a:off x="1231371" y="2229756"/>
            <a:ext cx="9144511" cy="2599518"/>
          </a:xfrm>
          <a:prstGeom prst="rect">
            <a:avLst/>
          </a:prstGeom>
        </p:spPr>
      </p:pic>
      <p:pic>
        <p:nvPicPr>
          <p:cNvPr id="5" name="layer_1" descr="Story So Far: Batching ✓ — illustration part 2">    </p:cNvPr>
          <p:cNvPicPr>
            <a:picLocks noChangeAspect="1"/>
          </p:cNvPicPr>
          <p:nvPr/>
        </p:nvPicPr>
        <p:blipFill>
          <a:blip r:embed="rId2"/>
          <a:stretch>
            <a:fillRect/>
          </a:stretch>
        </p:blipFill>
        <p:spPr>
          <a:xfrm>
            <a:off x="8612477" y="1872070"/>
            <a:ext cx="1592102" cy="1571802"/>
          </a:xfrm>
          <a:prstGeom prst="rect">
            <a:avLst/>
          </a:prstGeom>
        </p:spPr>
      </p:pic>
      <p:pic>
        <p:nvPicPr>
          <p:cNvPr id="6" name="layer_2" descr="Story So Far: Batching ✓ — illustration part 3">    </p:cNvPr>
          <p:cNvPicPr>
            <a:picLocks noChangeAspect="1"/>
          </p:cNvPicPr>
          <p:nvPr/>
        </p:nvPicPr>
        <p:blipFill>
          <a:blip r:embed="rId3"/>
          <a:stretch>
            <a:fillRect/>
          </a:stretch>
        </p:blipFill>
        <p:spPr>
          <a:xfrm>
            <a:off x="9010503" y="3816671"/>
            <a:ext cx="801089" cy="1037792"/>
          </a:xfrm>
          <a:prstGeom prst="rect">
            <a:avLst/>
          </a:prstGeom>
        </p:spPr>
      </p:pic>
      <p:pic>
        <p:nvPicPr>
          <p:cNvPr id="7" name="layer_3" descr="Story So Far: Batching ✓ — illustration part 4">    </p:cNvPr>
          <p:cNvPicPr>
            <a:picLocks noChangeAspect="1"/>
          </p:cNvPicPr>
          <p:nvPr/>
        </p:nvPicPr>
        <p:blipFill>
          <a:blip r:embed="rId4"/>
          <a:stretch>
            <a:fillRect/>
          </a:stretch>
        </p:blipFill>
        <p:spPr>
          <a:xfrm>
            <a:off x="2294452" y="5121468"/>
            <a:ext cx="7582638" cy="584388"/>
          </a:xfrm>
          <a:prstGeom prst="rect">
            <a:avLst/>
          </a:prstGeom>
        </p:spPr>
      </p:pic>
      <p:sp>
        <p:nvSpPr>
          <p:cNvPr id="8"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9"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Up next — Chapter 6 · Sharding Giant Models</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Batching turns one model read into tokens for many users — until KV-cache memory runs out. And some models don't fit on one GPU at all. Next: sharding.</a:t>
            </a:r>
            <a:endParaRPr lang="en-US" sz="1200" dirty="0"/>
          </a:p>
        </p:txBody>
      </p:sp>
      <p:sp>
        <p:nvSpPr>
          <p:cNvPr id="10"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5"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100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ppt_w</p:attrName>
                                        </p:attrNameLst>
                                      </p:cBhvr>
                                      <p:tavLst>
                                        <p:tav tm="0">
                                          <p:val>
                                            <p:fltVal val="0"/>
                                          </p:val>
                                        </p:tav>
                                        <p:tav tm="100000">
                                          <p:val>
                                            <p:strVal val="#ppt_w"/>
                                          </p:val>
                                        </p:tav>
                                      </p:tavLst>
                                    </p:anim>
                                    <p:anim calcmode="lin" valueType="num">
                                      <p:cBhvr>
                                        <p:cTn id="7" dur="600" fill="hold"/>
                                        <p:tgtEl>
                                          <p:spTgt spid="5"/>
                                        </p:tgtEl>
                                        <p:attrNameLst>
                                          <p:attrName>ppt_h</p:attrName>
                                        </p:attrNameLst>
                                      </p:cBhvr>
                                      <p:tavLst>
                                        <p:tav tm="0">
                                          <p:val>
                                            <p:fltVal val="0"/>
                                          </p:val>
                                        </p:tav>
                                        <p:tav tm="100000">
                                          <p:val>
                                            <p:strVal val="#ppt_h"/>
                                          </p:val>
                                        </p:tav>
                                      </p:tavLst>
                                    </p:anim>
                                    <p:animEffect transition="in" filter="fade">
                                      <p:cBhvr>
                                        <p:cTn id="8" dur="600"/>
                                        <p:tgtEl>
                                          <p:spTgt spid="5"/>
                                        </p:tgtEl>
                                      </p:cBhvr>
                                    </p:animEffect>
                                  </p:childTnLst>
                                </p:cTn>
                              </p:par>
                            </p:childTnLst>
                          </p:cTn>
                        </p:par>
                        <p:par>
                          <p:cTn id="10" fill="hold">
                            <p:stCondLst>
                              <p:cond delay="600"/>
                            </p:stCondLst>
                            <p:childTnLst>
                              <p:par>
                                <p:cTn id="15" presetID="53" presetClass="entr" presetSubtype="16" fill="hold" grpId="0" nodeType="after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ppt_w</p:attrName>
                                        </p:attrNameLst>
                                      </p:cBhvr>
                                      <p:tavLst>
                                        <p:tav tm="0">
                                          <p:val>
                                            <p:fltVal val="0"/>
                                          </p:val>
                                        </p:tav>
                                        <p:tav tm="100000">
                                          <p:val>
                                            <p:strVal val="#ppt_w"/>
                                          </p:val>
                                        </p:tav>
                                      </p:tavLst>
                                    </p:anim>
                                    <p:anim calcmode="lin" valueType="num">
                                      <p:cBhvr>
                                        <p:cTn id="13" dur="600" fill="hold"/>
                                        <p:tgtEl>
                                          <p:spTgt spid="6"/>
                                        </p:tgtEl>
                                        <p:attrNameLst>
                                          <p:attrName>ppt_h</p:attrName>
                                        </p:attrNameLst>
                                      </p:cBhvr>
                                      <p:tavLst>
                                        <p:tav tm="0">
                                          <p:val>
                                            <p:fltVal val="0"/>
                                          </p:val>
                                        </p:tav>
                                        <p:tav tm="100000">
                                          <p:val>
                                            <p:strVal val="#ppt_h"/>
                                          </p:val>
                                        </p:tav>
                                      </p:tavLst>
                                    </p:anim>
                                    <p:animEffect transition="in" filter="fade">
                                      <p:cBhvr>
                                        <p:cTn id="14" dur="600"/>
                                        <p:tgtEl>
                                          <p:spTgt spid="6"/>
                                        </p:tgtEl>
                                      </p:cBhvr>
                                    </p:animEffect>
                                  </p:childTnLst>
                                </p:cTn>
                              </p:par>
                            </p:childTnLst>
                          </p:cTn>
                        </p:par>
                        <p:par>
                          <p:cTn id="16" fill="hold">
                            <p:stCondLst>
                              <p:cond delay="1200"/>
                            </p:stCondLst>
                            <p:childTnLst>
                              <p:par>
                                <p:cTn id="20" presetID="2" presetClass="entr" presetSubtype="4" fill="hold" grpId="0" nodeType="after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additive="base">
                                        <p:cTn id="18" dur="600" fill="hold"/>
                                        <p:tgtEl>
                                          <p:spTgt spid="7"/>
                                        </p:tgtEl>
                                        <p:attrNameLst>
                                          <p:attrName>ppt_y</p:attrName>
                                        </p:attrNameLst>
                                      </p:cBhvr>
                                      <p:tavLst>
                                        <p:tav tm="0">
                                          <p:val>
                                            <p:strVal val="#ppt_y+0.08"/>
                                          </p:val>
                                        </p:tav>
                                        <p:tav tm="100000">
                                          <p:val>
                                            <p:strVal val="#ppt_y"/>
                                          </p:val>
                                        </p:tav>
                                      </p:tavLst>
                                    </p:anim>
                                    <p:animEffect transition="in" filter="fade">
                                      <p:cBhvr>
                                        <p:cTn id="19" dur="6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2" name="Text 0"/>
          <p:cNvSpPr/>
          <p:nvPr>
            <p:ph idx="100" type="title" hasCustomPrompt="1"/>
          </p:nvPr>
        </p:nvSpPr>
        <p:spPr>
          <a:xfrm>
            <a:off x="731520" y="2834640"/>
            <a:ext cx="5669280" cy="1371600"/>
          </a:xfrm>
          <a:prstGeom prst="rect">
            <a:avLst/>
          </a:prstGeom>
          <a:noFill/>
          <a:ln/>
        </p:spPr>
        <p:txBody>
          <a:bodyPr wrap="square" lIns="0" tIns="0" rIns="0" bIns="0" rtlCol="0" anchor="t"/>
          <a:lstStyle/>
          <a:p>
            <a:pPr algn="l" indent="0" marL="0">
              <a:buNone/>
            </a:pPr>
            <a:r>
              <a:rPr lang="en-US" sz="4000" b="1" dirty="0">
                <a:solidFill>
                  <a:srgbClr val="FFFFFF"/>
                </a:solidFill>
                <a:latin typeface="Calibri" pitchFamily="34" charset="0"/>
                <a:ea typeface="Calibri" pitchFamily="34" charset="-122"/>
                <a:cs typeface="Calibri" pitchFamily="34" charset="-120"/>
              </a:rPr>
              <a:t>Sharding Giant Models</a:t>
            </a:r>
            <a:endParaRPr lang="en-US" sz="4000" dirty="0"/>
          </a:p>
        </p:txBody>
      </p:sp>
      <p:sp>
        <p:nvSpPr>
          <p:cNvPr id="3" name="Text 0"/>
          <p:cNvSpPr/>
          <p:nvPr>
            <p:ph idx="101" type="body" hasCustomPrompt="1"/>
          </p:nvPr>
        </p:nvSpPr>
        <p:spPr>
          <a:xfrm>
            <a:off x="731520" y="4251960"/>
            <a:ext cx="5120640" cy="822960"/>
          </a:xfrm>
          <a:prstGeom prst="rect">
            <a:avLst/>
          </a:prstGeom>
          <a:noFill/>
          <a:ln/>
        </p:spPr>
        <p:txBody>
          <a:bodyPr wrap="square" lIns="0" tIns="0" rIns="0" bIns="0" rtlCol="0" anchor="t"/>
          <a:lstStyle/>
          <a:p>
            <a:pPr algn="l" indent="0" marL="0">
              <a:buNone/>
            </a:pPr>
            <a:r>
              <a:rPr lang="en-US" sz="2000" dirty="0">
                <a:solidFill>
                  <a:srgbClr val="22D3EE"/>
                </a:solidFill>
                <a:latin typeface="Calibri" pitchFamily="34" charset="0"/>
                <a:ea typeface="Calibri" pitchFamily="34" charset="-122"/>
                <a:cs typeface="Calibri" pitchFamily="34" charset="-120"/>
              </a:rPr>
              <a:t>Some models don't fit on ANY single GPU — so we split them</a:t>
            </a:r>
            <a:endParaRPr lang="en-US" sz="2000" dirty="0"/>
          </a:p>
        </p:txBody>
      </p:sp>
      <p:sp>
        <p:nvSpPr>
          <p:cNvPr id="4" name="Text 2"/>
          <p:cNvSpPr txBox="1"/>
          <p:nvPr/>
        </p:nvSpPr>
        <p:spPr>
          <a:xfrm>
            <a:off x="731520" y="1371600"/>
            <a:ext cx="2743200" cy="1371600"/>
          </a:xfrm>
          <a:prstGeom prst="rect">
            <a:avLst/>
          </a:prstGeom>
          <a:noFill/>
          <a:ln/>
        </p:spPr>
        <p:txBody>
          <a:bodyPr wrap="square" lIns="0" tIns="0" rIns="0" bIns="0" rtlCol="0" anchor="ctr"/>
          <a:lstStyle/>
          <a:p>
            <a:pPr indent="0" marL="0">
              <a:buNone/>
            </a:pPr>
            <a:r>
              <a:rPr lang="en-US" sz="9600" b="1" dirty="0">
                <a:solidFill>
                  <a:srgbClr val="22D3EE">
                    <a:alpha val="80000"/>
                  </a:srgbClr>
                </a:solidFill>
                <a:latin typeface="Calibri" pitchFamily="34" charset="0"/>
                <a:ea typeface="Calibri" pitchFamily="34" charset="-122"/>
                <a:cs typeface="Calibri" pitchFamily="34" charset="-120"/>
              </a:rPr>
              <a:t>06</a:t>
            </a:r>
            <a:endParaRPr lang="en-US" sz="9600" dirty="0"/>
          </a:p>
        </p:txBody>
      </p:sp>
      <p:pic>
        <p:nvPicPr>
          <p:cNvPr id="5" name="layer_0" descr="Sharding Giant Models — illustration part 1">    </p:cNvPr>
          <p:cNvPicPr>
            <a:picLocks noChangeAspect="1"/>
          </p:cNvPicPr>
          <p:nvPr/>
        </p:nvPicPr>
        <p:blipFill>
          <a:blip r:embed="rId1"/>
          <a:stretch>
            <a:fillRect/>
          </a:stretch>
        </p:blipFill>
        <p:spPr>
          <a:xfrm>
            <a:off x="6393660" y="2979403"/>
            <a:ext cx="5328196" cy="1474680"/>
          </a:xfrm>
          <a:prstGeom prst="rect">
            <a:avLst/>
          </a:prstGeom>
        </p:spPr>
      </p:pic>
      <p:sp>
        <p:nvSpPr>
          <p:cNvPr id="6" name="nav_agenda"/>
          <p:cNvSpPr txBox="1"/>
          <p:nvPr/>
        </p:nvSpPr>
        <p:spPr>
          <a:xfrm>
            <a:off x="731520" y="5669280"/>
            <a:ext cx="1371600" cy="384048"/>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1300" u="sng" dirty="0">
                <a:solidFill>
                  <a:srgbClr val="22D3EE"/>
                </a:solidFill>
                <a:latin typeface="Calibri" pitchFamily="34" charset="0"/>
                <a:ea typeface="Calibri" pitchFamily="34" charset="-122"/>
                <a:cs typeface="Calibri" pitchFamily="34" charset="-120"/>
                <a:hlinkClick r:id="rId2" action="ppaction://hlinksldjump" tooltip="Back to agenda">
                  <a:extLst>
                    <a:ext uri="{A12FA001-AC4F-418D-AE19-62706E023703}">
                      <ahyp:hlinkClr xmlns:ahyp="http://schemas.microsoft.com/office/drawing/2018/hyperlinkcolor" val="tx"/>
                    </a:ext>
                  </a:extLst>
                </a:hlinkClick>
              </a:rPr>
              <a:t>⌂ Agenda</a:t>
            </a:r>
            <a:endParaRPr lang="en-US" sz="13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101</a:t>
            </a:fld>
            <a:endParaRPr lang="en-US"/>
          </a:p>
        </p:txBody>
      </p:sp>
    </p:spTree>
  </p:cSld>
  <p:clrMapOvr>
    <a:masterClrMapping/>
  </p:clrMapOvr>
  <p:transition spd="med">
    <p:fade/>
  </p:transition>
</p:sld>
</file>

<file path=ppt/slides/slide102.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Too Big for a Single GPU</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Large models ~140 GB · giants with 500B+ parameters = several hundred GB</a:t>
            </a:r>
            <a:endParaRPr lang="en-US" sz="1700" dirty="0"/>
          </a:p>
        </p:txBody>
      </p:sp>
      <p:pic>
        <p:nvPicPr>
          <p:cNvPr id="4" name="layer_0" descr="Too Big for a Single GPU — illustration part 1">    </p:cNvPr>
          <p:cNvPicPr>
            <a:picLocks noChangeAspect="1"/>
          </p:cNvPicPr>
          <p:nvPr/>
        </p:nvPicPr>
        <p:blipFill>
          <a:blip r:embed="rId1"/>
          <a:stretch>
            <a:fillRect/>
          </a:stretch>
        </p:blipFill>
        <p:spPr>
          <a:xfrm>
            <a:off x="1463133" y="2995505"/>
            <a:ext cx="1597140" cy="1929488"/>
          </a:xfrm>
          <a:prstGeom prst="rect">
            <a:avLst/>
          </a:prstGeom>
        </p:spPr>
      </p:pic>
      <p:pic>
        <p:nvPicPr>
          <p:cNvPr id="5" name="layer_1" descr="Too Big for a Single GPU — illustration part 2">    </p:cNvPr>
          <p:cNvPicPr>
            <a:picLocks noChangeAspect="1"/>
          </p:cNvPicPr>
          <p:nvPr/>
        </p:nvPicPr>
        <p:blipFill>
          <a:blip r:embed="rId2"/>
          <a:stretch>
            <a:fillRect/>
          </a:stretch>
        </p:blipFill>
        <p:spPr>
          <a:xfrm>
            <a:off x="3957090" y="2496761"/>
            <a:ext cx="2594723" cy="3083150"/>
          </a:xfrm>
          <a:prstGeom prst="rect">
            <a:avLst/>
          </a:prstGeom>
        </p:spPr>
      </p:pic>
      <p:pic>
        <p:nvPicPr>
          <p:cNvPr id="6" name="layer_2" descr="Too Big for a Single GPU — illustration part 3">    </p:cNvPr>
          <p:cNvPicPr>
            <a:picLocks noChangeAspect="1"/>
          </p:cNvPicPr>
          <p:nvPr/>
        </p:nvPicPr>
        <p:blipFill>
          <a:blip r:embed="rId3"/>
          <a:stretch>
            <a:fillRect/>
          </a:stretch>
        </p:blipFill>
        <p:spPr>
          <a:xfrm>
            <a:off x="7282367" y="1831767"/>
            <a:ext cx="3592306" cy="3758219"/>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A GPU holding ~80 GB simply can't take them — so what now?</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A large model is ~140 GB and the 500B+ giants are several hundred GB, while a typical data-center GPU holds about 80 GB. It just doesn't fit.</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102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Slice the Giant Across Several GPUs</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No single GPU holds it all — together they hold the entire model</a:t>
            </a:r>
            <a:endParaRPr lang="en-US" sz="1700" dirty="0"/>
          </a:p>
        </p:txBody>
      </p:sp>
      <p:pic>
        <p:nvPicPr>
          <p:cNvPr id="4" name="layer_0" descr="Slice the Giant Across Several GPUs — illustration part 1">    </p:cNvPr>
          <p:cNvPicPr>
            <a:picLocks noChangeAspect="1"/>
          </p:cNvPicPr>
          <p:nvPr/>
        </p:nvPicPr>
        <p:blipFill>
          <a:blip r:embed="rId1"/>
          <a:stretch>
            <a:fillRect/>
          </a:stretch>
        </p:blipFill>
        <p:spPr>
          <a:xfrm>
            <a:off x="1463133" y="2330512"/>
            <a:ext cx="2262196" cy="2261984"/>
          </a:xfrm>
          <a:prstGeom prst="rect">
            <a:avLst/>
          </a:prstGeom>
        </p:spPr>
      </p:pic>
      <p:pic>
        <p:nvPicPr>
          <p:cNvPr id="5" name="layer_1" descr="Slice the Giant Across Several GPUs — illustration part 2">    </p:cNvPr>
          <p:cNvPicPr>
            <a:picLocks noChangeAspect="1"/>
          </p:cNvPicPr>
          <p:nvPr/>
        </p:nvPicPr>
        <p:blipFill>
          <a:blip r:embed="rId2"/>
          <a:stretch>
            <a:fillRect/>
          </a:stretch>
        </p:blipFill>
        <p:spPr>
          <a:xfrm>
            <a:off x="1478248" y="2869560"/>
            <a:ext cx="2231966" cy="2166265"/>
          </a:xfrm>
          <a:prstGeom prst="rect">
            <a:avLst/>
          </a:prstGeom>
        </p:spPr>
      </p:pic>
      <p:pic>
        <p:nvPicPr>
          <p:cNvPr id="6" name="layer_2" descr="Slice the Giant Across Several GPUs — illustration part 3">    </p:cNvPr>
          <p:cNvPicPr>
            <a:picLocks noChangeAspect="1"/>
          </p:cNvPicPr>
          <p:nvPr/>
        </p:nvPicPr>
        <p:blipFill>
          <a:blip r:embed="rId3"/>
          <a:stretch>
            <a:fillRect/>
          </a:stretch>
        </p:blipFill>
        <p:spPr>
          <a:xfrm>
            <a:off x="4622145" y="2164264"/>
            <a:ext cx="6171915" cy="2382892"/>
          </a:xfrm>
          <a:prstGeom prst="rect">
            <a:avLst/>
          </a:prstGeom>
        </p:spPr>
      </p:pic>
      <p:pic>
        <p:nvPicPr>
          <p:cNvPr id="7" name="layer_3" descr="Slice the Giant Across Several GPUs — illustration part 4">    </p:cNvPr>
          <p:cNvPicPr>
            <a:picLocks noChangeAspect="1"/>
          </p:cNvPicPr>
          <p:nvPr/>
        </p:nvPicPr>
        <p:blipFill>
          <a:blip r:embed="rId4"/>
          <a:stretch>
            <a:fillRect/>
          </a:stretch>
        </p:blipFill>
        <p:spPr>
          <a:xfrm>
            <a:off x="4622145" y="4904842"/>
            <a:ext cx="6252528" cy="685144"/>
          </a:xfrm>
          <a:prstGeom prst="rect">
            <a:avLst/>
          </a:prstGeom>
        </p:spPr>
      </p:pic>
      <p:sp>
        <p:nvSpPr>
          <p:cNvPr id="8"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9"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vLLM can do this itself: point it at the model, tell it how many GPUs, it handles the rest</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The answer is to slice the model into pieces and put one piece on each of several GPUs. vLLM can do this itself — just tell it how many GPUs to use.</a:t>
            </a:r>
            <a:endParaRPr lang="en-US" sz="1200" dirty="0"/>
          </a:p>
        </p:txBody>
      </p:sp>
      <p:sp>
        <p:nvSpPr>
          <p:cNvPr id="10"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5"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103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par>
                    <p:cTn id="15" fill="hold">
                      <p:stCondLst>
                        <p:cond delay="indefinite"/>
                      </p:stCondLst>
                      <p:childTnLst>
                        <p:par>
                          <p:cTn id="16" fill="hold">
                            <p:stCondLst>
                              <p:cond delay="0"/>
                            </p:stCondLst>
                            <p:childTnLst>
                              <p:par>
                                <p:cTn id="20" presetID="42"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p:cTn id="18" dur="600" fill="hold"/>
                                        <p:tgtEl>
                                          <p:spTgt spid="7"/>
                                        </p:tgtEl>
                                        <p:attrNameLst>
                                          <p:attrName>ppt_y</p:attrName>
                                        </p:attrNameLst>
                                      </p:cBhvr>
                                      <p:tavLst>
                                        <p:tav tm="0">
                                          <p:val>
                                            <p:strVal val="#ppt_y+0.03"/>
                                          </p:val>
                                        </p:tav>
                                        <p:tav tm="100000">
                                          <p:val>
                                            <p:strVal val="#ppt_y"/>
                                          </p:val>
                                        </p:tav>
                                      </p:tavLst>
                                    </p:anim>
                                    <p:animEffect transition="in" filter="fade">
                                      <p:cBhvr>
                                        <p:cTn id="19" dur="6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Worked Example: Sharding a 70B Model</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140 GB of weights, 80 GB GPUs</a:t>
            </a:r>
            <a:endParaRPr lang="en-US" sz="1700" dirty="0"/>
          </a:p>
        </p:txBody>
      </p:sp>
      <p:pic>
        <p:nvPicPr>
          <p:cNvPr id="4" name="layer_0" descr="Worked Example: Sharding a 70B Model — illustration part 1">    </p:cNvPr>
          <p:cNvPicPr>
            <a:picLocks noChangeAspect="1"/>
          </p:cNvPicPr>
          <p:nvPr/>
        </p:nvPicPr>
        <p:blipFill>
          <a:blip r:embed="rId1"/>
          <a:stretch>
            <a:fillRect/>
          </a:stretch>
        </p:blipFill>
        <p:spPr>
          <a:xfrm>
            <a:off x="1296869" y="2330512"/>
            <a:ext cx="2473804" cy="3219171"/>
          </a:xfrm>
          <a:prstGeom prst="rect">
            <a:avLst/>
          </a:prstGeom>
        </p:spPr>
      </p:pic>
      <p:pic>
        <p:nvPicPr>
          <p:cNvPr id="5" name="layer_1" descr="Worked Example: Sharding a 70B Model — illustration part 2">    </p:cNvPr>
          <p:cNvPicPr>
            <a:picLocks noChangeAspect="1"/>
          </p:cNvPicPr>
          <p:nvPr/>
        </p:nvPicPr>
        <p:blipFill>
          <a:blip r:embed="rId2"/>
          <a:stretch>
            <a:fillRect/>
          </a:stretch>
        </p:blipFill>
        <p:spPr>
          <a:xfrm>
            <a:off x="3463337" y="1907335"/>
            <a:ext cx="7245072" cy="3350155"/>
          </a:xfrm>
          <a:prstGeom prst="rect">
            <a:avLst/>
          </a:prstGeom>
        </p:spPr>
      </p:pic>
      <p:pic>
        <p:nvPicPr>
          <p:cNvPr id="6" name="layer_2" descr="Worked Example: Sharding a 70B Model — illustration part 3">    </p:cNvPr>
          <p:cNvPicPr>
            <a:picLocks noChangeAspect="1"/>
          </p:cNvPicPr>
          <p:nvPr/>
        </p:nvPicPr>
        <p:blipFill>
          <a:blip r:embed="rId3"/>
          <a:stretch>
            <a:fillRect/>
          </a:stretch>
        </p:blipFill>
        <p:spPr>
          <a:xfrm>
            <a:off x="4622145" y="2244869"/>
            <a:ext cx="6202145" cy="3299776"/>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Split across 4 GPUs: ~35 GB of weights each, leaving ~45 GB per GPU for KV cache</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A 70B model in 16-bit needs ~140 GB — it can't fit on one 80 GB card. Sharded 4 ways, each GPU holds ~35 GB of weights and still has plenty of room left for users' KV caches.</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104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What We're Cutting: A Stack of Layers</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Each layer is a formula — in practice, a big sum of numbers</a:t>
            </a:r>
            <a:endParaRPr lang="en-US" sz="1700" dirty="0"/>
          </a:p>
        </p:txBody>
      </p:sp>
      <p:pic>
        <p:nvPicPr>
          <p:cNvPr id="4" name="layer_0" descr="What We're Cutting: A Stack of Layers — illustration part 1">    </p:cNvPr>
          <p:cNvPicPr>
            <a:picLocks noChangeAspect="1"/>
          </p:cNvPicPr>
          <p:nvPr/>
        </p:nvPicPr>
        <p:blipFill>
          <a:blip r:embed="rId1"/>
          <a:stretch>
            <a:fillRect/>
          </a:stretch>
        </p:blipFill>
        <p:spPr>
          <a:xfrm>
            <a:off x="2959507" y="1746124"/>
            <a:ext cx="2594723" cy="3677613"/>
          </a:xfrm>
          <a:prstGeom prst="rect">
            <a:avLst/>
          </a:prstGeom>
        </p:spPr>
      </p:pic>
      <p:pic>
        <p:nvPicPr>
          <p:cNvPr id="5" name="layer_1" descr="What We're Cutting: A Stack of Layers — illustration part 2">    </p:cNvPr>
          <p:cNvPicPr>
            <a:picLocks noChangeAspect="1"/>
          </p:cNvPicPr>
          <p:nvPr/>
        </p:nvPicPr>
        <p:blipFill>
          <a:blip r:embed="rId2"/>
          <a:stretch>
            <a:fillRect/>
          </a:stretch>
        </p:blipFill>
        <p:spPr>
          <a:xfrm>
            <a:off x="4198928" y="3181905"/>
            <a:ext cx="5149141" cy="2523951"/>
          </a:xfrm>
          <a:prstGeom prst="rect">
            <a:avLst/>
          </a:prstGeom>
        </p:spPr>
      </p:pic>
      <p:pic>
        <p:nvPicPr>
          <p:cNvPr id="6" name="layer_2" descr="What We're Cutting: A Stack of Layers — illustration part 3">    </p:cNvPr>
          <p:cNvPicPr>
            <a:picLocks noChangeAspect="1"/>
          </p:cNvPicPr>
          <p:nvPr/>
        </p:nvPicPr>
        <p:blipFill>
          <a:blip r:embed="rId3"/>
          <a:stretch>
            <a:fillRect/>
          </a:stretch>
        </p:blipFill>
        <p:spPr>
          <a:xfrm>
            <a:off x="7619933" y="4627761"/>
            <a:ext cx="1753328" cy="463480"/>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Your prompt enters at the top, flows down layer by layer, and the last layer produces the token</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A model is a stack of layers, and each layer is a big sum of numbers. Your prompt enters at the top and flows down until the last layer produces the token.</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105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name="Slide 106">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Two Ways to Split</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By layer (whole layers per GPU) or within each layer (split the sum)</a:t>
            </a:r>
            <a:endParaRPr lang="en-US" sz="1700" dirty="0"/>
          </a:p>
        </p:txBody>
      </p:sp>
      <p:pic>
        <p:nvPicPr>
          <p:cNvPr id="4" name="layer_0" descr="Two Ways to Split — illustration part 1">    </p:cNvPr>
          <p:cNvPicPr>
            <a:picLocks noChangeAspect="1"/>
          </p:cNvPicPr>
          <p:nvPr/>
        </p:nvPicPr>
        <p:blipFill>
          <a:blip r:embed="rId1"/>
          <a:stretch>
            <a:fillRect/>
          </a:stretch>
        </p:blipFill>
        <p:spPr>
          <a:xfrm>
            <a:off x="2128188" y="1831767"/>
            <a:ext cx="3340392" cy="3219171"/>
          </a:xfrm>
          <a:prstGeom prst="rect">
            <a:avLst/>
          </a:prstGeom>
        </p:spPr>
      </p:pic>
      <p:pic>
        <p:nvPicPr>
          <p:cNvPr id="5" name="layer_1" descr="Two Ways to Split — illustration part 2">    </p:cNvPr>
          <p:cNvPicPr>
            <a:picLocks noChangeAspect="1"/>
          </p:cNvPicPr>
          <p:nvPr/>
        </p:nvPicPr>
        <p:blipFill>
          <a:blip r:embed="rId2"/>
          <a:stretch>
            <a:fillRect/>
          </a:stretch>
        </p:blipFill>
        <p:spPr>
          <a:xfrm>
            <a:off x="6123558" y="1831767"/>
            <a:ext cx="4252323" cy="3753181"/>
          </a:xfrm>
          <a:prstGeom prst="rect">
            <a:avLst/>
          </a:prstGeom>
        </p:spPr>
      </p:pic>
      <p:pic>
        <p:nvPicPr>
          <p:cNvPr id="6" name="layer_2" descr="Two Ways to Split — illustration part 3">    </p:cNvPr>
          <p:cNvPicPr>
            <a:picLocks noChangeAspect="1"/>
          </p:cNvPicPr>
          <p:nvPr/>
        </p:nvPicPr>
        <p:blipFill>
          <a:blip r:embed="rId3"/>
          <a:stretch>
            <a:fillRect/>
          </a:stretch>
        </p:blipFill>
        <p:spPr>
          <a:xfrm>
            <a:off x="10411150" y="3514402"/>
            <a:ext cx="493753" cy="680107"/>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By layer: GPU 1 gets the first layers, GPU 2 the next · within a layer: each GPU adds half the terms</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You can split by layer (GPU 1 gets the first layers, GPU 2 the rest) or within each layer (each GPU adds half of every sum, and the halves are combined).</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106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name="Slide 107">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The Wire Decides: NVLink Inside a Box</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Inside one machine, GPUs are joined by ultra-fast NVLink</a:t>
            </a:r>
            <a:endParaRPr lang="en-US" sz="1700" dirty="0"/>
          </a:p>
        </p:txBody>
      </p:sp>
      <p:pic>
        <p:nvPicPr>
          <p:cNvPr id="4" name="layer_0" descr="The Wire Decides: NVLink Inside a Box — illustration part 1">    </p:cNvPr>
          <p:cNvPicPr>
            <a:picLocks noChangeAspect="1"/>
          </p:cNvPicPr>
          <p:nvPr/>
        </p:nvPicPr>
        <p:blipFill>
          <a:blip r:embed="rId1"/>
          <a:stretch>
            <a:fillRect/>
          </a:stretch>
        </p:blipFill>
        <p:spPr>
          <a:xfrm>
            <a:off x="2294452" y="1831767"/>
            <a:ext cx="5088681" cy="3591970"/>
          </a:xfrm>
          <a:prstGeom prst="rect">
            <a:avLst/>
          </a:prstGeom>
        </p:spPr>
      </p:pic>
      <p:pic>
        <p:nvPicPr>
          <p:cNvPr id="5" name="layer_1" descr="The Wire Decides: NVLink Inside a Box — illustration part 2">    </p:cNvPr>
          <p:cNvPicPr>
            <a:picLocks noChangeAspect="1"/>
          </p:cNvPicPr>
          <p:nvPr/>
        </p:nvPicPr>
        <p:blipFill>
          <a:blip r:embed="rId2"/>
          <a:stretch>
            <a:fillRect/>
          </a:stretch>
        </p:blipFill>
        <p:spPr>
          <a:xfrm>
            <a:off x="3216460" y="3131527"/>
            <a:ext cx="3330315" cy="1329986"/>
          </a:xfrm>
          <a:prstGeom prst="rect">
            <a:avLst/>
          </a:prstGeom>
        </p:spPr>
      </p:pic>
      <p:pic>
        <p:nvPicPr>
          <p:cNvPr id="6" name="layer_2" descr="The Wire Decides: NVLink Inside a Box — illustration part 3">    </p:cNvPr>
          <p:cNvPicPr>
            <a:picLocks noChangeAspect="1"/>
          </p:cNvPicPr>
          <p:nvPr/>
        </p:nvPicPr>
        <p:blipFill>
          <a:blip r:embed="rId3"/>
          <a:stretch>
            <a:fillRect/>
          </a:stretch>
        </p:blipFill>
        <p:spPr>
          <a:xfrm>
            <a:off x="8703167" y="2688198"/>
            <a:ext cx="1244460" cy="2246871"/>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The chatty within-layer split works here — 8 GPUs in one box acting as one is how most large models run today</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Inside one machine, GPUs are linked by ultra-fast NVLink, so the chatty within-layer split works well. Eight GPUs in one box acting as one is how most big models run today.</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107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name="Slide 108">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Across Machines: Use the Light Method</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Between boxes there's only the ordinary (much slower) network</a:t>
            </a:r>
            <a:endParaRPr lang="en-US" sz="1700" dirty="0"/>
          </a:p>
        </p:txBody>
      </p:sp>
      <p:pic>
        <p:nvPicPr>
          <p:cNvPr id="4" name="layer_0" descr="Across Machines: Use the Light Method — illustration part 1">    </p:cNvPr>
          <p:cNvPicPr>
            <a:picLocks noChangeAspect="1"/>
          </p:cNvPicPr>
          <p:nvPr/>
        </p:nvPicPr>
        <p:blipFill>
          <a:blip r:embed="rId1"/>
          <a:stretch>
            <a:fillRect/>
          </a:stretch>
        </p:blipFill>
        <p:spPr>
          <a:xfrm>
            <a:off x="1296869" y="2330512"/>
            <a:ext cx="4423626" cy="2760729"/>
          </a:xfrm>
          <a:prstGeom prst="rect">
            <a:avLst/>
          </a:prstGeom>
        </p:spPr>
      </p:pic>
      <p:pic>
        <p:nvPicPr>
          <p:cNvPr id="5" name="layer_1" descr="Across Machines: Use the Light Method — illustration part 2">    </p:cNvPr>
          <p:cNvPicPr>
            <a:picLocks noChangeAspect="1"/>
          </p:cNvPicPr>
          <p:nvPr/>
        </p:nvPicPr>
        <p:blipFill>
          <a:blip r:embed="rId2"/>
          <a:stretch>
            <a:fillRect/>
          </a:stretch>
        </p:blipFill>
        <p:spPr>
          <a:xfrm>
            <a:off x="6284784" y="2330512"/>
            <a:ext cx="4423626" cy="2760729"/>
          </a:xfrm>
          <a:prstGeom prst="rect">
            <a:avLst/>
          </a:prstGeom>
        </p:spPr>
      </p:pic>
      <p:pic>
        <p:nvPicPr>
          <p:cNvPr id="6" name="layer_2" descr="Across Machines: Use the Light Method — illustration part 3">    </p:cNvPr>
          <p:cNvPicPr>
            <a:picLocks noChangeAspect="1"/>
          </p:cNvPicPr>
          <p:nvPr/>
        </p:nvPicPr>
        <p:blipFill>
          <a:blip r:embed="rId3"/>
          <a:stretch>
            <a:fillRect/>
          </a:stretch>
        </p:blipFill>
        <p:spPr>
          <a:xfrm>
            <a:off x="5100784" y="1937562"/>
            <a:ext cx="1808749" cy="3632273"/>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Rule: chatty talk inside a box, light talk between boxes</a:t>
            </a:r>
            <a:endParaRPr lang="en-US" sz="1200" dirty="0"/>
          </a:p>
          <a:p>
            <a:pPr indent="0" marL="0">
              <a:spcAft>
                <a:spcPts val="200"/>
              </a:spcAft>
              <a:buNone/>
            </a:pPr>
            <a:r>
              <a:rPr lang="en-US" sz="1200" dirty="0">
                <a:solidFill>
                  <a:srgbClr val="C9D6EA"/>
                </a:solidFill>
                <a:latin typeface="Calibri" pitchFamily="34" charset="0"/>
                <a:ea typeface="Calibri" pitchFamily="34" charset="-122"/>
                <a:cs typeface="Calibri" pitchFamily="34" charset="-120"/>
              </a:rPr>
              <a:t>Between machines there's only the slower regular network, so you hand out whole stretches of layers and pass just one small result from machine to machine.</a:t>
            </a:r>
            <a:endParaRPr lang="en-US" sz="1200" dirty="0"/>
          </a:p>
          <a:p>
            <a:pPr indent="0" marL="0">
              <a:spcAft>
                <a:spcPts val="200"/>
              </a:spcAft>
              <a:buNone/>
            </a:pPr>
            <a:r>
              <a:rPr lang="en-US" sz="1200" b="1" dirty="0">
                <a:solidFill>
                  <a:srgbClr val="5EE6A8"/>
                </a:solidFill>
                <a:latin typeface="Calibri" pitchFamily="34" charset="0"/>
                <a:ea typeface="Calibri" pitchFamily="34" charset="-122"/>
                <a:cs typeface="Calibri" pitchFamily="34" charset="-120"/>
              </a:rPr>
              <a:t>➜ Coming up:  Next: the official names for these two methods — you'll see them in every config.</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108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name="Slide 109">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The Official Names: Tensor and Pipeline Parallelism</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The two sharding methods, as you'll see them in docs and configs</a:t>
            </a:r>
            <a:endParaRPr lang="en-US" sz="1700" dirty="0"/>
          </a:p>
        </p:txBody>
      </p:sp>
      <p:pic>
        <p:nvPicPr>
          <p:cNvPr id="4" name="layer_0" descr="The Official Names: Tensor and Pipeline Parallelism — illustration part 1">    </p:cNvPr>
          <p:cNvPicPr>
            <a:picLocks noChangeAspect="1"/>
          </p:cNvPicPr>
          <p:nvPr/>
        </p:nvPicPr>
        <p:blipFill>
          <a:blip r:embed="rId1"/>
          <a:stretch>
            <a:fillRect/>
          </a:stretch>
        </p:blipFill>
        <p:spPr>
          <a:xfrm>
            <a:off x="1296869" y="2330512"/>
            <a:ext cx="9577804" cy="2261984"/>
          </a:xfrm>
          <a:prstGeom prst="rect">
            <a:avLst/>
          </a:prstGeom>
        </p:spPr>
      </p:pic>
      <p:pic>
        <p:nvPicPr>
          <p:cNvPr id="5" name="layer_1" descr="The Official Names: Tensor and Pipeline Parallelism — illustration part 2">    </p:cNvPr>
          <p:cNvPicPr>
            <a:picLocks noChangeAspect="1"/>
          </p:cNvPicPr>
          <p:nvPr/>
        </p:nvPicPr>
        <p:blipFill>
          <a:blip r:embed="rId2"/>
          <a:stretch>
            <a:fillRect/>
          </a:stretch>
        </p:blipFill>
        <p:spPr>
          <a:xfrm>
            <a:off x="2395218" y="4743631"/>
            <a:ext cx="7376068" cy="261967"/>
          </a:xfrm>
          <a:prstGeom prst="rect">
            <a:avLst/>
          </a:prstGeom>
        </p:spPr>
      </p:pic>
      <p:pic>
        <p:nvPicPr>
          <p:cNvPr id="6" name="layer_2" descr="The Official Names: Tensor and Pipeline Parallelism — illustration part 3">    </p:cNvPr>
          <p:cNvPicPr>
            <a:picLocks noChangeAspect="1"/>
          </p:cNvPicPr>
          <p:nvPr/>
        </p:nvPicPr>
        <p:blipFill>
          <a:blip r:embed="rId3"/>
          <a:stretch>
            <a:fillRect/>
          </a:stretch>
        </p:blipFill>
        <p:spPr>
          <a:xfrm>
            <a:off x="4798486" y="1836805"/>
            <a:ext cx="2564494" cy="1702785"/>
          </a:xfrm>
          <a:prstGeom prst="rect">
            <a:avLst/>
          </a:prstGeom>
        </p:spPr>
      </p:pic>
      <p:pic>
        <p:nvPicPr>
          <p:cNvPr id="7" name="layer_3" descr="The Official Names: Tensor and Pipeline Parallelism — illustration part 4">    </p:cNvPr>
          <p:cNvPicPr>
            <a:picLocks noChangeAspect="1"/>
          </p:cNvPicPr>
          <p:nvPr/>
        </p:nvPicPr>
        <p:blipFill>
          <a:blip r:embed="rId4"/>
          <a:stretch>
            <a:fillRect/>
          </a:stretch>
        </p:blipFill>
        <p:spPr>
          <a:xfrm>
            <a:off x="1795660" y="5071090"/>
            <a:ext cx="8580221" cy="634766"/>
          </a:xfrm>
          <a:prstGeom prst="rect">
            <a:avLst/>
          </a:prstGeom>
        </p:spPr>
      </p:pic>
      <p:sp>
        <p:nvSpPr>
          <p:cNvPr id="8"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9"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Within each layer = tensor parallelism (inside a box) · by layer = pipeline parallelism (between boxes)</a:t>
            </a:r>
            <a:endParaRPr lang="en-US" sz="1200" dirty="0"/>
          </a:p>
          <a:p>
            <a:pPr indent="0" marL="0">
              <a:spcAft>
                <a:spcPts val="200"/>
              </a:spcAft>
              <a:buNone/>
            </a:pPr>
            <a:r>
              <a:rPr lang="en-US" sz="1200" dirty="0">
                <a:solidFill>
                  <a:srgbClr val="C9D6EA"/>
                </a:solidFill>
                <a:latin typeface="Calibri" pitchFamily="34" charset="0"/>
                <a:ea typeface="Calibri" pitchFamily="34" charset="-122"/>
                <a:cs typeface="Calibri" pitchFamily="34" charset="-120"/>
              </a:rPr>
              <a:t>What we called 'splitting within each layer' is tensor parallelism; 'handing out whole stretches of layers' is pipeline parallelism. A common setup: tensor-parallel 8 across the GPUs in each box, pipeline-parallel 2 across two boxes = 16 GPUs serving one model.</a:t>
            </a:r>
            <a:endParaRPr lang="en-US" sz="1200" dirty="0"/>
          </a:p>
          <a:p>
            <a:pPr indent="0" marL="0">
              <a:spcAft>
                <a:spcPts val="200"/>
              </a:spcAft>
              <a:buNone/>
            </a:pPr>
            <a:r>
              <a:rPr lang="en-US" sz="1200" b="1" dirty="0">
                <a:solidFill>
                  <a:srgbClr val="5EE6A8"/>
                </a:solidFill>
                <a:latin typeface="Calibri" pitchFamily="34" charset="0"/>
                <a:ea typeface="Calibri" pitchFamily="34" charset="-122"/>
                <a:cs typeface="Calibri" pitchFamily="34" charset="-120"/>
              </a:rPr>
              <a:t>➜ Coming up:  Together they make one giant model act as ONE logical server — next.</a:t>
            </a:r>
            <a:endParaRPr lang="en-US" sz="1200" dirty="0"/>
          </a:p>
        </p:txBody>
      </p:sp>
      <p:sp>
        <p:nvSpPr>
          <p:cNvPr id="10"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5"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109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2" presetClass="entr" presetSubtype="4"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additive="base">
                                        <p:cTn id="6" dur="600" fill="hold"/>
                                        <p:tgtEl>
                                          <p:spTgt spid="5"/>
                                        </p:tgtEl>
                                        <p:attrNameLst>
                                          <p:attrName>ppt_y</p:attrName>
                                        </p:attrNameLst>
                                      </p:cBhvr>
                                      <p:tavLst>
                                        <p:tav tm="0">
                                          <p:val>
                                            <p:strVal val="#ppt_y+0.08"/>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3"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600"/>
                                        <p:tgtEl>
                                          <p:spTgt spid="6"/>
                                        </p:tgtEl>
                                      </p:cBhvr>
                                    </p:animEffect>
                                  </p:childTnLst>
                                </p:cTn>
                              </p:par>
                            </p:childTnLst>
                          </p:cTn>
                        </p:par>
                      </p:childTnLst>
                    </p:cTn>
                  </p:par>
                  <p:par>
                    <p:cTn id="14" fill="hold">
                      <p:stCondLst>
                        <p:cond delay="indefinite"/>
                      </p:stCondLst>
                      <p:childTnLst>
                        <p:par>
                          <p:cTn id="15" fill="hold">
                            <p:stCondLst>
                              <p:cond delay="0"/>
                            </p:stCondLst>
                            <p:childTnLst>
                              <p:par>
                                <p:cTn id="20" presetID="53" presetClass="entr" presetSubtype="16"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600" fill="hold"/>
                                        <p:tgtEl>
                                          <p:spTgt spid="7"/>
                                        </p:tgtEl>
                                        <p:attrNameLst>
                                          <p:attrName>ppt_w</p:attrName>
                                        </p:attrNameLst>
                                      </p:cBhvr>
                                      <p:tavLst>
                                        <p:tav tm="0">
                                          <p:val>
                                            <p:fltVal val="0"/>
                                          </p:val>
                                        </p:tav>
                                        <p:tav tm="100000">
                                          <p:val>
                                            <p:strVal val="#ppt_w"/>
                                          </p:val>
                                        </p:tav>
                                      </p:tavLst>
                                    </p:anim>
                                    <p:anim calcmode="lin" valueType="num">
                                      <p:cBhvr>
                                        <p:cTn id="18" dur="600" fill="hold"/>
                                        <p:tgtEl>
                                          <p:spTgt spid="7"/>
                                        </p:tgtEl>
                                        <p:attrNameLst>
                                          <p:attrName>ppt_h</p:attrName>
                                        </p:attrNameLst>
                                      </p:cBhvr>
                                      <p:tavLst>
                                        <p:tav tm="0">
                                          <p:val>
                                            <p:fltVal val="0"/>
                                          </p:val>
                                        </p:tav>
                                        <p:tav tm="100000">
                                          <p:val>
                                            <p:strVal val="#ppt_h"/>
                                          </p:val>
                                        </p:tav>
                                      </p:tavLst>
                                    </p:anim>
                                    <p:animEffect transition="in" filter="fade">
                                      <p:cBhvr>
                                        <p:cTn id="19" dur="6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name="Slide 110">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This Is Called Sharding</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It solves the fitting problem</a:t>
            </a:r>
            <a:endParaRPr lang="en-US" sz="1700" dirty="0"/>
          </a:p>
        </p:txBody>
      </p:sp>
      <p:pic>
        <p:nvPicPr>
          <p:cNvPr id="4" name="layer_0" descr="This Is Called Sharding — illustration part 1">    </p:cNvPr>
          <p:cNvPicPr>
            <a:picLocks noChangeAspect="1"/>
          </p:cNvPicPr>
          <p:nvPr/>
        </p:nvPicPr>
        <p:blipFill>
          <a:blip r:embed="rId1"/>
          <a:stretch>
            <a:fillRect/>
          </a:stretch>
        </p:blipFill>
        <p:spPr>
          <a:xfrm>
            <a:off x="1463133" y="2164264"/>
            <a:ext cx="6418792" cy="3093225"/>
          </a:xfrm>
          <a:prstGeom prst="rect">
            <a:avLst/>
          </a:prstGeom>
        </p:spPr>
      </p:pic>
      <p:pic>
        <p:nvPicPr>
          <p:cNvPr id="5" name="layer_1" descr="This Is Called Sharding — illustration part 2">    </p:cNvPr>
          <p:cNvPicPr>
            <a:picLocks noChangeAspect="1"/>
          </p:cNvPicPr>
          <p:nvPr/>
        </p:nvPicPr>
        <p:blipFill>
          <a:blip r:embed="rId2"/>
          <a:stretch>
            <a:fillRect/>
          </a:stretch>
        </p:blipFill>
        <p:spPr>
          <a:xfrm>
            <a:off x="8803933" y="2849408"/>
            <a:ext cx="1390570" cy="1944601"/>
          </a:xfrm>
          <a:prstGeom prst="rect">
            <a:avLst/>
          </a:prstGeom>
        </p:spPr>
      </p:pic>
      <p:sp>
        <p:nvSpPr>
          <p:cNvPr id="6"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7"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A giant model runs across one machine's GPUs or several machines' — acting as ONE logical server</a:t>
            </a:r>
            <a:endParaRPr lang="en-US" sz="1200" dirty="0"/>
          </a:p>
          <a:p>
            <a:pPr indent="0" marL="0">
              <a:spcAft>
                <a:spcPts val="200"/>
              </a:spcAft>
              <a:buNone/>
            </a:pPr>
            <a:r>
              <a:rPr lang="en-US" sz="1200" dirty="0">
                <a:solidFill>
                  <a:srgbClr val="C9D6EA"/>
                </a:solidFill>
                <a:latin typeface="Calibri" pitchFamily="34" charset="0"/>
                <a:ea typeface="Calibri" pitchFamily="34" charset="-122"/>
                <a:cs typeface="Calibri" pitchFamily="34" charset="-120"/>
              </a:rPr>
              <a:t>Splitting a model across GPUs is called sharding. It lets a giant model run as one logical server — but one server still can't serve the whole world.</a:t>
            </a:r>
            <a:endParaRPr lang="en-US" sz="1200" dirty="0"/>
          </a:p>
          <a:p>
            <a:pPr indent="0" marL="0">
              <a:spcAft>
                <a:spcPts val="200"/>
              </a:spcAft>
              <a:buNone/>
            </a:pPr>
            <a:r>
              <a:rPr lang="en-US" sz="1200" b="1" dirty="0">
                <a:solidFill>
                  <a:srgbClr val="5EE6A8"/>
                </a:solidFill>
                <a:latin typeface="Calibri" pitchFamily="34" charset="0"/>
                <a:ea typeface="Calibri" pitchFamily="34" charset="-122"/>
                <a:cs typeface="Calibri" pitchFamily="34" charset="-120"/>
              </a:rPr>
              <a:t>➜ Coming up:  But one server can't serve the world — Chapter 7 builds a fleet of them.</a:t>
            </a:r>
            <a:endParaRPr lang="en-US" sz="1200" dirty="0"/>
          </a:p>
        </p:txBody>
      </p:sp>
      <p:sp>
        <p:nvSpPr>
          <p:cNvPr id="8"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3"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110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name="Slide 111">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Quick Check: Sharding</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Think about each question first — then click to reveal the answer</a:t>
            </a:r>
            <a:endParaRPr lang="en-US" sz="1700" dirty="0"/>
          </a:p>
        </p:txBody>
      </p:sp>
      <p:pic>
        <p:nvPicPr>
          <p:cNvPr id="4" name="layer_0" descr="Quick Check: Sharding — illustration part 1">    </p:cNvPr>
          <p:cNvPicPr>
            <a:picLocks noChangeAspect="1"/>
          </p:cNvPicPr>
          <p:nvPr/>
        </p:nvPicPr>
        <p:blipFill>
          <a:blip r:embed="rId1"/>
          <a:stretch>
            <a:fillRect/>
          </a:stretch>
        </p:blipFill>
        <p:spPr>
          <a:xfrm>
            <a:off x="1221294" y="1998016"/>
            <a:ext cx="4917379" cy="3259474"/>
          </a:xfrm>
          <a:prstGeom prst="rect">
            <a:avLst/>
          </a:prstGeom>
        </p:spPr>
      </p:pic>
      <p:pic>
        <p:nvPicPr>
          <p:cNvPr id="5" name="layer_1" descr="Quick Check: Sharding — illustration part 2">    </p:cNvPr>
          <p:cNvPicPr>
            <a:picLocks noChangeAspect="1"/>
          </p:cNvPicPr>
          <p:nvPr/>
        </p:nvPicPr>
        <p:blipFill>
          <a:blip r:embed="rId2"/>
          <a:stretch>
            <a:fillRect/>
          </a:stretch>
        </p:blipFill>
        <p:spPr>
          <a:xfrm>
            <a:off x="6123558" y="1998016"/>
            <a:ext cx="4836766" cy="1430743"/>
          </a:xfrm>
          <a:prstGeom prst="rect">
            <a:avLst/>
          </a:prstGeom>
        </p:spPr>
      </p:pic>
      <p:pic>
        <p:nvPicPr>
          <p:cNvPr id="6" name="layer_2" descr="Quick Check: Sharding — illustration part 3">    </p:cNvPr>
          <p:cNvPicPr>
            <a:picLocks noChangeAspect="1"/>
          </p:cNvPicPr>
          <p:nvPr/>
        </p:nvPicPr>
        <p:blipFill>
          <a:blip r:embed="rId3"/>
          <a:stretch>
            <a:fillRect/>
          </a:stretch>
        </p:blipFill>
        <p:spPr>
          <a:xfrm>
            <a:off x="6123558" y="3826747"/>
            <a:ext cx="4836766" cy="1430743"/>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Click once per answer</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Pause and answer out loud before clicking. If an answer surprises you, jump back to that part of the section using the agenda.</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111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500" fill="hold"/>
                                        <p:tgtEl>
                                          <p:spTgt spid="5"/>
                                        </p:tgtEl>
                                        <p:attrNameLst>
                                          <p:attrName>ppt_w</p:attrName>
                                        </p:attrNameLst>
                                      </p:cBhvr>
                                      <p:tavLst>
                                        <p:tav tm="0">
                                          <p:val>
                                            <p:fltVal val="0"/>
                                          </p:val>
                                        </p:tav>
                                        <p:tav tm="100000">
                                          <p:val>
                                            <p:strVal val="#ppt_w"/>
                                          </p:val>
                                        </p:tav>
                                      </p:tavLst>
                                    </p:anim>
                                    <p:anim calcmode="lin" valueType="num">
                                      <p:cBhvr>
                                        <p:cTn id="7" dur="500" fill="hold"/>
                                        <p:tgtEl>
                                          <p:spTgt spid="5"/>
                                        </p:tgtEl>
                                        <p:attrNameLst>
                                          <p:attrName>ppt_h</p:attrName>
                                        </p:attrNameLst>
                                      </p:cBhvr>
                                      <p:tavLst>
                                        <p:tav tm="0">
                                          <p:val>
                                            <p:fltVal val="0"/>
                                          </p:val>
                                        </p:tav>
                                        <p:tav tm="100000">
                                          <p:val>
                                            <p:strVal val="#ppt_h"/>
                                          </p:val>
                                        </p:tav>
                                      </p:tavLst>
                                    </p:anim>
                                    <p:animEffect transition="in" filter="fade">
                                      <p:cBhvr>
                                        <p:cTn id="8"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6" presetID="53" presetClass="entr" presetSubtype="16"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p:cTn id="13" dur="500" fill="hold"/>
                                        <p:tgtEl>
                                          <p:spTgt spid="6"/>
                                        </p:tgtEl>
                                        <p:attrNameLst>
                                          <p:attrName>ppt_w</p:attrName>
                                        </p:attrNameLst>
                                      </p:cBhvr>
                                      <p:tavLst>
                                        <p:tav tm="0">
                                          <p:val>
                                            <p:fltVal val="0"/>
                                          </p:val>
                                        </p:tav>
                                        <p:tav tm="100000">
                                          <p:val>
                                            <p:strVal val="#ppt_w"/>
                                          </p:val>
                                        </p:tav>
                                      </p:tavLst>
                                    </p:anim>
                                    <p:anim calcmode="lin" valueType="num">
                                      <p:cBhvr>
                                        <p:cTn id="14" dur="500" fill="hold"/>
                                        <p:tgtEl>
                                          <p:spTgt spid="6"/>
                                        </p:tgtEl>
                                        <p:attrNameLst>
                                          <p:attrName>ppt_h</p:attrName>
                                        </p:attrNameLst>
                                      </p:cBhvr>
                                      <p:tavLst>
                                        <p:tav tm="0">
                                          <p:val>
                                            <p:fltVal val="0"/>
                                          </p:val>
                                        </p:tav>
                                        <p:tav tm="100000">
                                          <p:val>
                                            <p:strVal val="#ppt_h"/>
                                          </p:val>
                                        </p:tav>
                                      </p:tavLst>
                                    </p:anim>
                                    <p:animEffect transition="in" filter="fade">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name="Slide 112">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Story So Far: Sharding ✓</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Solved: one model across many GPUs  →  next problem: One server can't serve the whole world</a:t>
            </a:r>
            <a:endParaRPr lang="en-US" sz="1700" dirty="0"/>
          </a:p>
        </p:txBody>
      </p:sp>
      <p:pic>
        <p:nvPicPr>
          <p:cNvPr id="4" name="layer_0" descr="Story So Far: Sharding ✓ — illustration part 1">    </p:cNvPr>
          <p:cNvPicPr>
            <a:picLocks noChangeAspect="1"/>
          </p:cNvPicPr>
          <p:nvPr/>
        </p:nvPicPr>
        <p:blipFill>
          <a:blip r:embed="rId1"/>
          <a:stretch>
            <a:fillRect/>
          </a:stretch>
        </p:blipFill>
        <p:spPr>
          <a:xfrm>
            <a:off x="1231371" y="2229756"/>
            <a:ext cx="9144511" cy="2599518"/>
          </a:xfrm>
          <a:prstGeom prst="rect">
            <a:avLst/>
          </a:prstGeom>
        </p:spPr>
      </p:pic>
      <p:pic>
        <p:nvPicPr>
          <p:cNvPr id="5" name="layer_1" descr="Story So Far: Sharding ✓ — illustration part 2">    </p:cNvPr>
          <p:cNvPicPr>
            <a:picLocks noChangeAspect="1"/>
          </p:cNvPicPr>
          <p:nvPr/>
        </p:nvPicPr>
        <p:blipFill>
          <a:blip r:embed="rId2"/>
          <a:stretch>
            <a:fillRect/>
          </a:stretch>
        </p:blipFill>
        <p:spPr>
          <a:xfrm>
            <a:off x="8657822" y="3534553"/>
            <a:ext cx="1501413" cy="1566764"/>
          </a:xfrm>
          <a:prstGeom prst="rect">
            <a:avLst/>
          </a:prstGeom>
        </p:spPr>
      </p:pic>
      <p:pic>
        <p:nvPicPr>
          <p:cNvPr id="6" name="layer_2" descr="Story So Far: Sharding ✓ — illustration part 3">    </p:cNvPr>
          <p:cNvPicPr>
            <a:picLocks noChangeAspect="1"/>
          </p:cNvPicPr>
          <p:nvPr/>
        </p:nvPicPr>
        <p:blipFill>
          <a:blip r:embed="rId3"/>
          <a:stretch>
            <a:fillRect/>
          </a:stretch>
        </p:blipFill>
        <p:spPr>
          <a:xfrm>
            <a:off x="7100988" y="3816671"/>
            <a:ext cx="796051" cy="997490"/>
          </a:xfrm>
          <a:prstGeom prst="rect">
            <a:avLst/>
          </a:prstGeom>
        </p:spPr>
      </p:pic>
      <p:pic>
        <p:nvPicPr>
          <p:cNvPr id="7" name="layer_3" descr="Story So Far: Sharding ✓ — illustration part 4">    </p:cNvPr>
          <p:cNvPicPr>
            <a:picLocks noChangeAspect="1"/>
          </p:cNvPicPr>
          <p:nvPr/>
        </p:nvPicPr>
        <p:blipFill>
          <a:blip r:embed="rId4"/>
          <a:stretch>
            <a:fillRect/>
          </a:stretch>
        </p:blipFill>
        <p:spPr>
          <a:xfrm>
            <a:off x="2294452" y="5121468"/>
            <a:ext cx="7582638" cy="584388"/>
          </a:xfrm>
          <a:prstGeom prst="rect">
            <a:avLst/>
          </a:prstGeom>
        </p:spPr>
      </p:pic>
      <p:sp>
        <p:nvSpPr>
          <p:cNvPr id="8"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9"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Up next — Chapter 7 · Fleets &amp; Load Balancing</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Sharding lets a giant model run across many GPUs as one logical server. But one server — however big — can't serve the whole world. Next: fleets of servers, and how to route between them.</a:t>
            </a:r>
            <a:endParaRPr lang="en-US" sz="1200" dirty="0"/>
          </a:p>
        </p:txBody>
      </p:sp>
      <p:sp>
        <p:nvSpPr>
          <p:cNvPr id="10"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5"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112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ppt_w</p:attrName>
                                        </p:attrNameLst>
                                      </p:cBhvr>
                                      <p:tavLst>
                                        <p:tav tm="0">
                                          <p:val>
                                            <p:fltVal val="0"/>
                                          </p:val>
                                        </p:tav>
                                        <p:tav tm="100000">
                                          <p:val>
                                            <p:strVal val="#ppt_w"/>
                                          </p:val>
                                        </p:tav>
                                      </p:tavLst>
                                    </p:anim>
                                    <p:anim calcmode="lin" valueType="num">
                                      <p:cBhvr>
                                        <p:cTn id="7" dur="600" fill="hold"/>
                                        <p:tgtEl>
                                          <p:spTgt spid="5"/>
                                        </p:tgtEl>
                                        <p:attrNameLst>
                                          <p:attrName>ppt_h</p:attrName>
                                        </p:attrNameLst>
                                      </p:cBhvr>
                                      <p:tavLst>
                                        <p:tav tm="0">
                                          <p:val>
                                            <p:fltVal val="0"/>
                                          </p:val>
                                        </p:tav>
                                        <p:tav tm="100000">
                                          <p:val>
                                            <p:strVal val="#ppt_h"/>
                                          </p:val>
                                        </p:tav>
                                      </p:tavLst>
                                    </p:anim>
                                    <p:animEffect transition="in" filter="fade">
                                      <p:cBhvr>
                                        <p:cTn id="8" dur="600"/>
                                        <p:tgtEl>
                                          <p:spTgt spid="5"/>
                                        </p:tgtEl>
                                      </p:cBhvr>
                                    </p:animEffect>
                                  </p:childTnLst>
                                </p:cTn>
                              </p:par>
                            </p:childTnLst>
                          </p:cTn>
                        </p:par>
                        <p:par>
                          <p:cTn id="10" fill="hold">
                            <p:stCondLst>
                              <p:cond delay="600"/>
                            </p:stCondLst>
                            <p:childTnLst>
                              <p:par>
                                <p:cTn id="15" presetID="53" presetClass="entr" presetSubtype="16" fill="hold" grpId="0" nodeType="after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ppt_w</p:attrName>
                                        </p:attrNameLst>
                                      </p:cBhvr>
                                      <p:tavLst>
                                        <p:tav tm="0">
                                          <p:val>
                                            <p:fltVal val="0"/>
                                          </p:val>
                                        </p:tav>
                                        <p:tav tm="100000">
                                          <p:val>
                                            <p:strVal val="#ppt_w"/>
                                          </p:val>
                                        </p:tav>
                                      </p:tavLst>
                                    </p:anim>
                                    <p:anim calcmode="lin" valueType="num">
                                      <p:cBhvr>
                                        <p:cTn id="13" dur="600" fill="hold"/>
                                        <p:tgtEl>
                                          <p:spTgt spid="6"/>
                                        </p:tgtEl>
                                        <p:attrNameLst>
                                          <p:attrName>ppt_h</p:attrName>
                                        </p:attrNameLst>
                                      </p:cBhvr>
                                      <p:tavLst>
                                        <p:tav tm="0">
                                          <p:val>
                                            <p:fltVal val="0"/>
                                          </p:val>
                                        </p:tav>
                                        <p:tav tm="100000">
                                          <p:val>
                                            <p:strVal val="#ppt_h"/>
                                          </p:val>
                                        </p:tav>
                                      </p:tavLst>
                                    </p:anim>
                                    <p:animEffect transition="in" filter="fade">
                                      <p:cBhvr>
                                        <p:cTn id="14" dur="600"/>
                                        <p:tgtEl>
                                          <p:spTgt spid="6"/>
                                        </p:tgtEl>
                                      </p:cBhvr>
                                    </p:animEffect>
                                  </p:childTnLst>
                                </p:cTn>
                              </p:par>
                            </p:childTnLst>
                          </p:cTn>
                        </p:par>
                        <p:par>
                          <p:cTn id="16" fill="hold">
                            <p:stCondLst>
                              <p:cond delay="1200"/>
                            </p:stCondLst>
                            <p:childTnLst>
                              <p:par>
                                <p:cTn id="20" presetID="2" presetClass="entr" presetSubtype="4" fill="hold" grpId="0" nodeType="after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additive="base">
                                        <p:cTn id="18" dur="600" fill="hold"/>
                                        <p:tgtEl>
                                          <p:spTgt spid="7"/>
                                        </p:tgtEl>
                                        <p:attrNameLst>
                                          <p:attrName>ppt_y</p:attrName>
                                        </p:attrNameLst>
                                      </p:cBhvr>
                                      <p:tavLst>
                                        <p:tav tm="0">
                                          <p:val>
                                            <p:strVal val="#ppt_y+0.08"/>
                                          </p:val>
                                        </p:tav>
                                        <p:tav tm="100000">
                                          <p:val>
                                            <p:strVal val="#ppt_y"/>
                                          </p:val>
                                        </p:tav>
                                      </p:tavLst>
                                    </p:anim>
                                    <p:animEffect transition="in" filter="fade">
                                      <p:cBhvr>
                                        <p:cTn id="19" dur="6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name="Slide 113">
    <p:spTree>
      <p:nvGrpSpPr>
        <p:cNvPr id="1" name=""/>
        <p:cNvGrpSpPr/>
        <p:nvPr/>
      </p:nvGrpSpPr>
      <p:grpSpPr>
        <a:xfrm>
          <a:off x="0" y="0"/>
          <a:ext cx="0" cy="0"/>
          <a:chOff x="0" y="0"/>
          <a:chExt cx="0" cy="0"/>
        </a:xfrm>
      </p:grpSpPr>
      <p:sp>
        <p:nvSpPr>
          <p:cNvPr id="2" name="Text 0"/>
          <p:cNvSpPr/>
          <p:nvPr>
            <p:ph idx="100" type="title" hasCustomPrompt="1"/>
          </p:nvPr>
        </p:nvSpPr>
        <p:spPr>
          <a:xfrm>
            <a:off x="731520" y="2834640"/>
            <a:ext cx="5669280" cy="1371600"/>
          </a:xfrm>
          <a:prstGeom prst="rect">
            <a:avLst/>
          </a:prstGeom>
          <a:noFill/>
          <a:ln/>
        </p:spPr>
        <p:txBody>
          <a:bodyPr wrap="square" lIns="0" tIns="0" rIns="0" bIns="0" rtlCol="0" anchor="t"/>
          <a:lstStyle/>
          <a:p>
            <a:pPr algn="l" indent="0" marL="0">
              <a:buNone/>
            </a:pPr>
            <a:r>
              <a:rPr lang="en-US" sz="4000" b="1" dirty="0">
                <a:solidFill>
                  <a:srgbClr val="FFFFFF"/>
                </a:solidFill>
                <a:latin typeface="Calibri" pitchFamily="34" charset="0"/>
                <a:ea typeface="Calibri" pitchFamily="34" charset="-122"/>
                <a:cs typeface="Calibri" pitchFamily="34" charset="-120"/>
              </a:rPr>
              <a:t>Fleets &amp; Why Load Balancing Breaks</a:t>
            </a:r>
            <a:endParaRPr lang="en-US" sz="4000" dirty="0"/>
          </a:p>
        </p:txBody>
      </p:sp>
      <p:sp>
        <p:nvSpPr>
          <p:cNvPr id="3" name="Text 0"/>
          <p:cNvSpPr/>
          <p:nvPr>
            <p:ph idx="101" type="body" hasCustomPrompt="1"/>
          </p:nvPr>
        </p:nvSpPr>
        <p:spPr>
          <a:xfrm>
            <a:off x="731520" y="4251960"/>
            <a:ext cx="5120640" cy="822960"/>
          </a:xfrm>
          <a:prstGeom prst="rect">
            <a:avLst/>
          </a:prstGeom>
          <a:noFill/>
          <a:ln/>
        </p:spPr>
        <p:txBody>
          <a:bodyPr wrap="square" lIns="0" tIns="0" rIns="0" bIns="0" rtlCol="0" anchor="t"/>
          <a:lstStyle/>
          <a:p>
            <a:pPr algn="l" indent="0" marL="0">
              <a:buNone/>
            </a:pPr>
            <a:r>
              <a:rPr lang="en-US" sz="2000" dirty="0">
                <a:solidFill>
                  <a:srgbClr val="22D3EE"/>
                </a:solidFill>
                <a:latin typeface="Calibri" pitchFamily="34" charset="0"/>
                <a:ea typeface="Calibri" pitchFamily="34" charset="-122"/>
                <a:cs typeface="Calibri" pitchFamily="34" charset="-120"/>
              </a:rPr>
              <a:t>One server can't serve the world — how do we route across many?</a:t>
            </a:r>
            <a:endParaRPr lang="en-US" sz="2000" dirty="0"/>
          </a:p>
        </p:txBody>
      </p:sp>
      <p:sp>
        <p:nvSpPr>
          <p:cNvPr id="4" name="Text 2"/>
          <p:cNvSpPr txBox="1"/>
          <p:nvPr/>
        </p:nvSpPr>
        <p:spPr>
          <a:xfrm>
            <a:off x="731520" y="1371600"/>
            <a:ext cx="2743200" cy="1371600"/>
          </a:xfrm>
          <a:prstGeom prst="rect">
            <a:avLst/>
          </a:prstGeom>
          <a:noFill/>
          <a:ln/>
        </p:spPr>
        <p:txBody>
          <a:bodyPr wrap="square" lIns="0" tIns="0" rIns="0" bIns="0" rtlCol="0" anchor="ctr"/>
          <a:lstStyle/>
          <a:p>
            <a:pPr indent="0" marL="0">
              <a:buNone/>
            </a:pPr>
            <a:r>
              <a:rPr lang="en-US" sz="9600" b="1" dirty="0">
                <a:solidFill>
                  <a:srgbClr val="22D3EE">
                    <a:alpha val="80000"/>
                  </a:srgbClr>
                </a:solidFill>
                <a:latin typeface="Calibri" pitchFamily="34" charset="0"/>
                <a:ea typeface="Calibri" pitchFamily="34" charset="-122"/>
                <a:cs typeface="Calibri" pitchFamily="34" charset="-120"/>
              </a:rPr>
              <a:t>07</a:t>
            </a:r>
            <a:endParaRPr lang="en-US" sz="9600" dirty="0"/>
          </a:p>
        </p:txBody>
      </p:sp>
      <p:pic>
        <p:nvPicPr>
          <p:cNvPr id="5" name="layer_0" descr="Fleets &amp; Why Load Balancing Breaks — illustration part 1">    </p:cNvPr>
          <p:cNvPicPr>
            <a:picLocks noChangeAspect="1"/>
          </p:cNvPicPr>
          <p:nvPr/>
        </p:nvPicPr>
        <p:blipFill>
          <a:blip r:embed="rId1"/>
          <a:stretch>
            <a:fillRect/>
          </a:stretch>
        </p:blipFill>
        <p:spPr>
          <a:xfrm>
            <a:off x="6576626" y="2613505"/>
            <a:ext cx="4868008" cy="1757419"/>
          </a:xfrm>
          <a:prstGeom prst="rect">
            <a:avLst/>
          </a:prstGeom>
        </p:spPr>
      </p:pic>
      <p:sp>
        <p:nvSpPr>
          <p:cNvPr id="6" name="nav_agenda"/>
          <p:cNvSpPr txBox="1"/>
          <p:nvPr/>
        </p:nvSpPr>
        <p:spPr>
          <a:xfrm>
            <a:off x="731520" y="5669280"/>
            <a:ext cx="1371600" cy="384048"/>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1300" u="sng" dirty="0">
                <a:solidFill>
                  <a:srgbClr val="22D3EE"/>
                </a:solidFill>
                <a:latin typeface="Calibri" pitchFamily="34" charset="0"/>
                <a:ea typeface="Calibri" pitchFamily="34" charset="-122"/>
                <a:cs typeface="Calibri" pitchFamily="34" charset="-120"/>
                <a:hlinkClick r:id="rId2" action="ppaction://hlinksldjump" tooltip="Back to agenda">
                  <a:extLst>
                    <a:ext uri="{A12FA001-AC4F-418D-AE19-62706E023703}">
                      <ahyp:hlinkClr xmlns:ahyp="http://schemas.microsoft.com/office/drawing/2018/hyperlinkcolor" val="tx"/>
                    </a:ext>
                  </a:extLst>
                </a:hlinkClick>
              </a:rPr>
              <a:t>⌂ Agenda</a:t>
            </a:r>
            <a:endParaRPr lang="en-US" sz="13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113</a:t>
            </a:fld>
            <a:endParaRPr lang="en-US"/>
          </a:p>
        </p:txBody>
      </p:sp>
    </p:spTree>
  </p:cSld>
  <p:clrMapOvr>
    <a:masterClrMapping/>
  </p:clrMapOvr>
  <p:transition spd="med">
    <p:fade/>
  </p:transition>
</p:sld>
</file>

<file path=ppt/slides/slide114.xml><?xml version="1.0" encoding="utf-8"?>
<p:sld xmlns:a="http://schemas.openxmlformats.org/drawingml/2006/main" xmlns:r="http://schemas.openxmlformats.org/officeDocument/2006/relationships" xmlns:p="http://schemas.openxmlformats.org/presentationml/2006/main">
  <p:cSld name="Slide 114">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A Real Service Runs a Whole Fleet</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Each server: its own expensive GPU, its own copy of the model</a:t>
            </a:r>
            <a:endParaRPr lang="en-US" sz="1700" dirty="0"/>
          </a:p>
        </p:txBody>
      </p:sp>
      <p:pic>
        <p:nvPicPr>
          <p:cNvPr id="4" name="layer_0" descr="A Real Service Runs a Whole Fleet — illustration part 1">    </p:cNvPr>
          <p:cNvPicPr>
            <a:picLocks noChangeAspect="1"/>
          </p:cNvPicPr>
          <p:nvPr/>
        </p:nvPicPr>
        <p:blipFill>
          <a:blip r:embed="rId1"/>
          <a:stretch>
            <a:fillRect/>
          </a:stretch>
        </p:blipFill>
        <p:spPr>
          <a:xfrm>
            <a:off x="1286792" y="2018167"/>
            <a:ext cx="1949821" cy="3511365"/>
          </a:xfrm>
          <a:prstGeom prst="rect">
            <a:avLst/>
          </a:prstGeom>
        </p:spPr>
      </p:pic>
      <p:pic>
        <p:nvPicPr>
          <p:cNvPr id="5" name="layer_1" descr="A Real Service Runs a Whole Fleet — illustration part 2">    </p:cNvPr>
          <p:cNvPicPr>
            <a:picLocks noChangeAspect="1"/>
          </p:cNvPicPr>
          <p:nvPr/>
        </p:nvPicPr>
        <p:blipFill>
          <a:blip r:embed="rId2"/>
          <a:stretch>
            <a:fillRect/>
          </a:stretch>
        </p:blipFill>
        <p:spPr>
          <a:xfrm>
            <a:off x="5287201" y="2330512"/>
            <a:ext cx="5587472" cy="3128490"/>
          </a:xfrm>
          <a:prstGeom prst="rect">
            <a:avLst/>
          </a:prstGeom>
        </p:spPr>
      </p:pic>
      <p:pic>
        <p:nvPicPr>
          <p:cNvPr id="6" name="layer_2" descr="A Real Service Runs a Whole Fleet — illustration part 3">    </p:cNvPr>
          <p:cNvPicPr>
            <a:picLocks noChangeAspect="1"/>
          </p:cNvPicPr>
          <p:nvPr/>
        </p:nvPicPr>
        <p:blipFill>
          <a:blip r:embed="rId3"/>
          <a:stretch>
            <a:fillRect/>
          </a:stretch>
        </p:blipFill>
        <p:spPr>
          <a:xfrm>
            <a:off x="3916784" y="3358229"/>
            <a:ext cx="246877" cy="433253"/>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So how does my request get to one of these servers?</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A real service runs a whole fleet of servers, each with its own expensive GPU and its own copy of the model. So how does each request reach a server?</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114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p:cSld name="Slide 115">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The Classic Fix: A Load Balancer</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Spread requests evenly — round and round, one to each in turn</a:t>
            </a:r>
            <a:endParaRPr lang="en-US" sz="1700" dirty="0"/>
          </a:p>
        </p:txBody>
      </p:sp>
      <p:pic>
        <p:nvPicPr>
          <p:cNvPr id="4" name="layer_0" descr="The Classic Fix: A Load Balancer — illustration part 1">    </p:cNvPr>
          <p:cNvPicPr>
            <a:picLocks noChangeAspect="1"/>
          </p:cNvPicPr>
          <p:nvPr/>
        </p:nvPicPr>
        <p:blipFill>
          <a:blip r:embed="rId1"/>
          <a:stretch>
            <a:fillRect/>
          </a:stretch>
        </p:blipFill>
        <p:spPr>
          <a:xfrm>
            <a:off x="1296869" y="2078621"/>
            <a:ext cx="4010485" cy="3178868"/>
          </a:xfrm>
          <a:prstGeom prst="rect">
            <a:avLst/>
          </a:prstGeom>
        </p:spPr>
      </p:pic>
      <p:pic>
        <p:nvPicPr>
          <p:cNvPr id="5" name="layer_1" descr="The Classic Fix: A Load Balancer — illustration part 2">    </p:cNvPr>
          <p:cNvPicPr>
            <a:picLocks noChangeAspect="1"/>
          </p:cNvPicPr>
          <p:nvPr/>
        </p:nvPicPr>
        <p:blipFill>
          <a:blip r:embed="rId2"/>
          <a:stretch>
            <a:fillRect/>
          </a:stretch>
        </p:blipFill>
        <p:spPr>
          <a:xfrm>
            <a:off x="5297277" y="1998016"/>
            <a:ext cx="4544545" cy="3259474"/>
          </a:xfrm>
          <a:prstGeom prst="rect">
            <a:avLst/>
          </a:prstGeom>
        </p:spPr>
      </p:pic>
      <p:pic>
        <p:nvPicPr>
          <p:cNvPr id="6" name="layer_2" descr="The Classic Fix: A Load Balancer — illustration part 3">    </p:cNvPr>
          <p:cNvPicPr>
            <a:picLocks noChangeAspect="1"/>
          </p:cNvPicPr>
          <p:nvPr/>
        </p:nvPicPr>
        <p:blipFill>
          <a:blip r:embed="rId3"/>
          <a:stretch>
            <a:fillRect/>
          </a:stretch>
        </p:blipFill>
        <p:spPr>
          <a:xfrm>
            <a:off x="3458299" y="4904842"/>
            <a:ext cx="1929668" cy="685144"/>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We've balanced web traffic like this for decades — but for LLMs it's wrong, for two reasons</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The classic infrastructure answer is a load balancer that sends requests to servers in turn, round and round. It has worked for web traffic for decades — but not for LLMs.</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115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name="Slide 116">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Problem #1: It Throws Away the Cache</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Message 1 → server 2 (cache saved) · Message 2 → server 5 (never seen you)</a:t>
            </a:r>
            <a:endParaRPr lang="en-US" sz="1700" dirty="0"/>
          </a:p>
        </p:txBody>
      </p:sp>
      <p:pic>
        <p:nvPicPr>
          <p:cNvPr id="4" name="layer_0" descr="Problem #1: It Throws Away the Cache — illustration part 1">    </p:cNvPr>
          <p:cNvPicPr>
            <a:picLocks noChangeAspect="1"/>
          </p:cNvPicPr>
          <p:nvPr/>
        </p:nvPicPr>
        <p:blipFill>
          <a:blip r:embed="rId1"/>
          <a:stretch>
            <a:fillRect/>
          </a:stretch>
        </p:blipFill>
        <p:spPr>
          <a:xfrm>
            <a:off x="1271677" y="1907335"/>
            <a:ext cx="7940358" cy="3622197"/>
          </a:xfrm>
          <a:prstGeom prst="rect">
            <a:avLst/>
          </a:prstGeom>
        </p:spPr>
      </p:pic>
      <p:pic>
        <p:nvPicPr>
          <p:cNvPr id="5" name="layer_1" descr="Problem #1: It Throws Away the Cache — illustration part 2">    </p:cNvPr>
          <p:cNvPicPr>
            <a:picLocks noChangeAspect="1"/>
          </p:cNvPicPr>
          <p:nvPr/>
        </p:nvPicPr>
        <p:blipFill>
          <a:blip r:embed="rId2"/>
          <a:stretch>
            <a:fillRect/>
          </a:stretch>
        </p:blipFill>
        <p:spPr>
          <a:xfrm>
            <a:off x="2052613" y="2164264"/>
            <a:ext cx="8822060" cy="1466007"/>
          </a:xfrm>
          <a:prstGeom prst="rect">
            <a:avLst/>
          </a:prstGeom>
        </p:spPr>
      </p:pic>
      <p:pic>
        <p:nvPicPr>
          <p:cNvPr id="6" name="layer_2" descr="Problem #1: It Throws Away the Cache — illustration part 3">    </p:cNvPr>
          <p:cNvPicPr>
            <a:picLocks noChangeAspect="1"/>
          </p:cNvPicPr>
          <p:nvPr/>
        </p:nvPicPr>
        <p:blipFill>
          <a:blip r:embed="rId3"/>
          <a:stretch>
            <a:fillRect/>
          </a:stretch>
        </p:blipFill>
        <p:spPr>
          <a:xfrm>
            <a:off x="4874060" y="3912390"/>
            <a:ext cx="6000613" cy="1345100"/>
          </a:xfrm>
          <a:prstGeom prst="rect">
            <a:avLst/>
          </a:prstGeom>
        </p:spPr>
      </p:pic>
      <p:pic>
        <p:nvPicPr>
          <p:cNvPr id="7" name="layer_3" descr="Problem #1: It Throws Away the Cache — illustration part 4">    </p:cNvPr>
          <p:cNvPicPr>
            <a:picLocks noChangeAspect="1"/>
          </p:cNvPicPr>
          <p:nvPr/>
        </p:nvPicPr>
        <p:blipFill>
          <a:blip r:embed="rId4"/>
          <a:stretch>
            <a:fillRect/>
          </a:stretch>
        </p:blipFill>
        <p:spPr>
          <a:xfrm>
            <a:off x="3125771" y="4980409"/>
            <a:ext cx="2100970" cy="453404"/>
          </a:xfrm>
          <a:prstGeom prst="rect">
            <a:avLst/>
          </a:prstGeom>
        </p:spPr>
      </p:pic>
      <p:sp>
        <p:nvSpPr>
          <p:cNvPr id="8"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9"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Servers are NOT interchangeable — round-robin wastes perfectly good work on your most expensive hardware</a:t>
            </a:r>
            <a:endParaRPr lang="en-US" sz="1200" dirty="0"/>
          </a:p>
          <a:p>
            <a:pPr indent="0" marL="0">
              <a:spcAft>
                <a:spcPts val="200"/>
              </a:spcAft>
              <a:buNone/>
            </a:pPr>
            <a:r>
              <a:rPr lang="en-US" sz="1200" dirty="0">
                <a:solidFill>
                  <a:srgbClr val="C9D6EA"/>
                </a:solidFill>
                <a:latin typeface="Calibri" pitchFamily="34" charset="0"/>
                <a:ea typeface="Calibri" pitchFamily="34" charset="-122"/>
                <a:cs typeface="Calibri" pitchFamily="34" charset="-120"/>
              </a:rPr>
              <a:t>Your first message lands on server 2, which caches your conversation. Your second goes to server 5, which has never seen you and must redo the prefill — wasted work on costly hardware.</a:t>
            </a:r>
            <a:endParaRPr lang="en-US" sz="1200" dirty="0"/>
          </a:p>
          <a:p>
            <a:pPr indent="0" marL="0">
              <a:spcAft>
                <a:spcPts val="200"/>
              </a:spcAft>
              <a:buNone/>
            </a:pPr>
            <a:r>
              <a:rPr lang="en-US" sz="1200" b="1" dirty="0">
                <a:solidFill>
                  <a:srgbClr val="5EE6A8"/>
                </a:solidFill>
                <a:latin typeface="Calibri" pitchFamily="34" charset="0"/>
                <a:ea typeface="Calibri" pitchFamily="34" charset="-122"/>
                <a:cs typeface="Calibri" pitchFamily="34" charset="-120"/>
              </a:rPr>
              <a:t>➜ How we'll fix it:  llm-d Signal 1 — cache-aware routing (Chapter 8).</a:t>
            </a:r>
            <a:endParaRPr lang="en-US" sz="1200" dirty="0"/>
          </a:p>
        </p:txBody>
      </p:sp>
      <p:sp>
        <p:nvSpPr>
          <p:cNvPr id="10"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5"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116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par>
                    <p:cTn id="15" fill="hold">
                      <p:stCondLst>
                        <p:cond delay="indefinite"/>
                      </p:stCondLst>
                      <p:childTnLst>
                        <p:par>
                          <p:cTn id="16" fill="hold">
                            <p:stCondLst>
                              <p:cond delay="0"/>
                            </p:stCondLst>
                            <p:childTnLst>
                              <p:par>
                                <p:cTn id="20" presetID="42"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p:cTn id="18" dur="600" fill="hold"/>
                                        <p:tgtEl>
                                          <p:spTgt spid="7"/>
                                        </p:tgtEl>
                                        <p:attrNameLst>
                                          <p:attrName>ppt_y</p:attrName>
                                        </p:attrNameLst>
                                      </p:cBhvr>
                                      <p:tavLst>
                                        <p:tav tm="0">
                                          <p:val>
                                            <p:strVal val="#ppt_y+0.03"/>
                                          </p:val>
                                        </p:tav>
                                        <p:tav tm="100000">
                                          <p:val>
                                            <p:strVal val="#ppt_y"/>
                                          </p:val>
                                        </p:tav>
                                      </p:tavLst>
                                    </p:anim>
                                    <p:animEffect transition="in" filter="fade">
                                      <p:cBhvr>
                                        <p:cTn id="19" dur="6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name="Slide 117">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Analogy: Seeing the Same Doctor</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Why cache-aware routing matters</a:t>
            </a:r>
            <a:endParaRPr lang="en-US" sz="1700" dirty="0"/>
          </a:p>
        </p:txBody>
      </p:sp>
      <p:pic>
        <p:nvPicPr>
          <p:cNvPr id="4" name="layer_0" descr="Analogy: Seeing the Same Doctor — illustration part 1">    </p:cNvPr>
          <p:cNvPicPr>
            <a:picLocks noChangeAspect="1"/>
          </p:cNvPicPr>
          <p:nvPr/>
        </p:nvPicPr>
        <p:blipFill>
          <a:blip r:embed="rId1"/>
          <a:stretch>
            <a:fillRect/>
          </a:stretch>
        </p:blipFill>
        <p:spPr>
          <a:xfrm>
            <a:off x="1231371" y="3121451"/>
            <a:ext cx="896817" cy="1133511"/>
          </a:xfrm>
          <a:prstGeom prst="rect">
            <a:avLst/>
          </a:prstGeom>
        </p:spPr>
      </p:pic>
      <p:pic>
        <p:nvPicPr>
          <p:cNvPr id="5" name="layer_1" descr="Analogy: Seeing the Same Doctor — illustration part 2">    </p:cNvPr>
          <p:cNvPicPr>
            <a:picLocks noChangeAspect="1"/>
          </p:cNvPicPr>
          <p:nvPr/>
        </p:nvPicPr>
        <p:blipFill>
          <a:blip r:embed="rId2"/>
          <a:stretch>
            <a:fillRect/>
          </a:stretch>
        </p:blipFill>
        <p:spPr>
          <a:xfrm>
            <a:off x="2052613" y="2164264"/>
            <a:ext cx="7144307" cy="1612104"/>
          </a:xfrm>
          <a:prstGeom prst="rect">
            <a:avLst/>
          </a:prstGeom>
        </p:spPr>
      </p:pic>
      <p:pic>
        <p:nvPicPr>
          <p:cNvPr id="6" name="layer_2" descr="Analogy: Seeing the Same Doctor — illustration part 3">    </p:cNvPr>
          <p:cNvPicPr>
            <a:picLocks noChangeAspect="1"/>
          </p:cNvPicPr>
          <p:nvPr/>
        </p:nvPicPr>
        <p:blipFill>
          <a:blip r:embed="rId3"/>
          <a:stretch>
            <a:fillRect/>
          </a:stretch>
        </p:blipFill>
        <p:spPr>
          <a:xfrm>
            <a:off x="2052613" y="3917428"/>
            <a:ext cx="7164460" cy="1788428"/>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Your doctor already has your file — a random doctor must take your whole history again</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Round-robin is like being sent to a random doctor at every visit: each one re-takes your full history (a fresh prefill). Cache-aware routing sends you back to the doctor who already has your file.</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117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r="http://schemas.openxmlformats.org/officeDocument/2006/relationships" xmlns:p="http://schemas.openxmlformats.org/presentationml/2006/main">
  <p:cSld name="Slide 118">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Problem #2: Requests Aren't Equal</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A quick "hello" and a 50-page summary look identical to a load balancer</a:t>
            </a:r>
            <a:endParaRPr lang="en-US" sz="1700" dirty="0"/>
          </a:p>
        </p:txBody>
      </p:sp>
      <p:pic>
        <p:nvPicPr>
          <p:cNvPr id="4" name="layer_0" descr="Problem #2: Requests Aren't Equal — illustration part 1">    </p:cNvPr>
          <p:cNvPicPr>
            <a:picLocks noChangeAspect="1"/>
          </p:cNvPicPr>
          <p:nvPr/>
        </p:nvPicPr>
        <p:blipFill>
          <a:blip r:embed="rId1"/>
          <a:stretch>
            <a:fillRect/>
          </a:stretch>
        </p:blipFill>
        <p:spPr>
          <a:xfrm>
            <a:off x="1296869" y="2164264"/>
            <a:ext cx="1264613" cy="3148642"/>
          </a:xfrm>
          <a:prstGeom prst="rect">
            <a:avLst/>
          </a:prstGeom>
        </p:spPr>
      </p:pic>
      <p:pic>
        <p:nvPicPr>
          <p:cNvPr id="5" name="layer_1" descr="Problem #2: Requests Aren't Equal — illustration part 2">    </p:cNvPr>
          <p:cNvPicPr>
            <a:picLocks noChangeAspect="1"/>
          </p:cNvPicPr>
          <p:nvPr/>
        </p:nvPicPr>
        <p:blipFill>
          <a:blip r:embed="rId2"/>
          <a:stretch>
            <a:fillRect/>
          </a:stretch>
        </p:blipFill>
        <p:spPr>
          <a:xfrm>
            <a:off x="3292035" y="2995505"/>
            <a:ext cx="1929668" cy="1430743"/>
          </a:xfrm>
          <a:prstGeom prst="rect">
            <a:avLst/>
          </a:prstGeom>
        </p:spPr>
      </p:pic>
      <p:pic>
        <p:nvPicPr>
          <p:cNvPr id="6" name="layer_2" descr="Problem #2: Requests Aren't Equal — illustration part 3">    </p:cNvPr>
          <p:cNvPicPr>
            <a:picLocks noChangeAspect="1"/>
          </p:cNvPicPr>
          <p:nvPr/>
        </p:nvPicPr>
        <p:blipFill>
          <a:blip r:embed="rId3"/>
          <a:stretch>
            <a:fillRect/>
          </a:stretch>
        </p:blipFill>
        <p:spPr>
          <a:xfrm>
            <a:off x="5206588" y="1761238"/>
            <a:ext cx="5577396" cy="3340079"/>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The big one lands on a server already streaming to 30 people — all 30 slow down</a:t>
            </a:r>
            <a:endParaRPr lang="en-US" sz="1200" dirty="0"/>
          </a:p>
          <a:p>
            <a:pPr indent="0" marL="0">
              <a:spcAft>
                <a:spcPts val="200"/>
              </a:spcAft>
              <a:buNone/>
            </a:pPr>
            <a:r>
              <a:rPr lang="en-US" sz="1200" dirty="0">
                <a:solidFill>
                  <a:srgbClr val="C9D6EA"/>
                </a:solidFill>
                <a:latin typeface="Calibri" pitchFamily="34" charset="0"/>
                <a:ea typeface="Calibri" pitchFamily="34" charset="-122"/>
                <a:cs typeface="Calibri" pitchFamily="34" charset="-120"/>
              </a:rPr>
              <a:t>A load balancer assumes requests are similar in size. It might send a 50-page summary to a server already streaming to 30 people, slowing all of them down.</a:t>
            </a:r>
            <a:endParaRPr lang="en-US" sz="1200" dirty="0"/>
          </a:p>
          <a:p>
            <a:pPr indent="0" marL="0">
              <a:spcAft>
                <a:spcPts val="200"/>
              </a:spcAft>
              <a:buNone/>
            </a:pPr>
            <a:r>
              <a:rPr lang="en-US" sz="1200" b="1" dirty="0">
                <a:solidFill>
                  <a:srgbClr val="5EE6A8"/>
                </a:solidFill>
                <a:latin typeface="Calibri" pitchFamily="34" charset="0"/>
                <a:ea typeface="Calibri" pitchFamily="34" charset="-122"/>
                <a:cs typeface="Calibri" pitchFamily="34" charset="-120"/>
              </a:rPr>
              <a:t>➜ How we'll fix it:  llm-d Signal 2 — load-aware routing (Chapter 8).</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118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name="Slide 119">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The Load Balancer Is Blind</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Everything it would need to know is inside the servers</a:t>
            </a:r>
            <a:endParaRPr lang="en-US" sz="1700" dirty="0"/>
          </a:p>
        </p:txBody>
      </p:sp>
      <p:pic>
        <p:nvPicPr>
          <p:cNvPr id="4" name="layer_0" descr="The Load Balancer Is Blind — illustration part 1">    </p:cNvPr>
          <p:cNvPicPr>
            <a:picLocks noChangeAspect="1"/>
          </p:cNvPicPr>
          <p:nvPr/>
        </p:nvPicPr>
        <p:blipFill>
          <a:blip r:embed="rId1"/>
          <a:stretch>
            <a:fillRect/>
          </a:stretch>
        </p:blipFill>
        <p:spPr>
          <a:xfrm>
            <a:off x="1463133" y="2829257"/>
            <a:ext cx="2262196" cy="2453421"/>
          </a:xfrm>
          <a:prstGeom prst="rect">
            <a:avLst/>
          </a:prstGeom>
        </p:spPr>
      </p:pic>
      <p:pic>
        <p:nvPicPr>
          <p:cNvPr id="5" name="layer_1" descr="The Load Balancer Is Blind — illustration part 2">    </p:cNvPr>
          <p:cNvPicPr>
            <a:picLocks noChangeAspect="1"/>
          </p:cNvPicPr>
          <p:nvPr/>
        </p:nvPicPr>
        <p:blipFill>
          <a:blip r:embed="rId2"/>
          <a:stretch>
            <a:fillRect/>
          </a:stretch>
        </p:blipFill>
        <p:spPr>
          <a:xfrm>
            <a:off x="4954673" y="2078621"/>
            <a:ext cx="5914962" cy="3012620"/>
          </a:xfrm>
          <a:prstGeom prst="rect">
            <a:avLst/>
          </a:prstGeom>
        </p:spPr>
      </p:pic>
      <p:pic>
        <p:nvPicPr>
          <p:cNvPr id="6" name="layer_2" descr="The Load Balancer Is Blind — illustration part 3">    </p:cNvPr>
          <p:cNvPicPr>
            <a:picLocks noChangeAspect="1"/>
          </p:cNvPicPr>
          <p:nvPr/>
        </p:nvPicPr>
        <p:blipFill>
          <a:blip r:embed="rId3"/>
          <a:stretch>
            <a:fillRect/>
          </a:stretch>
        </p:blipFill>
        <p:spPr>
          <a:xfrm>
            <a:off x="4697720" y="1751162"/>
            <a:ext cx="2781140" cy="267005"/>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How full is each server's memory? Whose saved work is where? How long is each queue?</a:t>
            </a:r>
            <a:endParaRPr lang="en-US" sz="1200" dirty="0"/>
          </a:p>
          <a:p>
            <a:pPr indent="0" marL="0">
              <a:spcAft>
                <a:spcPts val="200"/>
              </a:spcAft>
              <a:buNone/>
            </a:pPr>
            <a:r>
              <a:rPr lang="en-US" sz="1200" dirty="0">
                <a:solidFill>
                  <a:srgbClr val="C9D6EA"/>
                </a:solidFill>
                <a:latin typeface="Calibri" pitchFamily="34" charset="0"/>
                <a:ea typeface="Calibri" pitchFamily="34" charset="-122"/>
                <a:cs typeface="Calibri" pitchFamily="34" charset="-120"/>
              </a:rPr>
              <a:t>The information needed to route well — memory use, where each user's cache lives, queue length — is inside the servers, where a load balancer can't see it.</a:t>
            </a:r>
            <a:endParaRPr lang="en-US" sz="1200" dirty="0"/>
          </a:p>
          <a:p>
            <a:pPr indent="0" marL="0">
              <a:spcAft>
                <a:spcPts val="200"/>
              </a:spcAft>
              <a:buNone/>
            </a:pPr>
            <a:r>
              <a:rPr lang="en-US" sz="1200" b="1" dirty="0">
                <a:solidFill>
                  <a:srgbClr val="5EE6A8"/>
                </a:solidFill>
                <a:latin typeface="Calibri" pitchFamily="34" charset="0"/>
                <a:ea typeface="Calibri" pitchFamily="34" charset="-122"/>
                <a:cs typeface="Calibri" pitchFamily="34" charset="-120"/>
              </a:rPr>
              <a:t>➜ How we'll fix it:  A router that CAN see inside every server — coming up: llm-d.</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119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name="Slide 120">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Why Serving LLMs Is So Hard</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Everything we've learned, in one place</a:t>
            </a:r>
            <a:endParaRPr lang="en-US" sz="1700" dirty="0"/>
          </a:p>
        </p:txBody>
      </p:sp>
      <p:pic>
        <p:nvPicPr>
          <p:cNvPr id="4" name="layer_0" descr="Why Serving LLMs Is So Hard — illustration part 1">    </p:cNvPr>
          <p:cNvPicPr>
            <a:picLocks noChangeAspect="1"/>
          </p:cNvPicPr>
          <p:nvPr/>
        </p:nvPicPr>
        <p:blipFill>
          <a:blip r:embed="rId1"/>
          <a:stretch>
            <a:fillRect/>
          </a:stretch>
        </p:blipFill>
        <p:spPr>
          <a:xfrm>
            <a:off x="1886350" y="2078621"/>
            <a:ext cx="4227132" cy="1314873"/>
          </a:xfrm>
          <a:prstGeom prst="rect">
            <a:avLst/>
          </a:prstGeom>
        </p:spPr>
      </p:pic>
      <p:pic>
        <p:nvPicPr>
          <p:cNvPr id="5" name="layer_1" descr="Why Serving LLMs Is So Hard — illustration part 2">    </p:cNvPr>
          <p:cNvPicPr>
            <a:picLocks noChangeAspect="1"/>
          </p:cNvPicPr>
          <p:nvPr/>
        </p:nvPicPr>
        <p:blipFill>
          <a:blip r:embed="rId2"/>
          <a:stretch>
            <a:fillRect/>
          </a:stretch>
        </p:blipFill>
        <p:spPr>
          <a:xfrm>
            <a:off x="1886350" y="3509364"/>
            <a:ext cx="3884528" cy="1314873"/>
          </a:xfrm>
          <a:prstGeom prst="rect">
            <a:avLst/>
          </a:prstGeom>
        </p:spPr>
      </p:pic>
      <p:pic>
        <p:nvPicPr>
          <p:cNvPr id="6" name="layer_2" descr="Why Serving LLMs Is So Hard — illustration part 3">    </p:cNvPr>
          <p:cNvPicPr>
            <a:picLocks noChangeAspect="1"/>
          </p:cNvPicPr>
          <p:nvPr/>
        </p:nvPicPr>
        <p:blipFill>
          <a:blip r:embed="rId3"/>
          <a:stretch>
            <a:fillRect/>
          </a:stretch>
        </p:blipFill>
        <p:spPr>
          <a:xfrm>
            <a:off x="1886350" y="2713387"/>
            <a:ext cx="8817021" cy="2821183"/>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Get the routing wrong on top of all this and you waste your most expensive asset: GPU cycles</a:t>
            </a:r>
            <a:endParaRPr lang="en-US" sz="1200" dirty="0"/>
          </a:p>
          <a:p>
            <a:pPr indent="0" marL="0">
              <a:spcAft>
                <a:spcPts val="200"/>
              </a:spcAft>
              <a:buNone/>
            </a:pPr>
            <a:r>
              <a:rPr lang="en-US" sz="1200" dirty="0">
                <a:solidFill>
                  <a:srgbClr val="C9D6EA"/>
                </a:solidFill>
                <a:latin typeface="Calibri" pitchFamily="34" charset="0"/>
                <a:ea typeface="Calibri" pitchFamily="34" charset="-122"/>
                <a:cs typeface="Calibri" pitchFamily="34" charset="-120"/>
              </a:rPr>
              <a:t>The model barely fits, every token re-reads it, cached work is stuck on one server, and memory limits users per server. Bad routing on top of that wastes GPU cycles.</a:t>
            </a:r>
            <a:endParaRPr lang="en-US" sz="1200" dirty="0"/>
          </a:p>
          <a:p>
            <a:pPr indent="0" marL="0">
              <a:spcAft>
                <a:spcPts val="200"/>
              </a:spcAft>
              <a:buNone/>
            </a:pPr>
            <a:r>
              <a:rPr lang="en-US" sz="1200" b="1" dirty="0">
                <a:solidFill>
                  <a:srgbClr val="5EE6A8"/>
                </a:solidFill>
                <a:latin typeface="Calibri" pitchFamily="34" charset="0"/>
                <a:ea typeface="Calibri" pitchFamily="34" charset="-122"/>
                <a:cs typeface="Calibri" pitchFamily="34" charset="-120"/>
              </a:rPr>
              <a:t>➜ How we'll fix it:  The industry built one open solution together — next slide.</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120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p:cSld name="Slide 121">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The Industry Teams Up</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The same wall stopped everyone — so they solved it together, in the open</a:t>
            </a:r>
            <a:endParaRPr lang="en-US" sz="1700" dirty="0"/>
          </a:p>
        </p:txBody>
      </p:sp>
      <p:pic>
        <p:nvPicPr>
          <p:cNvPr id="4" name="layer_0" descr="The Industry Teams Up — illustration part 1">    </p:cNvPr>
          <p:cNvPicPr>
            <a:picLocks noChangeAspect="1"/>
          </p:cNvPicPr>
          <p:nvPr/>
        </p:nvPicPr>
        <p:blipFill>
          <a:blip r:embed="rId1"/>
          <a:stretch>
            <a:fillRect/>
          </a:stretch>
        </p:blipFill>
        <p:spPr>
          <a:xfrm>
            <a:off x="1629396" y="2330512"/>
            <a:ext cx="4589889" cy="2428232"/>
          </a:xfrm>
          <a:prstGeom prst="rect">
            <a:avLst/>
          </a:prstGeom>
        </p:spPr>
      </p:pic>
      <p:pic>
        <p:nvPicPr>
          <p:cNvPr id="5" name="layer_1" descr="The Industry Teams Up — illustration part 2">    </p:cNvPr>
          <p:cNvPicPr>
            <a:picLocks noChangeAspect="1"/>
          </p:cNvPicPr>
          <p:nvPr/>
        </p:nvPicPr>
        <p:blipFill>
          <a:blip r:embed="rId2"/>
          <a:stretch>
            <a:fillRect/>
          </a:stretch>
        </p:blipFill>
        <p:spPr>
          <a:xfrm>
            <a:off x="6284784" y="2577366"/>
            <a:ext cx="4010485" cy="2267022"/>
          </a:xfrm>
          <a:prstGeom prst="rect">
            <a:avLst/>
          </a:prstGeom>
        </p:spPr>
      </p:pic>
      <p:sp>
        <p:nvSpPr>
          <p:cNvPr id="6"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7"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Red Hat + Google + IBM + NVIDIA → llm-d</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Everyone in the industry hit the same wall, so Red Hat, Google, IBM and NVIDIA built the solution together in the open: llm-d.</a:t>
            </a:r>
            <a:endParaRPr lang="en-US" sz="1200" dirty="0"/>
          </a:p>
        </p:txBody>
      </p:sp>
      <p:sp>
        <p:nvSpPr>
          <p:cNvPr id="8"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3"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121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r="http://schemas.openxmlformats.org/officeDocument/2006/relationships" xmlns:p="http://schemas.openxmlformats.org/presentationml/2006/main">
  <p:cSld name="Slide 122">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Quick Check: Fleets &amp; Routing</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Think about each question first — then click to reveal the answer</a:t>
            </a:r>
            <a:endParaRPr lang="en-US" sz="1700" dirty="0"/>
          </a:p>
        </p:txBody>
      </p:sp>
      <p:pic>
        <p:nvPicPr>
          <p:cNvPr id="4" name="layer_0" descr="Quick Check: Fleets &amp; Routing — illustration part 1">    </p:cNvPr>
          <p:cNvPicPr>
            <a:picLocks noChangeAspect="1"/>
          </p:cNvPicPr>
          <p:nvPr/>
        </p:nvPicPr>
        <p:blipFill>
          <a:blip r:embed="rId1"/>
          <a:stretch>
            <a:fillRect/>
          </a:stretch>
        </p:blipFill>
        <p:spPr>
          <a:xfrm>
            <a:off x="1221294" y="1998016"/>
            <a:ext cx="4917379" cy="3259474"/>
          </a:xfrm>
          <a:prstGeom prst="rect">
            <a:avLst/>
          </a:prstGeom>
        </p:spPr>
      </p:pic>
      <p:pic>
        <p:nvPicPr>
          <p:cNvPr id="5" name="layer_1" descr="Quick Check: Fleets &amp; Routing — illustration part 2">    </p:cNvPr>
          <p:cNvPicPr>
            <a:picLocks noChangeAspect="1"/>
          </p:cNvPicPr>
          <p:nvPr/>
        </p:nvPicPr>
        <p:blipFill>
          <a:blip r:embed="rId2"/>
          <a:stretch>
            <a:fillRect/>
          </a:stretch>
        </p:blipFill>
        <p:spPr>
          <a:xfrm>
            <a:off x="6123558" y="1998016"/>
            <a:ext cx="4836766" cy="1430743"/>
          </a:xfrm>
          <a:prstGeom prst="rect">
            <a:avLst/>
          </a:prstGeom>
        </p:spPr>
      </p:pic>
      <p:pic>
        <p:nvPicPr>
          <p:cNvPr id="6" name="layer_2" descr="Quick Check: Fleets &amp; Routing — illustration part 3">    </p:cNvPr>
          <p:cNvPicPr>
            <a:picLocks noChangeAspect="1"/>
          </p:cNvPicPr>
          <p:nvPr/>
        </p:nvPicPr>
        <p:blipFill>
          <a:blip r:embed="rId3"/>
          <a:stretch>
            <a:fillRect/>
          </a:stretch>
        </p:blipFill>
        <p:spPr>
          <a:xfrm>
            <a:off x="6123558" y="3826747"/>
            <a:ext cx="4836766" cy="1430743"/>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Click once per answer</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Pause and answer out loud before clicking. If an answer surprises you, jump back to that part of the section using the agenda.</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122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500" fill="hold"/>
                                        <p:tgtEl>
                                          <p:spTgt spid="5"/>
                                        </p:tgtEl>
                                        <p:attrNameLst>
                                          <p:attrName>ppt_w</p:attrName>
                                        </p:attrNameLst>
                                      </p:cBhvr>
                                      <p:tavLst>
                                        <p:tav tm="0">
                                          <p:val>
                                            <p:fltVal val="0"/>
                                          </p:val>
                                        </p:tav>
                                        <p:tav tm="100000">
                                          <p:val>
                                            <p:strVal val="#ppt_w"/>
                                          </p:val>
                                        </p:tav>
                                      </p:tavLst>
                                    </p:anim>
                                    <p:anim calcmode="lin" valueType="num">
                                      <p:cBhvr>
                                        <p:cTn id="7" dur="500" fill="hold"/>
                                        <p:tgtEl>
                                          <p:spTgt spid="5"/>
                                        </p:tgtEl>
                                        <p:attrNameLst>
                                          <p:attrName>ppt_h</p:attrName>
                                        </p:attrNameLst>
                                      </p:cBhvr>
                                      <p:tavLst>
                                        <p:tav tm="0">
                                          <p:val>
                                            <p:fltVal val="0"/>
                                          </p:val>
                                        </p:tav>
                                        <p:tav tm="100000">
                                          <p:val>
                                            <p:strVal val="#ppt_h"/>
                                          </p:val>
                                        </p:tav>
                                      </p:tavLst>
                                    </p:anim>
                                    <p:animEffect transition="in" filter="fade">
                                      <p:cBhvr>
                                        <p:cTn id="8"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6" presetID="53" presetClass="entr" presetSubtype="16"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p:cTn id="13" dur="500" fill="hold"/>
                                        <p:tgtEl>
                                          <p:spTgt spid="6"/>
                                        </p:tgtEl>
                                        <p:attrNameLst>
                                          <p:attrName>ppt_w</p:attrName>
                                        </p:attrNameLst>
                                      </p:cBhvr>
                                      <p:tavLst>
                                        <p:tav tm="0">
                                          <p:val>
                                            <p:fltVal val="0"/>
                                          </p:val>
                                        </p:tav>
                                        <p:tav tm="100000">
                                          <p:val>
                                            <p:strVal val="#ppt_w"/>
                                          </p:val>
                                        </p:tav>
                                      </p:tavLst>
                                    </p:anim>
                                    <p:anim calcmode="lin" valueType="num">
                                      <p:cBhvr>
                                        <p:cTn id="14" dur="500" fill="hold"/>
                                        <p:tgtEl>
                                          <p:spTgt spid="6"/>
                                        </p:tgtEl>
                                        <p:attrNameLst>
                                          <p:attrName>ppt_h</p:attrName>
                                        </p:attrNameLst>
                                      </p:cBhvr>
                                      <p:tavLst>
                                        <p:tav tm="0">
                                          <p:val>
                                            <p:fltVal val="0"/>
                                          </p:val>
                                        </p:tav>
                                        <p:tav tm="100000">
                                          <p:val>
                                            <p:strVal val="#ppt_h"/>
                                          </p:val>
                                        </p:tav>
                                      </p:tavLst>
                                    </p:anim>
                                    <p:animEffect transition="in" filter="fade">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name="Slide 123">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Story So Far: Fleets ✓</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Solved: many servers, many copies  →  next problem: Round-robin wastes caches, overloads servers</a:t>
            </a:r>
            <a:endParaRPr lang="en-US" sz="1700" dirty="0"/>
          </a:p>
        </p:txBody>
      </p:sp>
      <p:pic>
        <p:nvPicPr>
          <p:cNvPr id="4" name="layer_0" descr="Story So Far: Fleets ✓ — illustration part 1">    </p:cNvPr>
          <p:cNvPicPr>
            <a:picLocks noChangeAspect="1"/>
          </p:cNvPicPr>
          <p:nvPr/>
        </p:nvPicPr>
        <p:blipFill>
          <a:blip r:embed="rId1"/>
          <a:stretch>
            <a:fillRect/>
          </a:stretch>
        </p:blipFill>
        <p:spPr>
          <a:xfrm>
            <a:off x="1231371" y="2229756"/>
            <a:ext cx="9144511" cy="2604556"/>
          </a:xfrm>
          <a:prstGeom prst="rect">
            <a:avLst/>
          </a:prstGeom>
        </p:spPr>
      </p:pic>
      <p:pic>
        <p:nvPicPr>
          <p:cNvPr id="5" name="layer_1" descr="Story So Far: Fleets ✓ — illustration part 2">    </p:cNvPr>
          <p:cNvPicPr>
            <a:picLocks noChangeAspect="1"/>
          </p:cNvPicPr>
          <p:nvPr/>
        </p:nvPicPr>
        <p:blipFill>
          <a:blip r:embed="rId2"/>
          <a:stretch>
            <a:fillRect/>
          </a:stretch>
        </p:blipFill>
        <p:spPr>
          <a:xfrm>
            <a:off x="6813805" y="3534553"/>
            <a:ext cx="1365379" cy="1566764"/>
          </a:xfrm>
          <a:prstGeom prst="rect">
            <a:avLst/>
          </a:prstGeom>
        </p:spPr>
      </p:pic>
      <p:pic>
        <p:nvPicPr>
          <p:cNvPr id="6" name="layer_2" descr="Story So Far: Fleets ✓ — illustration part 3">    </p:cNvPr>
          <p:cNvPicPr>
            <a:picLocks noChangeAspect="1"/>
          </p:cNvPicPr>
          <p:nvPr/>
        </p:nvPicPr>
        <p:blipFill>
          <a:blip r:embed="rId3"/>
          <a:stretch>
            <a:fillRect/>
          </a:stretch>
        </p:blipFill>
        <p:spPr>
          <a:xfrm>
            <a:off x="5115899" y="3816671"/>
            <a:ext cx="937123" cy="1037792"/>
          </a:xfrm>
          <a:prstGeom prst="rect">
            <a:avLst/>
          </a:prstGeom>
        </p:spPr>
      </p:pic>
      <p:pic>
        <p:nvPicPr>
          <p:cNvPr id="7" name="layer_3" descr="Story So Far: Fleets ✓ — illustration part 4">    </p:cNvPr>
          <p:cNvPicPr>
            <a:picLocks noChangeAspect="1"/>
          </p:cNvPicPr>
          <p:nvPr/>
        </p:nvPicPr>
        <p:blipFill>
          <a:blip r:embed="rId4"/>
          <a:stretch>
            <a:fillRect/>
          </a:stretch>
        </p:blipFill>
        <p:spPr>
          <a:xfrm>
            <a:off x="2294452" y="5121468"/>
            <a:ext cx="7582638" cy="584388"/>
          </a:xfrm>
          <a:prstGeom prst="rect">
            <a:avLst/>
          </a:prstGeom>
        </p:spPr>
      </p:pic>
      <p:sp>
        <p:nvSpPr>
          <p:cNvPr id="8"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9"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Up next — Chapter 8 · llm-d Smart Routing</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A fleet gives us capacity, but round-robin throws away caches and overloads busy servers because it can't see inside them. Next: llm-d, a router that can.</a:t>
            </a:r>
            <a:endParaRPr lang="en-US" sz="1200" dirty="0"/>
          </a:p>
        </p:txBody>
      </p:sp>
      <p:sp>
        <p:nvSpPr>
          <p:cNvPr id="10"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5"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123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ppt_w</p:attrName>
                                        </p:attrNameLst>
                                      </p:cBhvr>
                                      <p:tavLst>
                                        <p:tav tm="0">
                                          <p:val>
                                            <p:fltVal val="0"/>
                                          </p:val>
                                        </p:tav>
                                        <p:tav tm="100000">
                                          <p:val>
                                            <p:strVal val="#ppt_w"/>
                                          </p:val>
                                        </p:tav>
                                      </p:tavLst>
                                    </p:anim>
                                    <p:anim calcmode="lin" valueType="num">
                                      <p:cBhvr>
                                        <p:cTn id="7" dur="600" fill="hold"/>
                                        <p:tgtEl>
                                          <p:spTgt spid="5"/>
                                        </p:tgtEl>
                                        <p:attrNameLst>
                                          <p:attrName>ppt_h</p:attrName>
                                        </p:attrNameLst>
                                      </p:cBhvr>
                                      <p:tavLst>
                                        <p:tav tm="0">
                                          <p:val>
                                            <p:fltVal val="0"/>
                                          </p:val>
                                        </p:tav>
                                        <p:tav tm="100000">
                                          <p:val>
                                            <p:strVal val="#ppt_h"/>
                                          </p:val>
                                        </p:tav>
                                      </p:tavLst>
                                    </p:anim>
                                    <p:animEffect transition="in" filter="fade">
                                      <p:cBhvr>
                                        <p:cTn id="8" dur="600"/>
                                        <p:tgtEl>
                                          <p:spTgt spid="5"/>
                                        </p:tgtEl>
                                      </p:cBhvr>
                                    </p:animEffect>
                                  </p:childTnLst>
                                </p:cTn>
                              </p:par>
                            </p:childTnLst>
                          </p:cTn>
                        </p:par>
                        <p:par>
                          <p:cTn id="10" fill="hold">
                            <p:stCondLst>
                              <p:cond delay="600"/>
                            </p:stCondLst>
                            <p:childTnLst>
                              <p:par>
                                <p:cTn id="15" presetID="53" presetClass="entr" presetSubtype="16" fill="hold" grpId="0" nodeType="after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ppt_w</p:attrName>
                                        </p:attrNameLst>
                                      </p:cBhvr>
                                      <p:tavLst>
                                        <p:tav tm="0">
                                          <p:val>
                                            <p:fltVal val="0"/>
                                          </p:val>
                                        </p:tav>
                                        <p:tav tm="100000">
                                          <p:val>
                                            <p:strVal val="#ppt_w"/>
                                          </p:val>
                                        </p:tav>
                                      </p:tavLst>
                                    </p:anim>
                                    <p:anim calcmode="lin" valueType="num">
                                      <p:cBhvr>
                                        <p:cTn id="13" dur="600" fill="hold"/>
                                        <p:tgtEl>
                                          <p:spTgt spid="6"/>
                                        </p:tgtEl>
                                        <p:attrNameLst>
                                          <p:attrName>ppt_h</p:attrName>
                                        </p:attrNameLst>
                                      </p:cBhvr>
                                      <p:tavLst>
                                        <p:tav tm="0">
                                          <p:val>
                                            <p:fltVal val="0"/>
                                          </p:val>
                                        </p:tav>
                                        <p:tav tm="100000">
                                          <p:val>
                                            <p:strVal val="#ppt_h"/>
                                          </p:val>
                                        </p:tav>
                                      </p:tavLst>
                                    </p:anim>
                                    <p:animEffect transition="in" filter="fade">
                                      <p:cBhvr>
                                        <p:cTn id="14" dur="600"/>
                                        <p:tgtEl>
                                          <p:spTgt spid="6"/>
                                        </p:tgtEl>
                                      </p:cBhvr>
                                    </p:animEffect>
                                  </p:childTnLst>
                                </p:cTn>
                              </p:par>
                            </p:childTnLst>
                          </p:cTn>
                        </p:par>
                        <p:par>
                          <p:cTn id="16" fill="hold">
                            <p:stCondLst>
                              <p:cond delay="1200"/>
                            </p:stCondLst>
                            <p:childTnLst>
                              <p:par>
                                <p:cTn id="20" presetID="2" presetClass="entr" presetSubtype="4" fill="hold" grpId="0" nodeType="after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additive="base">
                                        <p:cTn id="18" dur="600" fill="hold"/>
                                        <p:tgtEl>
                                          <p:spTgt spid="7"/>
                                        </p:tgtEl>
                                        <p:attrNameLst>
                                          <p:attrName>ppt_y</p:attrName>
                                        </p:attrNameLst>
                                      </p:cBhvr>
                                      <p:tavLst>
                                        <p:tav tm="0">
                                          <p:val>
                                            <p:strVal val="#ppt_y+0.08"/>
                                          </p:val>
                                        </p:tav>
                                        <p:tav tm="100000">
                                          <p:val>
                                            <p:strVal val="#ppt_y"/>
                                          </p:val>
                                        </p:tav>
                                      </p:tavLst>
                                    </p:anim>
                                    <p:animEffect transition="in" filter="fade">
                                      <p:cBhvr>
                                        <p:cTn id="19" dur="6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r="http://schemas.openxmlformats.org/officeDocument/2006/relationships" xmlns:p="http://schemas.openxmlformats.org/presentationml/2006/main">
  <p:cSld name="Slide 124">
    <p:spTree>
      <p:nvGrpSpPr>
        <p:cNvPr id="1" name=""/>
        <p:cNvGrpSpPr/>
        <p:nvPr/>
      </p:nvGrpSpPr>
      <p:grpSpPr>
        <a:xfrm>
          <a:off x="0" y="0"/>
          <a:ext cx="0" cy="0"/>
          <a:chOff x="0" y="0"/>
          <a:chExt cx="0" cy="0"/>
        </a:xfrm>
      </p:grpSpPr>
      <p:sp>
        <p:nvSpPr>
          <p:cNvPr id="2" name="Text 0"/>
          <p:cNvSpPr/>
          <p:nvPr>
            <p:ph idx="100" type="title" hasCustomPrompt="1"/>
          </p:nvPr>
        </p:nvSpPr>
        <p:spPr>
          <a:xfrm>
            <a:off x="731520" y="2834640"/>
            <a:ext cx="5669280" cy="1371600"/>
          </a:xfrm>
          <a:prstGeom prst="rect">
            <a:avLst/>
          </a:prstGeom>
          <a:noFill/>
          <a:ln/>
        </p:spPr>
        <p:txBody>
          <a:bodyPr wrap="square" lIns="0" tIns="0" rIns="0" bIns="0" rtlCol="0" anchor="t"/>
          <a:lstStyle/>
          <a:p>
            <a:pPr algn="l" indent="0" marL="0">
              <a:buNone/>
            </a:pPr>
            <a:r>
              <a:rPr lang="en-US" sz="4000" b="1" dirty="0">
                <a:solidFill>
                  <a:srgbClr val="FFFFFF"/>
                </a:solidFill>
                <a:latin typeface="Calibri" pitchFamily="34" charset="0"/>
                <a:ea typeface="Calibri" pitchFamily="34" charset="-122"/>
                <a:cs typeface="Calibri" pitchFamily="34" charset="-120"/>
              </a:rPr>
              <a:t>llm-d: Smart Routing for LLMs</a:t>
            </a:r>
            <a:endParaRPr lang="en-US" sz="4000" dirty="0"/>
          </a:p>
        </p:txBody>
      </p:sp>
      <p:sp>
        <p:nvSpPr>
          <p:cNvPr id="3" name="Text 0"/>
          <p:cNvSpPr/>
          <p:nvPr>
            <p:ph idx="101" type="body" hasCustomPrompt="1"/>
          </p:nvPr>
        </p:nvSpPr>
        <p:spPr>
          <a:xfrm>
            <a:off x="731520" y="4251960"/>
            <a:ext cx="5120640" cy="822960"/>
          </a:xfrm>
          <a:prstGeom prst="rect">
            <a:avLst/>
          </a:prstGeom>
          <a:noFill/>
          <a:ln/>
        </p:spPr>
        <p:txBody>
          <a:bodyPr wrap="square" lIns="0" tIns="0" rIns="0" bIns="0" rtlCol="0" anchor="t"/>
          <a:lstStyle/>
          <a:p>
            <a:pPr algn="l" indent="0" marL="0">
              <a:buNone/>
            </a:pPr>
            <a:r>
              <a:rPr lang="en-US" sz="2000" dirty="0">
                <a:solidFill>
                  <a:srgbClr val="22D3EE"/>
                </a:solidFill>
                <a:latin typeface="Calibri" pitchFamily="34" charset="0"/>
                <a:ea typeface="Calibri" pitchFamily="34" charset="-122"/>
                <a:cs typeface="Calibri" pitchFamily="34" charset="-120"/>
              </a:rPr>
              <a:t>A router that can see inside every server</a:t>
            </a:r>
            <a:endParaRPr lang="en-US" sz="2000" dirty="0"/>
          </a:p>
        </p:txBody>
      </p:sp>
      <p:sp>
        <p:nvSpPr>
          <p:cNvPr id="4" name="Text 2"/>
          <p:cNvSpPr txBox="1"/>
          <p:nvPr/>
        </p:nvSpPr>
        <p:spPr>
          <a:xfrm>
            <a:off x="731520" y="1371600"/>
            <a:ext cx="2743200" cy="1371600"/>
          </a:xfrm>
          <a:prstGeom prst="rect">
            <a:avLst/>
          </a:prstGeom>
          <a:noFill/>
          <a:ln/>
        </p:spPr>
        <p:txBody>
          <a:bodyPr wrap="square" lIns="0" tIns="0" rIns="0" bIns="0" rtlCol="0" anchor="ctr"/>
          <a:lstStyle/>
          <a:p>
            <a:pPr indent="0" marL="0">
              <a:buNone/>
            </a:pPr>
            <a:r>
              <a:rPr lang="en-US" sz="9600" b="1" dirty="0">
                <a:solidFill>
                  <a:srgbClr val="22D3EE">
                    <a:alpha val="80000"/>
                  </a:srgbClr>
                </a:solidFill>
                <a:latin typeface="Calibri" pitchFamily="34" charset="0"/>
                <a:ea typeface="Calibri" pitchFamily="34" charset="-122"/>
                <a:cs typeface="Calibri" pitchFamily="34" charset="-120"/>
              </a:rPr>
              <a:t>08</a:t>
            </a:r>
            <a:endParaRPr lang="en-US" sz="9600" dirty="0"/>
          </a:p>
        </p:txBody>
      </p:sp>
      <p:pic>
        <p:nvPicPr>
          <p:cNvPr id="5" name="layer_0" descr="llm-d: Smart Routing for LLMs — illustration part 1">    </p:cNvPr>
          <p:cNvPicPr>
            <a:picLocks noChangeAspect="1"/>
          </p:cNvPicPr>
          <p:nvPr/>
        </p:nvPicPr>
        <p:blipFill>
          <a:blip r:embed="rId1"/>
          <a:stretch>
            <a:fillRect/>
          </a:stretch>
        </p:blipFill>
        <p:spPr>
          <a:xfrm>
            <a:off x="7125524" y="1604513"/>
            <a:ext cx="3847833" cy="3038062"/>
          </a:xfrm>
          <a:prstGeom prst="rect">
            <a:avLst/>
          </a:prstGeom>
        </p:spPr>
      </p:pic>
      <p:sp>
        <p:nvSpPr>
          <p:cNvPr id="6" name="nav_agenda"/>
          <p:cNvSpPr txBox="1"/>
          <p:nvPr/>
        </p:nvSpPr>
        <p:spPr>
          <a:xfrm>
            <a:off x="731520" y="5669280"/>
            <a:ext cx="1371600" cy="384048"/>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1300" u="sng" dirty="0">
                <a:solidFill>
                  <a:srgbClr val="22D3EE"/>
                </a:solidFill>
                <a:latin typeface="Calibri" pitchFamily="34" charset="0"/>
                <a:ea typeface="Calibri" pitchFamily="34" charset="-122"/>
                <a:cs typeface="Calibri" pitchFamily="34" charset="-120"/>
                <a:hlinkClick r:id="rId2" action="ppaction://hlinksldjump" tooltip="Back to agenda">
                  <a:extLst>
                    <a:ext uri="{A12FA001-AC4F-418D-AE19-62706E023703}">
                      <ahyp:hlinkClr xmlns:ahyp="http://schemas.microsoft.com/office/drawing/2018/hyperlinkcolor" val="tx"/>
                    </a:ext>
                  </a:extLst>
                </a:hlinkClick>
              </a:rPr>
              <a:t>⌂ Agenda</a:t>
            </a:r>
            <a:endParaRPr lang="en-US" sz="13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124</a:t>
            </a:fld>
            <a:endParaRPr lang="en-US"/>
          </a:p>
        </p:txBody>
      </p:sp>
    </p:spTree>
  </p:cSld>
  <p:clrMapOvr>
    <a:masterClrMapping/>
  </p:clrMapOvr>
  <p:transition spd="med">
    <p:fade/>
  </p:transition>
</p:sld>
</file>

<file path=ppt/slides/slide125.xml><?xml version="1.0" encoding="utf-8"?>
<p:sld xmlns:a="http://schemas.openxmlformats.org/drawingml/2006/main" xmlns:r="http://schemas.openxmlformats.org/officeDocument/2006/relationships" xmlns:p="http://schemas.openxmlformats.org/presentationml/2006/main">
  <p:cSld name="Slide 125">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llm-d: A Smart Router in Front of the Fleet</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It doesn't just pick whichever server is free — it thinks first</a:t>
            </a:r>
            <a:endParaRPr lang="en-US" sz="1700" dirty="0"/>
          </a:p>
        </p:txBody>
      </p:sp>
      <p:pic>
        <p:nvPicPr>
          <p:cNvPr id="4" name="layer_0" descr="llm-d: A Smart Router in Front of the Fleet — illustration part 1">    </p:cNvPr>
          <p:cNvPicPr>
            <a:picLocks noChangeAspect="1"/>
          </p:cNvPicPr>
          <p:nvPr/>
        </p:nvPicPr>
        <p:blipFill>
          <a:blip r:embed="rId1"/>
          <a:stretch>
            <a:fillRect/>
          </a:stretch>
        </p:blipFill>
        <p:spPr>
          <a:xfrm>
            <a:off x="1135643" y="2829257"/>
            <a:ext cx="3919796" cy="1763239"/>
          </a:xfrm>
          <a:prstGeom prst="rect">
            <a:avLst/>
          </a:prstGeom>
        </p:spPr>
      </p:pic>
      <p:pic>
        <p:nvPicPr>
          <p:cNvPr id="5" name="layer_1" descr="llm-d: A Smart Router in Front of the Fleet — illustration part 2">    </p:cNvPr>
          <p:cNvPicPr>
            <a:picLocks noChangeAspect="1"/>
          </p:cNvPicPr>
          <p:nvPr/>
        </p:nvPicPr>
        <p:blipFill>
          <a:blip r:embed="rId2"/>
          <a:stretch>
            <a:fillRect/>
          </a:stretch>
        </p:blipFill>
        <p:spPr>
          <a:xfrm>
            <a:off x="4894214" y="2164264"/>
            <a:ext cx="3486502" cy="2594481"/>
          </a:xfrm>
          <a:prstGeom prst="rect">
            <a:avLst/>
          </a:prstGeom>
        </p:spPr>
      </p:pic>
      <p:pic>
        <p:nvPicPr>
          <p:cNvPr id="6" name="layer_2" descr="llm-d: A Smart Router in Front of the Fleet — illustration part 3">    </p:cNvPr>
          <p:cNvPicPr>
            <a:picLocks noChangeAspect="1"/>
          </p:cNvPicPr>
          <p:nvPr/>
        </p:nvPicPr>
        <p:blipFill>
          <a:blip r:embed="rId3"/>
          <a:stretch>
            <a:fillRect/>
          </a:stretch>
        </p:blipFill>
        <p:spPr>
          <a:xfrm>
            <a:off x="8617516" y="2829257"/>
            <a:ext cx="2257157" cy="1763239"/>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Three signals decide where each request goes: saved work, free memory, queue length</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llm-d is a smart router in front of the fleet. Before sending a request anywhere, it checks each server's cached work, free memory and queue length.</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125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p:cSld name="Slide 126">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Signal 1: Cache-Aware Routing</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llm-d tracks which server holds which saved work</a:t>
            </a:r>
            <a:endParaRPr lang="en-US" sz="1700" dirty="0"/>
          </a:p>
        </p:txBody>
      </p:sp>
      <p:pic>
        <p:nvPicPr>
          <p:cNvPr id="4" name="layer_0" descr="Signal 1: Cache-Aware Routing — illustration part 1">    </p:cNvPr>
          <p:cNvPicPr>
            <a:picLocks noChangeAspect="1"/>
          </p:cNvPicPr>
          <p:nvPr/>
        </p:nvPicPr>
        <p:blipFill>
          <a:blip r:embed="rId1"/>
          <a:stretch>
            <a:fillRect/>
          </a:stretch>
        </p:blipFill>
        <p:spPr>
          <a:xfrm>
            <a:off x="1100375" y="1831767"/>
            <a:ext cx="9608034" cy="3385419"/>
          </a:xfrm>
          <a:prstGeom prst="rect">
            <a:avLst/>
          </a:prstGeom>
        </p:spPr>
      </p:pic>
      <p:pic>
        <p:nvPicPr>
          <p:cNvPr id="5" name="layer_1" descr="Signal 1: Cache-Aware Routing — illustration part 2">    </p:cNvPr>
          <p:cNvPicPr>
            <a:picLocks noChangeAspect="1"/>
          </p:cNvPicPr>
          <p:nvPr/>
        </p:nvPicPr>
        <p:blipFill>
          <a:blip r:embed="rId2"/>
          <a:stretch>
            <a:fillRect/>
          </a:stretch>
        </p:blipFill>
        <p:spPr>
          <a:xfrm>
            <a:off x="1886350" y="2859484"/>
            <a:ext cx="4378281" cy="937036"/>
          </a:xfrm>
          <a:prstGeom prst="rect">
            <a:avLst/>
          </a:prstGeom>
        </p:spPr>
      </p:pic>
      <p:pic>
        <p:nvPicPr>
          <p:cNvPr id="6" name="layer_2" descr="Signal 1: Cache-Aware Routing — illustration part 3">    </p:cNvPr>
          <p:cNvPicPr>
            <a:picLocks noChangeAspect="1"/>
          </p:cNvPicPr>
          <p:nvPr/>
        </p:nvPicPr>
        <p:blipFill>
          <a:blip r:embed="rId3"/>
          <a:stretch>
            <a:fillRect/>
          </a:stretch>
        </p:blipFill>
        <p:spPr>
          <a:xfrm>
            <a:off x="3957090" y="3494250"/>
            <a:ext cx="685209" cy="518896"/>
          </a:xfrm>
          <a:prstGeom prst="rect">
            <a:avLst/>
          </a:prstGeom>
        </p:spPr>
      </p:pic>
      <p:pic>
        <p:nvPicPr>
          <p:cNvPr id="7" name="layer_3" descr="Signal 1: Cache-Aware Routing — illustration part 4">    </p:cNvPr>
          <p:cNvPicPr>
            <a:picLocks noChangeAspect="1"/>
          </p:cNvPicPr>
          <p:nvPr/>
        </p:nvPicPr>
        <p:blipFill>
          <a:blip r:embed="rId4"/>
          <a:stretch>
            <a:fillRect/>
          </a:stretch>
        </p:blipFill>
        <p:spPr>
          <a:xfrm>
            <a:off x="8526826" y="4229773"/>
            <a:ext cx="2473804" cy="1249381"/>
          </a:xfrm>
          <a:prstGeom prst="rect">
            <a:avLst/>
          </a:prstGeom>
        </p:spPr>
      </p:pic>
      <p:sp>
        <p:nvSpPr>
          <p:cNvPr id="8"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9"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Back to the server that has your conversation — llm-d benchmark: ~3× throughput, ~2× faster TTFT vs round-robin</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llm-d remembers which server holds which conversation and sends your next message back there, skipping the re-read. In an llm-d benchmark (Llama 3.1 70B, vs round-robin) that gave ~3× throughput and a ~2× faster first token.</a:t>
            </a:r>
            <a:endParaRPr lang="en-US" sz="1200" dirty="0"/>
          </a:p>
        </p:txBody>
      </p:sp>
      <p:sp>
        <p:nvSpPr>
          <p:cNvPr id="10"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5"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126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22" presetClass="entr" presetSubtype="8"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wipe(left)">
                                      <p:cBhvr>
                                        <p:cTn id="6" dur="800"/>
                                        <p:tgtEl>
                                          <p:spTgt spid="5"/>
                                        </p:tgtEl>
                                      </p:cBhvr>
                                    </p:animEffect>
                                  </p:childTnLst>
                                </p:cTn>
                              </p:par>
                            </p:childTnLst>
                          </p:cTn>
                        </p:par>
                        <p:par>
                          <p:cTn id="8" fill="hold">
                            <p:stCondLst>
                              <p:cond delay="800"/>
                            </p:stCondLst>
                            <p:childTnLst>
                              <p:par>
                                <p:cTn id="10" presetID="1" presetClass="entr" presetSubtype="0" fill="hold" grpId="0" nodeType="afterEffect">
                                  <p:stCondLst>
                                    <p:cond delay="0"/>
                                  </p:stCondLst>
                                  <p:childTnLst>
                                    <p:set>
                                      <p:cBhvr>
                                        <p:cTn id="9" dur="1" fill="hold">
                                          <p:stCondLst>
                                            <p:cond delay="0"/>
                                          </p:stCondLst>
                                        </p:cTn>
                                        <p:tgtEl>
                                          <p:spTgt spid="6"/>
                                        </p:tgtEl>
                                        <p:attrNameLst>
                                          <p:attrName>style.visibility</p:attrName>
                                        </p:attrNameLst>
                                      </p:cBhvr>
                                      <p:to>
                                        <p:strVal val="visible"/>
                                      </p:to>
                                    </p:set>
                                  </p:childTnLst>
                                </p:cTn>
                              </p:par>
                            </p:childTnLst>
                          </p:cTn>
                        </p:par>
                        <p:par>
                          <p:cTn id="11" fill="hold">
                            <p:stCondLst>
                              <p:cond delay="801"/>
                            </p:stCondLst>
                            <p:childTnLst>
                              <p:par>
                                <p:cTn id="14" presetID="0" presetClass="path" presetSubtype="0" fill="hold" grpId="0" nodeType="afterEffect">
                                  <p:stCondLst>
                                    <p:cond delay="0"/>
                                  </p:stCondLst>
                                  <p:childTnLst>
                                    <p:animMotion origin="layout" path="M 0 0 L 0.1499 -0.0606 E" pathEditMode="relative" ptsTypes="">
                                      <p:cBhvr>
                                        <p:cTn id="13" dur="1200" fill="hold"/>
                                        <p:tgtEl>
                                          <p:spTgt spid="6"/>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21" presetID="53" presetClass="entr" presetSubtype="16"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p:cTn id="18" dur="600" fill="hold"/>
                                        <p:tgtEl>
                                          <p:spTgt spid="7"/>
                                        </p:tgtEl>
                                        <p:attrNameLst>
                                          <p:attrName>ppt_w</p:attrName>
                                        </p:attrNameLst>
                                      </p:cBhvr>
                                      <p:tavLst>
                                        <p:tav tm="0">
                                          <p:val>
                                            <p:fltVal val="0"/>
                                          </p:val>
                                        </p:tav>
                                        <p:tav tm="100000">
                                          <p:val>
                                            <p:strVal val="#ppt_w"/>
                                          </p:val>
                                        </p:tav>
                                      </p:tavLst>
                                    </p:anim>
                                    <p:anim calcmode="lin" valueType="num">
                                      <p:cBhvr>
                                        <p:cTn id="19" dur="600" fill="hold"/>
                                        <p:tgtEl>
                                          <p:spTgt spid="7"/>
                                        </p:tgtEl>
                                        <p:attrNameLst>
                                          <p:attrName>ppt_h</p:attrName>
                                        </p:attrNameLst>
                                      </p:cBhvr>
                                      <p:tavLst>
                                        <p:tav tm="0">
                                          <p:val>
                                            <p:fltVal val="0"/>
                                          </p:val>
                                        </p:tav>
                                        <p:tav tm="100000">
                                          <p:val>
                                            <p:strVal val="#ppt_h"/>
                                          </p:val>
                                        </p:tav>
                                      </p:tavLst>
                                    </p:anim>
                                    <p:animEffect transition="in" filter="fade">
                                      <p:cBhvr>
                                        <p:cTn id="20" dur="6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r="http://schemas.openxmlformats.org/officeDocument/2006/relationships" xmlns:p="http://schemas.openxmlformats.org/presentationml/2006/main">
  <p:cSld name="Slide 127">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Signal 2: Load-Aware Routing</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Look inside each server — at what a plain load balancer never checks</a:t>
            </a:r>
            <a:endParaRPr lang="en-US" sz="1700" dirty="0"/>
          </a:p>
        </p:txBody>
      </p:sp>
      <p:pic>
        <p:nvPicPr>
          <p:cNvPr id="4" name="layer_0" descr="Signal 2: Load-Aware Routing — illustration part 1">    </p:cNvPr>
          <p:cNvPicPr>
            <a:picLocks noChangeAspect="1"/>
          </p:cNvPicPr>
          <p:nvPr/>
        </p:nvPicPr>
        <p:blipFill>
          <a:blip r:embed="rId1"/>
          <a:stretch>
            <a:fillRect/>
          </a:stretch>
        </p:blipFill>
        <p:spPr>
          <a:xfrm>
            <a:off x="1715048" y="1912373"/>
            <a:ext cx="7491949" cy="3365268"/>
          </a:xfrm>
          <a:prstGeom prst="rect">
            <a:avLst/>
          </a:prstGeom>
        </p:spPr>
      </p:pic>
      <p:pic>
        <p:nvPicPr>
          <p:cNvPr id="5" name="layer_1" descr="Signal 2: Load-Aware Routing — illustration part 2">    </p:cNvPr>
          <p:cNvPicPr>
            <a:picLocks noChangeAspect="1"/>
          </p:cNvPicPr>
          <p:nvPr/>
        </p:nvPicPr>
        <p:blipFill>
          <a:blip r:embed="rId2"/>
          <a:stretch>
            <a:fillRect/>
          </a:stretch>
        </p:blipFill>
        <p:spPr>
          <a:xfrm>
            <a:off x="3211422" y="2275096"/>
            <a:ext cx="7360953" cy="2045358"/>
          </a:xfrm>
          <a:prstGeom prst="rect">
            <a:avLst/>
          </a:prstGeom>
        </p:spPr>
      </p:pic>
      <p:sp>
        <p:nvSpPr>
          <p:cNvPr id="6"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7"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Send the request to a server that genuinely has room, not one that's already full</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llm-d also looks inside each server at memory use and queue length, and sends work to one with real room instead of one that's already full.</a:t>
            </a:r>
            <a:endParaRPr lang="en-US" sz="1200" dirty="0"/>
          </a:p>
        </p:txBody>
      </p:sp>
      <p:sp>
        <p:nvSpPr>
          <p:cNvPr id="8"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3"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127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r="http://schemas.openxmlformats.org/officeDocument/2006/relationships" xmlns:p="http://schemas.openxmlformats.org/presentationml/2006/main">
  <p:cSld name="Slide 128">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How the Scheduler Picks a Server (Illustrative)</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A worked scoring example with three servers</a:t>
            </a:r>
            <a:endParaRPr lang="en-US" sz="1700" dirty="0"/>
          </a:p>
        </p:txBody>
      </p:sp>
      <p:pic>
        <p:nvPicPr>
          <p:cNvPr id="4" name="layer_0" descr="How the Scheduler Picks a Server (Illustrative) — illustration part 1">    </p:cNvPr>
          <p:cNvPicPr>
            <a:picLocks noChangeAspect="1"/>
          </p:cNvPicPr>
          <p:nvPr/>
        </p:nvPicPr>
        <p:blipFill>
          <a:blip r:embed="rId1"/>
          <a:stretch>
            <a:fillRect/>
          </a:stretch>
        </p:blipFill>
        <p:spPr>
          <a:xfrm>
            <a:off x="1301907" y="1932524"/>
            <a:ext cx="9567728" cy="2614632"/>
          </a:xfrm>
          <a:prstGeom prst="rect">
            <a:avLst/>
          </a:prstGeom>
        </p:spPr>
      </p:pic>
      <p:pic>
        <p:nvPicPr>
          <p:cNvPr id="5" name="layer_1" descr="How the Scheduler Picks a Server (Illustrative) — illustration part 2">    </p:cNvPr>
          <p:cNvPicPr>
            <a:picLocks noChangeAspect="1"/>
          </p:cNvPicPr>
          <p:nvPr/>
        </p:nvPicPr>
        <p:blipFill>
          <a:blip r:embed="rId2"/>
          <a:stretch>
            <a:fillRect/>
          </a:stretch>
        </p:blipFill>
        <p:spPr>
          <a:xfrm>
            <a:off x="3690060" y="2597517"/>
            <a:ext cx="6000613" cy="2730502"/>
          </a:xfrm>
          <a:prstGeom prst="rect">
            <a:avLst/>
          </a:prstGeom>
        </p:spPr>
      </p:pic>
      <p:pic>
        <p:nvPicPr>
          <p:cNvPr id="6" name="layer_2" descr="How the Scheduler Picks a Server (Illustrative) — illustration part 3">    </p:cNvPr>
          <p:cNvPicPr>
            <a:picLocks noChangeAspect="1"/>
          </p:cNvPicPr>
          <p:nvPr/>
        </p:nvPicPr>
        <p:blipFill>
          <a:blip r:embed="rId3"/>
          <a:stretch>
            <a:fillRect/>
          </a:stretch>
        </p:blipFill>
        <p:spPr>
          <a:xfrm>
            <a:off x="1211218" y="3388456"/>
            <a:ext cx="9824681" cy="1193965"/>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Each server gets a score from cache hits, free memory and queue — the highest score wins</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Here we weight cache hit 50%, free memory 30% and short queue 20% (illustrative; in llm-d these weights are tunable). Server A has your cache but is full; B is empty but has no cache; C has both — C wins.</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128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5" presetID="53" presetClass="entr" presetSubtype="16"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ppt_w</p:attrName>
                                        </p:attrNameLst>
                                      </p:cBhvr>
                                      <p:tavLst>
                                        <p:tav tm="0">
                                          <p:val>
                                            <p:fltVal val="0"/>
                                          </p:val>
                                        </p:tav>
                                        <p:tav tm="100000">
                                          <p:val>
                                            <p:strVal val="#ppt_w"/>
                                          </p:val>
                                        </p:tav>
                                      </p:tavLst>
                                    </p:anim>
                                    <p:anim calcmode="lin" valueType="num">
                                      <p:cBhvr>
                                        <p:cTn id="13" dur="600" fill="hold"/>
                                        <p:tgtEl>
                                          <p:spTgt spid="6"/>
                                        </p:tgtEl>
                                        <p:attrNameLst>
                                          <p:attrName>ppt_h</p:attrName>
                                        </p:attrNameLst>
                                      </p:cBhvr>
                                      <p:tavLst>
                                        <p:tav tm="0">
                                          <p:val>
                                            <p:fltVal val="0"/>
                                          </p:val>
                                        </p:tav>
                                        <p:tav tm="100000">
                                          <p:val>
                                            <p:strVal val="#ppt_h"/>
                                          </p:val>
                                        </p:tav>
                                      </p:tavLst>
                                    </p:anim>
                                    <p:animEffect transition="in" filter="fade">
                                      <p:cBhvr>
                                        <p:cTn id="14"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p:cSld name="Slide 129">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Signal 3: Two Halves Fighting Over One GPU</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Prefill (compute) and decode (memory) take turns on a shared GPU</a:t>
            </a:r>
            <a:endParaRPr lang="en-US" sz="1700" dirty="0"/>
          </a:p>
        </p:txBody>
      </p:sp>
      <p:pic>
        <p:nvPicPr>
          <p:cNvPr id="4" name="layer_0" descr="Signal 3: Two Halves Fighting Over One GPU — illustration part 1">    </p:cNvPr>
          <p:cNvPicPr>
            <a:picLocks noChangeAspect="1"/>
          </p:cNvPicPr>
          <p:nvPr/>
        </p:nvPicPr>
        <p:blipFill>
          <a:blip r:embed="rId1"/>
          <a:stretch>
            <a:fillRect/>
          </a:stretch>
        </p:blipFill>
        <p:spPr>
          <a:xfrm>
            <a:off x="1473209" y="3267548"/>
            <a:ext cx="9396426" cy="1158700"/>
          </a:xfrm>
          <a:prstGeom prst="rect">
            <a:avLst/>
          </a:prstGeom>
        </p:spPr>
      </p:pic>
      <p:pic>
        <p:nvPicPr>
          <p:cNvPr id="5" name="layer_1" descr="Signal 3: Two Halves Fighting Over One GPU — illustration part 2">    </p:cNvPr>
          <p:cNvPicPr>
            <a:picLocks noChangeAspect="1"/>
          </p:cNvPicPr>
          <p:nvPr/>
        </p:nvPicPr>
        <p:blipFill>
          <a:blip r:embed="rId2"/>
          <a:stretch>
            <a:fillRect/>
          </a:stretch>
        </p:blipFill>
        <p:spPr>
          <a:xfrm>
            <a:off x="4788409" y="2829257"/>
            <a:ext cx="3426043" cy="1430743"/>
          </a:xfrm>
          <a:prstGeom prst="rect">
            <a:avLst/>
          </a:prstGeom>
        </p:spPr>
      </p:pic>
      <p:pic>
        <p:nvPicPr>
          <p:cNvPr id="6" name="layer_2" descr="Signal 3: Two Halves Fighting Over One GPU — illustration part 3">    </p:cNvPr>
          <p:cNvPicPr>
            <a:picLocks noChangeAspect="1"/>
          </p:cNvPicPr>
          <p:nvPr/>
        </p:nvPicPr>
        <p:blipFill>
          <a:blip r:embed="rId3"/>
          <a:stretch>
            <a:fillRect/>
          </a:stretch>
        </p:blipFill>
        <p:spPr>
          <a:xfrm>
            <a:off x="5448426" y="2174340"/>
            <a:ext cx="4967762" cy="2921939"/>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Someone pastes 50 pages → one giant prefill → everyone's answer stalls mid-stream</a:t>
            </a:r>
            <a:endParaRPr lang="en-US" sz="1200" dirty="0"/>
          </a:p>
          <a:p>
            <a:pPr indent="0" marL="0">
              <a:spcAft>
                <a:spcPts val="200"/>
              </a:spcAft>
              <a:buNone/>
            </a:pPr>
            <a:r>
              <a:rPr lang="en-US" sz="1200" dirty="0">
                <a:solidFill>
                  <a:srgbClr val="C9D6EA"/>
                </a:solidFill>
                <a:latin typeface="Calibri" pitchFamily="34" charset="0"/>
                <a:ea typeface="Calibri" pitchFamily="34" charset="-122"/>
                <a:cs typeface="Calibri" pitchFamily="34" charset="-120"/>
              </a:rPr>
              <a:t>Prefill and decode take turns on a shared GPU, so one huge 50-page prefill pauses every other user's stream mid-answer.</a:t>
            </a:r>
            <a:endParaRPr lang="en-US" sz="1200" dirty="0"/>
          </a:p>
          <a:p>
            <a:pPr indent="0" marL="0">
              <a:spcAft>
                <a:spcPts val="200"/>
              </a:spcAft>
              <a:buNone/>
            </a:pPr>
            <a:r>
              <a:rPr lang="en-US" sz="1200" b="1" dirty="0">
                <a:solidFill>
                  <a:srgbClr val="5EE6A8"/>
                </a:solidFill>
                <a:latin typeface="Calibri" pitchFamily="34" charset="0"/>
                <a:ea typeface="Calibri" pitchFamily="34" charset="-122"/>
                <a:cs typeface="Calibri" pitchFamily="34" charset="-120"/>
              </a:rPr>
              <a:t>➜ Coming up:  Next slide: split the two phases onto separate pools.</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129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0.xml><?xml version="1.0" encoding="utf-8"?>
<p:sld xmlns:a="http://schemas.openxmlformats.org/drawingml/2006/main" xmlns:r="http://schemas.openxmlformats.org/officeDocument/2006/relationships" xmlns:p="http://schemas.openxmlformats.org/presentationml/2006/main">
  <p:cSld name="Slide 130">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Disaggregation: Split Prefill and Decode</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One pool only reads prompts, another only writes answers</a:t>
            </a:r>
            <a:endParaRPr lang="en-US" sz="1700" dirty="0"/>
          </a:p>
        </p:txBody>
      </p:sp>
      <p:pic>
        <p:nvPicPr>
          <p:cNvPr id="4" name="layer_0" descr="Disaggregation: Split Prefill and Decode — illustration part 1">    </p:cNvPr>
          <p:cNvPicPr>
            <a:picLocks noChangeAspect="1"/>
          </p:cNvPicPr>
          <p:nvPr/>
        </p:nvPicPr>
        <p:blipFill>
          <a:blip r:embed="rId1"/>
          <a:stretch>
            <a:fillRect/>
          </a:stretch>
        </p:blipFill>
        <p:spPr>
          <a:xfrm>
            <a:off x="1296869" y="2164264"/>
            <a:ext cx="3426043" cy="2926977"/>
          </a:xfrm>
          <a:prstGeom prst="rect">
            <a:avLst/>
          </a:prstGeom>
        </p:spPr>
      </p:pic>
      <p:pic>
        <p:nvPicPr>
          <p:cNvPr id="5" name="layer_1" descr="Disaggregation: Split Prefill and Decode — illustration part 2">    </p:cNvPr>
          <p:cNvPicPr>
            <a:picLocks noChangeAspect="1"/>
          </p:cNvPicPr>
          <p:nvPr/>
        </p:nvPicPr>
        <p:blipFill>
          <a:blip r:embed="rId2"/>
          <a:stretch>
            <a:fillRect/>
          </a:stretch>
        </p:blipFill>
        <p:spPr>
          <a:xfrm>
            <a:off x="7448631" y="2164264"/>
            <a:ext cx="3426043" cy="2926977"/>
          </a:xfrm>
          <a:prstGeom prst="rect">
            <a:avLst/>
          </a:prstGeom>
        </p:spPr>
      </p:pic>
      <p:pic>
        <p:nvPicPr>
          <p:cNvPr id="6" name="layer_2" descr="Disaggregation: Split Prefill and Decode — illustration part 3">    </p:cNvPr>
          <p:cNvPicPr>
            <a:picLocks noChangeAspect="1"/>
          </p:cNvPicPr>
          <p:nvPr/>
        </p:nvPicPr>
        <p:blipFill>
          <a:blip r:embed="rId3"/>
          <a:stretch>
            <a:fillRect/>
          </a:stretch>
        </p:blipFill>
        <p:spPr>
          <a:xfrm>
            <a:off x="4697720" y="3101300"/>
            <a:ext cx="2720681" cy="1093208"/>
          </a:xfrm>
          <a:prstGeom prst="rect">
            <a:avLst/>
          </a:prstGeom>
        </p:spPr>
      </p:pic>
      <p:pic>
        <p:nvPicPr>
          <p:cNvPr id="7" name="layer_3" descr="Disaggregation: Split Prefill and Decode — illustration part 4">    </p:cNvPr>
          <p:cNvPicPr>
            <a:picLocks noChangeAspect="1"/>
          </p:cNvPicPr>
          <p:nvPr/>
        </p:nvPicPr>
        <p:blipFill>
          <a:blip r:embed="rId4"/>
          <a:stretch>
            <a:fillRect/>
          </a:stretch>
        </p:blipFill>
        <p:spPr>
          <a:xfrm>
            <a:off x="4622145" y="3287699"/>
            <a:ext cx="765821" cy="680107"/>
          </a:xfrm>
          <a:prstGeom prst="rect">
            <a:avLst/>
          </a:prstGeom>
        </p:spPr>
      </p:pic>
      <p:pic>
        <p:nvPicPr>
          <p:cNvPr id="8" name="layer_4" descr="Disaggregation: Split Prefill and Decode — illustration part 5">    </p:cNvPr>
          <p:cNvPicPr>
            <a:picLocks noChangeAspect="1"/>
          </p:cNvPicPr>
          <p:nvPr/>
        </p:nvPicPr>
        <p:blipFill>
          <a:blip r:embed="rId5"/>
          <a:stretch>
            <a:fillRect/>
          </a:stretch>
        </p:blipFill>
        <p:spPr>
          <a:xfrm>
            <a:off x="5554231" y="4683177"/>
            <a:ext cx="1042928" cy="1012603"/>
          </a:xfrm>
          <a:prstGeom prst="rect">
            <a:avLst/>
          </a:prstGeom>
        </p:spPr>
      </p:pic>
      <p:sp>
        <p:nvSpPr>
          <p:cNvPr id="9"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10"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Prefill pool (compute, e.g. H100) → KV cache over a fast link → decode pool (memory, e.g. H200): up to 70% more tokens/s at high load</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llm-d can split them: a prefill pool on compute-strong GPUs (e.g. H100) hands the KV cache over a fast link to a decode pool on memory-rich GPUs (e.g. H200) — up to 70% more tokens/s under heavy load with long prompts.</a:t>
            </a:r>
            <a:endParaRPr lang="en-US" sz="1200" dirty="0"/>
          </a:p>
        </p:txBody>
      </p:sp>
      <p:sp>
        <p:nvSpPr>
          <p:cNvPr id="11"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6"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130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2" presetClass="entr" presetSubtype="4"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additive="base">
                                        <p:cTn id="6" dur="600" fill="hold"/>
                                        <p:tgtEl>
                                          <p:spTgt spid="5"/>
                                        </p:tgtEl>
                                        <p:attrNameLst>
                                          <p:attrName>ppt_y</p:attrName>
                                        </p:attrNameLst>
                                      </p:cBhvr>
                                      <p:tavLst>
                                        <p:tav tm="0">
                                          <p:val>
                                            <p:strVal val="#ppt_y+0.08"/>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3"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800"/>
                                        <p:tgtEl>
                                          <p:spTgt spid="6"/>
                                        </p:tgtEl>
                                      </p:cBhvr>
                                    </p:animEffect>
                                  </p:childTnLst>
                                </p:cTn>
                              </p:par>
                            </p:childTnLst>
                          </p:cTn>
                        </p:par>
                        <p:par>
                          <p:cTn id="14" fill="hold">
                            <p:stCondLst>
                              <p:cond delay="800"/>
                            </p:stCondLst>
                            <p:childTnLst>
                              <p:par>
                                <p:cTn id="16" presetID="1" presetClass="entr" presetSubtype="0" fill="hold" grpId="0" nodeType="afterEffect">
                                  <p:stCondLst>
                                    <p:cond delay="0"/>
                                  </p:stCondLst>
                                  <p:childTnLst>
                                    <p:set>
                                      <p:cBhvr>
                                        <p:cTn id="15" dur="1" fill="hold">
                                          <p:stCondLst>
                                            <p:cond delay="0"/>
                                          </p:stCondLst>
                                        </p:cTn>
                                        <p:tgtEl>
                                          <p:spTgt spid="7"/>
                                        </p:tgtEl>
                                        <p:attrNameLst>
                                          <p:attrName>style.visibility</p:attrName>
                                        </p:attrNameLst>
                                      </p:cBhvr>
                                      <p:to>
                                        <p:strVal val="visible"/>
                                      </p:to>
                                    </p:set>
                                  </p:childTnLst>
                                </p:cTn>
                              </p:par>
                            </p:childTnLst>
                          </p:cTn>
                        </p:par>
                        <p:par>
                          <p:cTn id="17" fill="hold">
                            <p:stCondLst>
                              <p:cond delay="801"/>
                            </p:stCondLst>
                            <p:childTnLst>
                              <p:par>
                                <p:cTn id="20" presetID="0" presetClass="path" presetSubtype="0" fill="hold" grpId="0" nodeType="afterEffect">
                                  <p:stCondLst>
                                    <p:cond delay="0"/>
                                  </p:stCondLst>
                                  <p:childTnLst>
                                    <p:animMotion origin="layout" path="M 0 0 L 0.1772 0.0000 E" pathEditMode="relative" ptsTypes="">
                                      <p:cBhvr>
                                        <p:cTn id="19" dur="1400" fill="hold"/>
                                        <p:tgtEl>
                                          <p:spTgt spid="7"/>
                                        </p:tgtEl>
                                        <p:attrNameLst>
                                          <p:attrName>ppt_x</p:attrName>
                                          <p:attrName>ppt_y</p:attrName>
                                        </p:attrNameLst>
                                      </p:cBhvr>
                                    </p:animMotion>
                                  </p:childTnLst>
                                </p:cTn>
                              </p:par>
                            </p:childTnLst>
                          </p:cTn>
                        </p:par>
                      </p:childTnLst>
                    </p:cTn>
                  </p:par>
                  <p:par>
                    <p:cTn id="21" fill="hold">
                      <p:stCondLst>
                        <p:cond delay="indefinite"/>
                      </p:stCondLst>
                      <p:childTnLst>
                        <p:par>
                          <p:cTn id="22" fill="hold">
                            <p:stCondLst>
                              <p:cond delay="0"/>
                            </p:stCondLst>
                            <p:childTnLst>
                              <p:par>
                                <p:cTn id="27" presetID="53" presetClass="entr" presetSubtype="16"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p:cTn id="24" dur="600" fill="hold"/>
                                        <p:tgtEl>
                                          <p:spTgt spid="8"/>
                                        </p:tgtEl>
                                        <p:attrNameLst>
                                          <p:attrName>ppt_w</p:attrName>
                                        </p:attrNameLst>
                                      </p:cBhvr>
                                      <p:tavLst>
                                        <p:tav tm="0">
                                          <p:val>
                                            <p:fltVal val="0"/>
                                          </p:val>
                                        </p:tav>
                                        <p:tav tm="100000">
                                          <p:val>
                                            <p:strVal val="#ppt_w"/>
                                          </p:val>
                                        </p:tav>
                                      </p:tavLst>
                                    </p:anim>
                                    <p:anim calcmode="lin" valueType="num">
                                      <p:cBhvr>
                                        <p:cTn id="25" dur="600" fill="hold"/>
                                        <p:tgtEl>
                                          <p:spTgt spid="8"/>
                                        </p:tgtEl>
                                        <p:attrNameLst>
                                          <p:attrName>ppt_h</p:attrName>
                                        </p:attrNameLst>
                                      </p:cBhvr>
                                      <p:tavLst>
                                        <p:tav tm="0">
                                          <p:val>
                                            <p:fltVal val="0"/>
                                          </p:val>
                                        </p:tav>
                                        <p:tav tm="100000">
                                          <p:val>
                                            <p:strVal val="#ppt_h"/>
                                          </p:val>
                                        </p:tav>
                                      </p:tavLst>
                                    </p:anim>
                                    <p:animEffect transition="in" filter="fade">
                                      <p:cBhvr>
                                        <p:cTn id="26" dur="6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1.xml><?xml version="1.0" encoding="utf-8"?>
<p:sld xmlns:a="http://schemas.openxmlformats.org/drawingml/2006/main" xmlns:r="http://schemas.openxmlformats.org/officeDocument/2006/relationships" xmlns:p="http://schemas.openxmlformats.org/presentationml/2006/main">
  <p:cSld name="Slide 131">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GPU Timelines: Before vs After Disaggregation</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What each GPU is doing over time</a:t>
            </a:r>
            <a:endParaRPr lang="en-US" sz="1700" dirty="0"/>
          </a:p>
        </p:txBody>
      </p:sp>
      <p:pic>
        <p:nvPicPr>
          <p:cNvPr id="4" name="layer_0" descr="GPU Timelines: Before vs After Disaggregation — illustration part 1">    </p:cNvPr>
          <p:cNvPicPr>
            <a:picLocks noChangeAspect="1"/>
          </p:cNvPicPr>
          <p:nvPr/>
        </p:nvPicPr>
        <p:blipFill>
          <a:blip r:embed="rId1"/>
          <a:stretch>
            <a:fillRect/>
          </a:stretch>
        </p:blipFill>
        <p:spPr>
          <a:xfrm>
            <a:off x="1483286" y="1927486"/>
            <a:ext cx="7602792" cy="1314873"/>
          </a:xfrm>
          <a:prstGeom prst="rect">
            <a:avLst/>
          </a:prstGeom>
        </p:spPr>
      </p:pic>
      <p:pic>
        <p:nvPicPr>
          <p:cNvPr id="5" name="layer_1" descr="GPU Timelines: Before vs After Disaggregation — illustration part 2">    </p:cNvPr>
          <p:cNvPicPr>
            <a:picLocks noChangeAspect="1"/>
          </p:cNvPicPr>
          <p:nvPr/>
        </p:nvPicPr>
        <p:blipFill>
          <a:blip r:embed="rId2"/>
          <a:stretch>
            <a:fillRect/>
          </a:stretch>
        </p:blipFill>
        <p:spPr>
          <a:xfrm>
            <a:off x="1478248" y="3756217"/>
            <a:ext cx="9305736" cy="1576840"/>
          </a:xfrm>
          <a:prstGeom prst="rect">
            <a:avLst/>
          </a:prstGeom>
        </p:spPr>
      </p:pic>
      <p:pic>
        <p:nvPicPr>
          <p:cNvPr id="6" name="layer_2" descr="GPU Timelines: Before vs After Disaggregation — illustration part 3">    </p:cNvPr>
          <p:cNvPicPr>
            <a:picLocks noChangeAspect="1"/>
          </p:cNvPicPr>
          <p:nvPr/>
        </p:nvPicPr>
        <p:blipFill>
          <a:blip r:embed="rId3"/>
          <a:stretch>
            <a:fillRect/>
          </a:stretch>
        </p:blipFill>
        <p:spPr>
          <a:xfrm>
            <a:off x="8743473" y="3620196"/>
            <a:ext cx="1148732" cy="206551"/>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Shared GPU: long prefills interrupt everyone's stream · split pools: decode never stops</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On a shared GPU, every big prefill block pauses all running streams. After disaggregation, the prefill GPU just processes prompts back to back, while the decode GPU produces tokens steadily without interruption.</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131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22" presetClass="entr" presetSubtype="8"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wipe(left)">
                                      <p:cBhvr>
                                        <p:cTn id="6"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3" presetID="42"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600" fill="hold"/>
                                        <p:tgtEl>
                                          <p:spTgt spid="6"/>
                                        </p:tgtEl>
                                        <p:attrNameLst>
                                          <p:attrName>ppt_y</p:attrName>
                                        </p:attrNameLst>
                                      </p:cBhvr>
                                      <p:tavLst>
                                        <p:tav tm="0">
                                          <p:val>
                                            <p:strVal val="#ppt_y+0.03"/>
                                          </p:val>
                                        </p:tav>
                                        <p:tav tm="100000">
                                          <p:val>
                                            <p:strVal val="#ppt_y"/>
                                          </p:val>
                                        </p:tav>
                                      </p:tavLst>
                                    </p:anim>
                                    <p:animEffect transition="in" filter="fade">
                                      <p:cBhvr>
                                        <p:cTn id="12"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2.xml><?xml version="1.0" encoding="utf-8"?>
<p:sld xmlns:a="http://schemas.openxmlformats.org/drawingml/2006/main" xmlns:r="http://schemas.openxmlformats.org/officeDocument/2006/relationships" xmlns:p="http://schemas.openxmlformats.org/presentationml/2006/main">
  <p:cSld name="Slide 132">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Load Balancer vs llm-d, Side by Side</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Same fleet, very different decisions</a:t>
            </a:r>
            <a:endParaRPr lang="en-US" sz="1700" dirty="0"/>
          </a:p>
        </p:txBody>
      </p:sp>
      <p:pic>
        <p:nvPicPr>
          <p:cNvPr id="4" name="layer_0" descr="Load Balancer vs llm-d, Side by Side — illustration part 1">    </p:cNvPr>
          <p:cNvPicPr>
            <a:picLocks noChangeAspect="1"/>
          </p:cNvPicPr>
          <p:nvPr/>
        </p:nvPicPr>
        <p:blipFill>
          <a:blip r:embed="rId1"/>
          <a:stretch>
            <a:fillRect/>
          </a:stretch>
        </p:blipFill>
        <p:spPr>
          <a:xfrm>
            <a:off x="1483286" y="1831767"/>
            <a:ext cx="7940358" cy="3571819"/>
          </a:xfrm>
          <a:prstGeom prst="rect">
            <a:avLst/>
          </a:prstGeom>
        </p:spPr>
      </p:pic>
      <p:pic>
        <p:nvPicPr>
          <p:cNvPr id="5" name="layer_1" descr="Load Balancer vs llm-d, Side by Side — illustration part 2">    </p:cNvPr>
          <p:cNvPicPr>
            <a:picLocks noChangeAspect="1"/>
          </p:cNvPicPr>
          <p:nvPr/>
        </p:nvPicPr>
        <p:blipFill>
          <a:blip r:embed="rId2"/>
          <a:stretch>
            <a:fillRect/>
          </a:stretch>
        </p:blipFill>
        <p:spPr>
          <a:xfrm>
            <a:off x="8541941" y="2481647"/>
            <a:ext cx="1249498" cy="2871561"/>
          </a:xfrm>
          <a:prstGeom prst="rect">
            <a:avLst/>
          </a:prstGeom>
        </p:spPr>
      </p:pic>
      <p:sp>
        <p:nvSpPr>
          <p:cNvPr id="6"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7"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A load balancer counts requests · llm-d looks at tokens, caches, memory and queues</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A classic load balancer spreads requests evenly and sees nothing inside the servers. llm-d knows where each conversation's cached tokens live, how full each server's memory is, how long its queue is, and can route prefill and decode to different pools.</a:t>
            </a:r>
            <a:endParaRPr lang="en-US" sz="1200" dirty="0"/>
          </a:p>
        </p:txBody>
      </p:sp>
      <p:sp>
        <p:nvSpPr>
          <p:cNvPr id="8"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3"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132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22" presetClass="entr" presetSubtype="8"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wipe(left)">
                                      <p:cBhvr>
                                        <p:cTn id="6" dur="12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r="http://schemas.openxmlformats.org/officeDocument/2006/relationships" xmlns:p="http://schemas.openxmlformats.org/presentationml/2006/main">
  <p:cSld name="Slide 133">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Sharing the GPUs Fairly</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One heavy user shouldn't starve everyone else</a:t>
            </a:r>
            <a:endParaRPr lang="en-US" sz="1700" dirty="0"/>
          </a:p>
        </p:txBody>
      </p:sp>
      <p:pic>
        <p:nvPicPr>
          <p:cNvPr id="4" name="layer_0" descr="Sharing the GPUs Fairly — illustration part 1">    </p:cNvPr>
          <p:cNvPicPr>
            <a:picLocks noChangeAspect="1"/>
          </p:cNvPicPr>
          <p:nvPr/>
        </p:nvPicPr>
        <p:blipFill>
          <a:blip r:embed="rId1"/>
          <a:stretch>
            <a:fillRect/>
          </a:stretch>
        </p:blipFill>
        <p:spPr>
          <a:xfrm>
            <a:off x="1301907" y="1841843"/>
            <a:ext cx="6081226" cy="1566764"/>
          </a:xfrm>
          <a:prstGeom prst="rect">
            <a:avLst/>
          </a:prstGeom>
        </p:spPr>
      </p:pic>
      <p:pic>
        <p:nvPicPr>
          <p:cNvPr id="5" name="layer_1" descr="Sharing the GPUs Fairly — illustration part 2">    </p:cNvPr>
          <p:cNvPicPr>
            <a:picLocks noChangeAspect="1"/>
          </p:cNvPicPr>
          <p:nvPr/>
        </p:nvPicPr>
        <p:blipFill>
          <a:blip r:embed="rId2"/>
          <a:stretch>
            <a:fillRect/>
          </a:stretch>
        </p:blipFill>
        <p:spPr>
          <a:xfrm>
            <a:off x="1271677" y="3665536"/>
            <a:ext cx="9587881" cy="1919412"/>
          </a:xfrm>
          <a:prstGeom prst="rect">
            <a:avLst/>
          </a:prstGeom>
        </p:spPr>
      </p:pic>
      <p:pic>
        <p:nvPicPr>
          <p:cNvPr id="6" name="layer_2" descr="Sharing the GPUs Fairly — illustration part 3">    </p:cNvPr>
          <p:cNvPicPr>
            <a:picLocks noChangeAspect="1"/>
          </p:cNvPicPr>
          <p:nvPr/>
        </p:nvPicPr>
        <p:blipFill>
          <a:blip r:embed="rId3"/>
          <a:stretch>
            <a:fillRect/>
          </a:stretch>
        </p:blipFill>
        <p:spPr>
          <a:xfrm>
            <a:off x="5125975" y="4229773"/>
            <a:ext cx="5491745" cy="1269532"/>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Requests from different users are interleaved, so a flood from one client can't block the rest</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If one client suddenly sends hundreds of long prompts, a simple first-come queue makes everyone else wait behind them. Fair sharing takes turns between users (or teams), so each still gets GPU time — part of llm-d's job of sharing the GPUs fairly.</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133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2" presetClass="entr" presetSubtype="4"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additive="base">
                                        <p:cTn id="6" dur="600" fill="hold"/>
                                        <p:tgtEl>
                                          <p:spTgt spid="5"/>
                                        </p:tgtEl>
                                        <p:attrNameLst>
                                          <p:attrName>ppt_y</p:attrName>
                                        </p:attrNameLst>
                                      </p:cBhvr>
                                      <p:tavLst>
                                        <p:tav tm="0">
                                          <p:val>
                                            <p:strVal val="#ppt_y+0.08"/>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3"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12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4.xml><?xml version="1.0" encoding="utf-8"?>
<p:sld xmlns:a="http://schemas.openxmlformats.org/drawingml/2006/main" xmlns:r="http://schemas.openxmlformats.org/officeDocument/2006/relationships" xmlns:p="http://schemas.openxmlformats.org/presentationml/2006/main">
  <p:cSld name="Slide 134">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Story So Far: llm-d routing ✓</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Solved: cache-, load- &amp; phase-aware  →  next problem: How do we deploy and operate all this?</a:t>
            </a:r>
            <a:endParaRPr lang="en-US" sz="1700" dirty="0"/>
          </a:p>
        </p:txBody>
      </p:sp>
      <p:pic>
        <p:nvPicPr>
          <p:cNvPr id="4" name="layer_0" descr="Story So Far: llm-d routing ✓ — illustration part 1">    </p:cNvPr>
          <p:cNvPicPr>
            <a:picLocks noChangeAspect="1"/>
          </p:cNvPicPr>
          <p:nvPr/>
        </p:nvPicPr>
        <p:blipFill>
          <a:blip r:embed="rId1"/>
          <a:stretch>
            <a:fillRect/>
          </a:stretch>
        </p:blipFill>
        <p:spPr>
          <a:xfrm>
            <a:off x="1231371" y="2229756"/>
            <a:ext cx="9144511" cy="2604556"/>
          </a:xfrm>
          <a:prstGeom prst="rect">
            <a:avLst/>
          </a:prstGeom>
        </p:spPr>
      </p:pic>
      <p:pic>
        <p:nvPicPr>
          <p:cNvPr id="5" name="layer_1" descr="Story So Far: llm-d routing ✓ — illustration part 2">    </p:cNvPr>
          <p:cNvPicPr>
            <a:picLocks noChangeAspect="1"/>
          </p:cNvPicPr>
          <p:nvPr/>
        </p:nvPicPr>
        <p:blipFill>
          <a:blip r:embed="rId2"/>
          <a:stretch>
            <a:fillRect/>
          </a:stretch>
        </p:blipFill>
        <p:spPr>
          <a:xfrm>
            <a:off x="4848869" y="3534553"/>
            <a:ext cx="1476221" cy="1566764"/>
          </a:xfrm>
          <a:prstGeom prst="rect">
            <a:avLst/>
          </a:prstGeom>
        </p:spPr>
      </p:pic>
      <p:pic>
        <p:nvPicPr>
          <p:cNvPr id="6" name="layer_2" descr="Story So Far: llm-d routing ✓ — illustration part 3">    </p:cNvPr>
          <p:cNvPicPr>
            <a:picLocks noChangeAspect="1"/>
          </p:cNvPicPr>
          <p:nvPr/>
        </p:nvPicPr>
        <p:blipFill>
          <a:blip r:embed="rId3"/>
          <a:stretch>
            <a:fillRect/>
          </a:stretch>
        </p:blipFill>
        <p:spPr>
          <a:xfrm>
            <a:off x="3276920" y="3816671"/>
            <a:ext cx="801089" cy="997490"/>
          </a:xfrm>
          <a:prstGeom prst="rect">
            <a:avLst/>
          </a:prstGeom>
        </p:spPr>
      </p:pic>
      <p:pic>
        <p:nvPicPr>
          <p:cNvPr id="7" name="layer_3" descr="Story So Far: llm-d routing ✓ — illustration part 4">    </p:cNvPr>
          <p:cNvPicPr>
            <a:picLocks noChangeAspect="1"/>
          </p:cNvPicPr>
          <p:nvPr/>
        </p:nvPicPr>
        <p:blipFill>
          <a:blip r:embed="rId4"/>
          <a:stretch>
            <a:fillRect/>
          </a:stretch>
        </p:blipFill>
        <p:spPr>
          <a:xfrm>
            <a:off x="2294452" y="5121468"/>
            <a:ext cx="7582638" cy="584388"/>
          </a:xfrm>
          <a:prstGeom prst="rect">
            <a:avLst/>
          </a:prstGeom>
        </p:spPr>
      </p:pic>
      <p:sp>
        <p:nvSpPr>
          <p:cNvPr id="8"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9"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Up next — Chapter 9 · Running llm-d on Kubernetes</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llm-d routes by cache, by load and by phase, and can split prefill from decode. Now all of this has to be deployed, scaled and kept alive. Next: llm-d on Kubernetes.</a:t>
            </a:r>
            <a:endParaRPr lang="en-US" sz="1200" dirty="0"/>
          </a:p>
        </p:txBody>
      </p:sp>
      <p:sp>
        <p:nvSpPr>
          <p:cNvPr id="10"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5"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134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ppt_w</p:attrName>
                                        </p:attrNameLst>
                                      </p:cBhvr>
                                      <p:tavLst>
                                        <p:tav tm="0">
                                          <p:val>
                                            <p:fltVal val="0"/>
                                          </p:val>
                                        </p:tav>
                                        <p:tav tm="100000">
                                          <p:val>
                                            <p:strVal val="#ppt_w"/>
                                          </p:val>
                                        </p:tav>
                                      </p:tavLst>
                                    </p:anim>
                                    <p:anim calcmode="lin" valueType="num">
                                      <p:cBhvr>
                                        <p:cTn id="7" dur="600" fill="hold"/>
                                        <p:tgtEl>
                                          <p:spTgt spid="5"/>
                                        </p:tgtEl>
                                        <p:attrNameLst>
                                          <p:attrName>ppt_h</p:attrName>
                                        </p:attrNameLst>
                                      </p:cBhvr>
                                      <p:tavLst>
                                        <p:tav tm="0">
                                          <p:val>
                                            <p:fltVal val="0"/>
                                          </p:val>
                                        </p:tav>
                                        <p:tav tm="100000">
                                          <p:val>
                                            <p:strVal val="#ppt_h"/>
                                          </p:val>
                                        </p:tav>
                                      </p:tavLst>
                                    </p:anim>
                                    <p:animEffect transition="in" filter="fade">
                                      <p:cBhvr>
                                        <p:cTn id="8" dur="600"/>
                                        <p:tgtEl>
                                          <p:spTgt spid="5"/>
                                        </p:tgtEl>
                                      </p:cBhvr>
                                    </p:animEffect>
                                  </p:childTnLst>
                                </p:cTn>
                              </p:par>
                            </p:childTnLst>
                          </p:cTn>
                        </p:par>
                        <p:par>
                          <p:cTn id="10" fill="hold">
                            <p:stCondLst>
                              <p:cond delay="600"/>
                            </p:stCondLst>
                            <p:childTnLst>
                              <p:par>
                                <p:cTn id="15" presetID="53" presetClass="entr" presetSubtype="16" fill="hold" grpId="0" nodeType="after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ppt_w</p:attrName>
                                        </p:attrNameLst>
                                      </p:cBhvr>
                                      <p:tavLst>
                                        <p:tav tm="0">
                                          <p:val>
                                            <p:fltVal val="0"/>
                                          </p:val>
                                        </p:tav>
                                        <p:tav tm="100000">
                                          <p:val>
                                            <p:strVal val="#ppt_w"/>
                                          </p:val>
                                        </p:tav>
                                      </p:tavLst>
                                    </p:anim>
                                    <p:anim calcmode="lin" valueType="num">
                                      <p:cBhvr>
                                        <p:cTn id="13" dur="600" fill="hold"/>
                                        <p:tgtEl>
                                          <p:spTgt spid="6"/>
                                        </p:tgtEl>
                                        <p:attrNameLst>
                                          <p:attrName>ppt_h</p:attrName>
                                        </p:attrNameLst>
                                      </p:cBhvr>
                                      <p:tavLst>
                                        <p:tav tm="0">
                                          <p:val>
                                            <p:fltVal val="0"/>
                                          </p:val>
                                        </p:tav>
                                        <p:tav tm="100000">
                                          <p:val>
                                            <p:strVal val="#ppt_h"/>
                                          </p:val>
                                        </p:tav>
                                      </p:tavLst>
                                    </p:anim>
                                    <p:animEffect transition="in" filter="fade">
                                      <p:cBhvr>
                                        <p:cTn id="14" dur="600"/>
                                        <p:tgtEl>
                                          <p:spTgt spid="6"/>
                                        </p:tgtEl>
                                      </p:cBhvr>
                                    </p:animEffect>
                                  </p:childTnLst>
                                </p:cTn>
                              </p:par>
                            </p:childTnLst>
                          </p:cTn>
                        </p:par>
                        <p:par>
                          <p:cTn id="16" fill="hold">
                            <p:stCondLst>
                              <p:cond delay="1200"/>
                            </p:stCondLst>
                            <p:childTnLst>
                              <p:par>
                                <p:cTn id="20" presetID="2" presetClass="entr" presetSubtype="4" fill="hold" grpId="0" nodeType="after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additive="base">
                                        <p:cTn id="18" dur="600" fill="hold"/>
                                        <p:tgtEl>
                                          <p:spTgt spid="7"/>
                                        </p:tgtEl>
                                        <p:attrNameLst>
                                          <p:attrName>ppt_y</p:attrName>
                                        </p:attrNameLst>
                                      </p:cBhvr>
                                      <p:tavLst>
                                        <p:tav tm="0">
                                          <p:val>
                                            <p:strVal val="#ppt_y+0.08"/>
                                          </p:val>
                                        </p:tav>
                                        <p:tav tm="100000">
                                          <p:val>
                                            <p:strVal val="#ppt_y"/>
                                          </p:val>
                                        </p:tav>
                                      </p:tavLst>
                                    </p:anim>
                                    <p:animEffect transition="in" filter="fade">
                                      <p:cBhvr>
                                        <p:cTn id="19" dur="6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5.xml><?xml version="1.0" encoding="utf-8"?>
<p:sld xmlns:a="http://schemas.openxmlformats.org/drawingml/2006/main" xmlns:r="http://schemas.openxmlformats.org/officeDocument/2006/relationships" xmlns:p="http://schemas.openxmlformats.org/presentationml/2006/main">
  <p:cSld name="Slide 135">
    <p:spTree>
      <p:nvGrpSpPr>
        <p:cNvPr id="1" name=""/>
        <p:cNvGrpSpPr/>
        <p:nvPr/>
      </p:nvGrpSpPr>
      <p:grpSpPr>
        <a:xfrm>
          <a:off x="0" y="0"/>
          <a:ext cx="0" cy="0"/>
          <a:chOff x="0" y="0"/>
          <a:chExt cx="0" cy="0"/>
        </a:xfrm>
      </p:grpSpPr>
      <p:sp>
        <p:nvSpPr>
          <p:cNvPr id="2" name="Text 0"/>
          <p:cNvSpPr/>
          <p:nvPr>
            <p:ph idx="100" type="title" hasCustomPrompt="1"/>
          </p:nvPr>
        </p:nvSpPr>
        <p:spPr>
          <a:xfrm>
            <a:off x="731520" y="2834640"/>
            <a:ext cx="5669280" cy="1371600"/>
          </a:xfrm>
          <a:prstGeom prst="rect">
            <a:avLst/>
          </a:prstGeom>
          <a:noFill/>
          <a:ln/>
        </p:spPr>
        <p:txBody>
          <a:bodyPr wrap="square" lIns="0" tIns="0" rIns="0" bIns="0" rtlCol="0" anchor="t"/>
          <a:lstStyle/>
          <a:p>
            <a:pPr algn="l" indent="0" marL="0">
              <a:buNone/>
            </a:pPr>
            <a:r>
              <a:rPr lang="en-US" sz="4000" b="1" dirty="0">
                <a:solidFill>
                  <a:srgbClr val="FFFFFF"/>
                </a:solidFill>
                <a:latin typeface="Calibri" pitchFamily="34" charset="0"/>
                <a:ea typeface="Calibri" pitchFamily="34" charset="-122"/>
                <a:cs typeface="Calibri" pitchFamily="34" charset="-120"/>
              </a:rPr>
              <a:t>Running llm-d on Kubernetes</a:t>
            </a:r>
            <a:endParaRPr lang="en-US" sz="4000" dirty="0"/>
          </a:p>
        </p:txBody>
      </p:sp>
      <p:sp>
        <p:nvSpPr>
          <p:cNvPr id="3" name="Text 0"/>
          <p:cNvSpPr/>
          <p:nvPr>
            <p:ph idx="101" type="body" hasCustomPrompt="1"/>
          </p:nvPr>
        </p:nvSpPr>
        <p:spPr>
          <a:xfrm>
            <a:off x="731520" y="4251960"/>
            <a:ext cx="5120640" cy="822960"/>
          </a:xfrm>
          <a:prstGeom prst="rect">
            <a:avLst/>
          </a:prstGeom>
          <a:noFill/>
          <a:ln/>
        </p:spPr>
        <p:txBody>
          <a:bodyPr wrap="square" lIns="0" tIns="0" rIns="0" bIns="0" rtlCol="0" anchor="t"/>
          <a:lstStyle/>
          <a:p>
            <a:pPr algn="l" indent="0" marL="0">
              <a:buNone/>
            </a:pPr>
            <a:r>
              <a:rPr lang="en-US" sz="2000" dirty="0">
                <a:solidFill>
                  <a:srgbClr val="22D3EE"/>
                </a:solidFill>
                <a:latin typeface="Calibri" pitchFamily="34" charset="0"/>
                <a:ea typeface="Calibri" pitchFamily="34" charset="-122"/>
                <a:cs typeface="Calibri" pitchFamily="34" charset="-120"/>
              </a:rPr>
              <a:t>Deploy it, scale it, keep it alive</a:t>
            </a:r>
            <a:endParaRPr lang="en-US" sz="2000" dirty="0"/>
          </a:p>
        </p:txBody>
      </p:sp>
      <p:sp>
        <p:nvSpPr>
          <p:cNvPr id="4" name="Text 2"/>
          <p:cNvSpPr txBox="1"/>
          <p:nvPr/>
        </p:nvSpPr>
        <p:spPr>
          <a:xfrm>
            <a:off x="731520" y="1371600"/>
            <a:ext cx="2743200" cy="1371600"/>
          </a:xfrm>
          <a:prstGeom prst="rect">
            <a:avLst/>
          </a:prstGeom>
          <a:noFill/>
          <a:ln/>
        </p:spPr>
        <p:txBody>
          <a:bodyPr wrap="square" lIns="0" tIns="0" rIns="0" bIns="0" rtlCol="0" anchor="ctr"/>
          <a:lstStyle/>
          <a:p>
            <a:pPr indent="0" marL="0">
              <a:buNone/>
            </a:pPr>
            <a:r>
              <a:rPr lang="en-US" sz="9600" b="1" dirty="0">
                <a:solidFill>
                  <a:srgbClr val="22D3EE">
                    <a:alpha val="80000"/>
                  </a:srgbClr>
                </a:solidFill>
                <a:latin typeface="Calibri" pitchFamily="34" charset="0"/>
                <a:ea typeface="Calibri" pitchFamily="34" charset="-122"/>
                <a:cs typeface="Calibri" pitchFamily="34" charset="-120"/>
              </a:rPr>
              <a:t>09</a:t>
            </a:r>
            <a:endParaRPr lang="en-US" sz="9600" dirty="0"/>
          </a:p>
        </p:txBody>
      </p:sp>
      <p:pic>
        <p:nvPicPr>
          <p:cNvPr id="5" name="layer_0" descr="Running llm-d on Kubernetes — illustration part 1">    </p:cNvPr>
          <p:cNvPicPr>
            <a:picLocks noChangeAspect="1"/>
          </p:cNvPicPr>
          <p:nvPr/>
        </p:nvPicPr>
        <p:blipFill>
          <a:blip r:embed="rId1"/>
          <a:stretch>
            <a:fillRect/>
          </a:stretch>
        </p:blipFill>
        <p:spPr>
          <a:xfrm>
            <a:off x="7158791" y="1515811"/>
            <a:ext cx="3914366" cy="2927184"/>
          </a:xfrm>
          <a:prstGeom prst="rect">
            <a:avLst/>
          </a:prstGeom>
        </p:spPr>
      </p:pic>
      <p:sp>
        <p:nvSpPr>
          <p:cNvPr id="6" name="nav_agenda"/>
          <p:cNvSpPr txBox="1"/>
          <p:nvPr/>
        </p:nvSpPr>
        <p:spPr>
          <a:xfrm>
            <a:off x="731520" y="5669280"/>
            <a:ext cx="1371600" cy="384048"/>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1300" u="sng" dirty="0">
                <a:solidFill>
                  <a:srgbClr val="22D3EE"/>
                </a:solidFill>
                <a:latin typeface="Calibri" pitchFamily="34" charset="0"/>
                <a:ea typeface="Calibri" pitchFamily="34" charset="-122"/>
                <a:cs typeface="Calibri" pitchFamily="34" charset="-120"/>
                <a:hlinkClick r:id="rId2" action="ppaction://hlinksldjump" tooltip="Back to agenda">
                  <a:extLst>
                    <a:ext uri="{A12FA001-AC4F-418D-AE19-62706E023703}">
                      <ahyp:hlinkClr xmlns:ahyp="http://schemas.microsoft.com/office/drawing/2018/hyperlinkcolor" val="tx"/>
                    </a:ext>
                  </a:extLst>
                </a:hlinkClick>
              </a:rPr>
              <a:t>⌂ Agenda</a:t>
            </a:r>
            <a:endParaRPr lang="en-US" sz="13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135</a:t>
            </a:fld>
            <a:endParaRPr lang="en-US"/>
          </a:p>
        </p:txBody>
      </p:sp>
    </p:spTree>
  </p:cSld>
  <p:clrMapOvr>
    <a:masterClrMapping/>
  </p:clrMapOvr>
  <p:transition spd="med">
    <p:fade/>
  </p:transition>
</p:sld>
</file>

<file path=ppt/slides/slide136.xml><?xml version="1.0" encoding="utf-8"?>
<p:sld xmlns:a="http://schemas.openxmlformats.org/drawingml/2006/main" xmlns:r="http://schemas.openxmlformats.org/officeDocument/2006/relationships" xmlns:p="http://schemas.openxmlformats.org/presentationml/2006/main">
  <p:cSld name="Slide 136">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It Runs on Kubernetes</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The platform your ops team already runs — now the de facto standard for inference</a:t>
            </a:r>
            <a:endParaRPr lang="en-US" sz="1700" dirty="0"/>
          </a:p>
        </p:txBody>
      </p:sp>
      <p:pic>
        <p:nvPicPr>
          <p:cNvPr id="4" name="layer_0" descr="It Runs on Kubernetes — illustration part 1">    </p:cNvPr>
          <p:cNvPicPr>
            <a:picLocks noChangeAspect="1"/>
          </p:cNvPicPr>
          <p:nvPr/>
        </p:nvPicPr>
        <p:blipFill>
          <a:blip r:embed="rId1"/>
          <a:stretch>
            <a:fillRect/>
          </a:stretch>
        </p:blipFill>
        <p:spPr>
          <a:xfrm>
            <a:off x="1745277" y="2416155"/>
            <a:ext cx="2529226" cy="3042847"/>
          </a:xfrm>
          <a:prstGeom prst="rect">
            <a:avLst/>
          </a:prstGeom>
        </p:spPr>
      </p:pic>
      <p:pic>
        <p:nvPicPr>
          <p:cNvPr id="5" name="layer_1" descr="It Runs on Kubernetes — illustration part 2">    </p:cNvPr>
          <p:cNvPicPr>
            <a:picLocks noChangeAspect="1"/>
          </p:cNvPicPr>
          <p:nvPr/>
        </p:nvPicPr>
        <p:blipFill>
          <a:blip r:embed="rId2"/>
          <a:stretch>
            <a:fillRect/>
          </a:stretch>
        </p:blipFill>
        <p:spPr>
          <a:xfrm>
            <a:off x="5508886" y="2713387"/>
            <a:ext cx="3315200" cy="2579367"/>
          </a:xfrm>
          <a:prstGeom prst="rect">
            <a:avLst/>
          </a:prstGeom>
        </p:spPr>
      </p:pic>
      <p:pic>
        <p:nvPicPr>
          <p:cNvPr id="6" name="layer_2" descr="It Runs on Kubernetes — illustration part 3">    </p:cNvPr>
          <p:cNvPicPr>
            <a:picLocks noChangeAspect="1"/>
          </p:cNvPicPr>
          <p:nvPr/>
        </p:nvPicPr>
        <p:blipFill>
          <a:blip r:embed="rId3"/>
          <a:stretch>
            <a:fillRect/>
          </a:stretch>
        </p:blipFill>
        <p:spPr>
          <a:xfrm>
            <a:off x="9277533" y="2496761"/>
            <a:ext cx="1597140" cy="2070547"/>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CNCF survey (Jan 2026): 66% of organizations hosting GenAI use Kubernetes for some or all inference</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llm-d runs on Kubernetes, the platform most ops teams already use. About two out of three organizations running GenAI in production use it for inference.</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136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7.xml><?xml version="1.0" encoding="utf-8"?>
<p:sld xmlns:a="http://schemas.openxmlformats.org/drawingml/2006/main" xmlns:r="http://schemas.openxmlformats.org/officeDocument/2006/relationships" xmlns:p="http://schemas.openxmlformats.org/presentationml/2006/main">
  <p:cSld name="Slide 137">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The Hard Part: So Many Knobs</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Every concept so far has a real tuning knob behind it</a:t>
            </a:r>
            <a:endParaRPr lang="en-US" sz="1700" dirty="0"/>
          </a:p>
        </p:txBody>
      </p:sp>
      <p:pic>
        <p:nvPicPr>
          <p:cNvPr id="4" name="layer_0" descr="The Hard Part: So Many Knobs — illustration part 1">    </p:cNvPr>
          <p:cNvPicPr>
            <a:picLocks noChangeAspect="1"/>
          </p:cNvPicPr>
          <p:nvPr/>
        </p:nvPicPr>
        <p:blipFill>
          <a:blip r:embed="rId1"/>
          <a:stretch>
            <a:fillRect/>
          </a:stretch>
        </p:blipFill>
        <p:spPr>
          <a:xfrm>
            <a:off x="1296869" y="1998016"/>
            <a:ext cx="8081430" cy="3093225"/>
          </a:xfrm>
          <a:prstGeom prst="rect">
            <a:avLst/>
          </a:prstGeom>
        </p:spPr>
      </p:pic>
      <p:pic>
        <p:nvPicPr>
          <p:cNvPr id="5" name="layer_1" descr="The Hard Part: So Many Knobs — illustration part 2">    </p:cNvPr>
          <p:cNvPicPr>
            <a:picLocks noChangeAspect="1"/>
          </p:cNvPicPr>
          <p:nvPr/>
        </p:nvPicPr>
        <p:blipFill>
          <a:blip r:embed="rId2"/>
          <a:stretch>
            <a:fillRect/>
          </a:stretch>
        </p:blipFill>
        <p:spPr>
          <a:xfrm>
            <a:off x="4788409" y="2663009"/>
            <a:ext cx="2675336" cy="1823693"/>
          </a:xfrm>
          <a:prstGeom prst="rect">
            <a:avLst/>
          </a:prstGeom>
        </p:spPr>
      </p:pic>
      <p:pic>
        <p:nvPicPr>
          <p:cNvPr id="6" name="layer_2" descr="The Hard Part: So Many Knobs — illustration part 3">    </p:cNvPr>
          <p:cNvPicPr>
            <a:picLocks noChangeAspect="1"/>
          </p:cNvPicPr>
          <p:nvPr/>
        </p:nvPicPr>
        <p:blipFill>
          <a:blip r:embed="rId3"/>
          <a:stretch>
            <a:fillRect/>
          </a:stretch>
        </p:blipFill>
        <p:spPr>
          <a:xfrm>
            <a:off x="7947422" y="2663009"/>
            <a:ext cx="1093311" cy="1702785"/>
          </a:xfrm>
          <a:prstGeom prst="rect">
            <a:avLst/>
          </a:prstGeom>
        </p:spPr>
      </p:pic>
      <p:pic>
        <p:nvPicPr>
          <p:cNvPr id="7" name="layer_3" descr="The Hard Part: So Many Knobs — illustration part 4">    </p:cNvPr>
          <p:cNvPicPr>
            <a:picLocks noChangeAspect="1"/>
          </p:cNvPicPr>
          <p:nvPr/>
        </p:nvPicPr>
        <p:blipFill>
          <a:blip r:embed="rId4"/>
          <a:stretch>
            <a:fillRect/>
          </a:stretch>
        </p:blipFill>
        <p:spPr>
          <a:xfrm>
            <a:off x="9610060" y="2663009"/>
            <a:ext cx="1093311" cy="1858958"/>
          </a:xfrm>
          <a:prstGeom prst="rect">
            <a:avLst/>
          </a:prstGeom>
        </p:spPr>
      </p:pic>
      <p:sp>
        <p:nvSpPr>
          <p:cNvPr id="8"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9"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The right setting depends on your model, hardware and traffic — by hand, that's weeks of work</a:t>
            </a:r>
            <a:endParaRPr lang="en-US" sz="1200" dirty="0"/>
          </a:p>
          <a:p>
            <a:pPr indent="0" marL="0">
              <a:spcAft>
                <a:spcPts val="200"/>
              </a:spcAft>
              <a:buNone/>
            </a:pPr>
            <a:r>
              <a:rPr lang="en-US" sz="1200" dirty="0">
                <a:solidFill>
                  <a:srgbClr val="C9D6EA"/>
                </a:solidFill>
                <a:latin typeface="Calibri" pitchFamily="34" charset="0"/>
                <a:ea typeface="Calibri" pitchFamily="34" charset="-122"/>
                <a:cs typeface="Calibri" pitchFamily="34" charset="-120"/>
              </a:rPr>
              <a:t>Every concept has a knob: cache vs load preference, whether to split prefill and decode, how many of each, GPUs per model copy, batch size. Tuning them by hand takes weeks.</a:t>
            </a:r>
            <a:endParaRPr lang="en-US" sz="1200" dirty="0"/>
          </a:p>
          <a:p>
            <a:pPr indent="0" marL="0">
              <a:spcAft>
                <a:spcPts val="200"/>
              </a:spcAft>
              <a:buNone/>
            </a:pPr>
            <a:r>
              <a:rPr lang="en-US" sz="1200" b="1" dirty="0">
                <a:solidFill>
                  <a:srgbClr val="5EE6A8"/>
                </a:solidFill>
                <a:latin typeface="Calibri" pitchFamily="34" charset="0"/>
                <a:ea typeface="Calibri" pitchFamily="34" charset="-122"/>
                <a:cs typeface="Calibri" pitchFamily="34" charset="-120"/>
              </a:rPr>
              <a:t>➜ Coming up:  Next: llm-d's pre-tuned recipes, the 'well-lit paths'.</a:t>
            </a:r>
            <a:endParaRPr lang="en-US" sz="1200" dirty="0"/>
          </a:p>
        </p:txBody>
      </p:sp>
      <p:sp>
        <p:nvSpPr>
          <p:cNvPr id="10"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5"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137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par>
                    <p:cTn id="15" fill="hold">
                      <p:stCondLst>
                        <p:cond delay="indefinite"/>
                      </p:stCondLst>
                      <p:childTnLst>
                        <p:par>
                          <p:cTn id="16" fill="hold">
                            <p:stCondLst>
                              <p:cond delay="0"/>
                            </p:stCondLst>
                            <p:childTnLst>
                              <p:par>
                                <p:cTn id="20" presetID="42"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p:cTn id="18" dur="600" fill="hold"/>
                                        <p:tgtEl>
                                          <p:spTgt spid="7"/>
                                        </p:tgtEl>
                                        <p:attrNameLst>
                                          <p:attrName>ppt_y</p:attrName>
                                        </p:attrNameLst>
                                      </p:cBhvr>
                                      <p:tavLst>
                                        <p:tav tm="0">
                                          <p:val>
                                            <p:strVal val="#ppt_y+0.03"/>
                                          </p:val>
                                        </p:tav>
                                        <p:tav tm="100000">
                                          <p:val>
                                            <p:strVal val="#ppt_y"/>
                                          </p:val>
                                        </p:tav>
                                      </p:tavLst>
                                    </p:anim>
                                    <p:animEffect transition="in" filter="fade">
                                      <p:cBhvr>
                                        <p:cTn id="19" dur="6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8.xml><?xml version="1.0" encoding="utf-8"?>
<p:sld xmlns:a="http://schemas.openxmlformats.org/drawingml/2006/main" xmlns:r="http://schemas.openxmlformats.org/officeDocument/2006/relationships" xmlns:p="http://schemas.openxmlformats.org/presentationml/2006/main">
  <p:cSld name="Slide 138">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llm-d's "Well-Lit Paths"</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Ready-made recipes: every knob pre-set and measured on real hardware</a:t>
            </a:r>
            <a:endParaRPr lang="en-US" sz="1700" dirty="0"/>
          </a:p>
        </p:txBody>
      </p:sp>
      <p:pic>
        <p:nvPicPr>
          <p:cNvPr id="4" name="layer_0" descr="llm-d's &quot;Well-Lit Paths&quot; — illustration part 1">    </p:cNvPr>
          <p:cNvPicPr>
            <a:picLocks noChangeAspect="1"/>
          </p:cNvPicPr>
          <p:nvPr/>
        </p:nvPicPr>
        <p:blipFill>
          <a:blip r:embed="rId1"/>
          <a:stretch>
            <a:fillRect/>
          </a:stretch>
        </p:blipFill>
        <p:spPr>
          <a:xfrm>
            <a:off x="1271677" y="1867032"/>
            <a:ext cx="9713838" cy="3591970"/>
          </a:xfrm>
          <a:prstGeom prst="rect">
            <a:avLst/>
          </a:prstGeom>
        </p:spPr>
      </p:pic>
      <p:pic>
        <p:nvPicPr>
          <p:cNvPr id="5" name="layer_1" descr="llm-d's &quot;Well-Lit Paths&quot; — illustration part 2">    </p:cNvPr>
          <p:cNvPicPr>
            <a:picLocks noChangeAspect="1"/>
          </p:cNvPicPr>
          <p:nvPr/>
        </p:nvPicPr>
        <p:blipFill>
          <a:blip r:embed="rId2"/>
          <a:stretch>
            <a:fillRect/>
          </a:stretch>
        </p:blipFill>
        <p:spPr>
          <a:xfrm>
            <a:off x="2778128" y="1998016"/>
            <a:ext cx="7930281" cy="3425722"/>
          </a:xfrm>
          <a:prstGeom prst="rect">
            <a:avLst/>
          </a:prstGeom>
        </p:spPr>
      </p:pic>
      <p:pic>
        <p:nvPicPr>
          <p:cNvPr id="6" name="layer_2" descr="llm-d's &quot;Well-Lit Paths&quot; — illustration part 3">    </p:cNvPr>
          <p:cNvPicPr>
            <a:picLocks noChangeAspect="1"/>
          </p:cNvPicPr>
          <p:nvPr/>
        </p:nvPicPr>
        <p:blipFill>
          <a:blip r:embed="rId3"/>
          <a:stretch>
            <a:fillRect/>
          </a:stretch>
        </p:blipFill>
        <p:spPr>
          <a:xfrm>
            <a:off x="4052818" y="5262527"/>
            <a:ext cx="1566911" cy="226702"/>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Many paths exist — three of them carry almost the whole story</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llm-d ships 'well-lit paths': ready-made recipes with every knob already set and measured on real hardware, so you don't start from scratch.</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138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9.xml><?xml version="1.0" encoding="utf-8"?>
<p:sld xmlns:a="http://schemas.openxmlformats.org/drawingml/2006/main" xmlns:r="http://schemas.openxmlformats.org/officeDocument/2006/relationships" xmlns:p="http://schemas.openxmlformats.org/presentationml/2006/main">
  <p:cSld name="Slide 139">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Three Paths, One Router</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Only the shape of the fleet behind the router changes</a:t>
            </a:r>
            <a:endParaRPr lang="en-US" sz="1700" dirty="0"/>
          </a:p>
        </p:txBody>
      </p:sp>
      <p:pic>
        <p:nvPicPr>
          <p:cNvPr id="4" name="layer_0" descr="Three Paths, One Router — illustration part 1">    </p:cNvPr>
          <p:cNvPicPr>
            <a:picLocks noChangeAspect="1"/>
          </p:cNvPicPr>
          <p:nvPr/>
        </p:nvPicPr>
        <p:blipFill>
          <a:blip r:embed="rId1"/>
          <a:stretch>
            <a:fillRect/>
          </a:stretch>
        </p:blipFill>
        <p:spPr>
          <a:xfrm>
            <a:off x="1296869" y="1998016"/>
            <a:ext cx="3093515" cy="3425722"/>
          </a:xfrm>
          <a:prstGeom prst="rect">
            <a:avLst/>
          </a:prstGeom>
        </p:spPr>
      </p:pic>
      <p:pic>
        <p:nvPicPr>
          <p:cNvPr id="5" name="layer_1" descr="Three Paths, One Router — illustration part 2">    </p:cNvPr>
          <p:cNvPicPr>
            <a:picLocks noChangeAspect="1"/>
          </p:cNvPicPr>
          <p:nvPr/>
        </p:nvPicPr>
        <p:blipFill>
          <a:blip r:embed="rId2"/>
          <a:stretch>
            <a:fillRect/>
          </a:stretch>
        </p:blipFill>
        <p:spPr>
          <a:xfrm>
            <a:off x="4622145" y="1998016"/>
            <a:ext cx="3093515" cy="3425722"/>
          </a:xfrm>
          <a:prstGeom prst="rect">
            <a:avLst/>
          </a:prstGeom>
        </p:spPr>
      </p:pic>
      <p:pic>
        <p:nvPicPr>
          <p:cNvPr id="6" name="layer_2" descr="Three Paths, One Router — illustration part 3">    </p:cNvPr>
          <p:cNvPicPr>
            <a:picLocks noChangeAspect="1"/>
          </p:cNvPicPr>
          <p:nvPr/>
        </p:nvPicPr>
        <p:blipFill>
          <a:blip r:embed="rId3"/>
          <a:stretch>
            <a:fillRect/>
          </a:stretch>
        </p:blipFill>
        <p:spPr>
          <a:xfrm>
            <a:off x="7947422" y="1998016"/>
            <a:ext cx="3093515" cy="3425722"/>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Most teams start with path 1: the smallest change for the biggest payoff</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Path 1: identical servers with cache-aware routing. Path 2: separate prefill and decode pools for long prompts. Path 3 (wide expert-parallelism): giant Mixture-of-Experts models spread across many GPUs. The router stays the same.</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139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0.xml><?xml version="1.0" encoding="utf-8"?>
<p:sld xmlns:a="http://schemas.openxmlformats.org/drawingml/2006/main" xmlns:r="http://schemas.openxmlformats.org/officeDocument/2006/relationships" xmlns:p="http://schemas.openxmlformats.org/presentationml/2006/main">
  <p:cSld name="Slide 140">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Setup: Two Helm Commands</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One installs the router + vLLM servers, the other installs the model</a:t>
            </a:r>
            <a:endParaRPr lang="en-US" sz="1700" dirty="0"/>
          </a:p>
        </p:txBody>
      </p:sp>
      <p:pic>
        <p:nvPicPr>
          <p:cNvPr id="4" name="layer_0" descr="Setup: Two Helm Commands — illustration part 1">    </p:cNvPr>
          <p:cNvPicPr>
            <a:picLocks noChangeAspect="1"/>
          </p:cNvPicPr>
          <p:nvPr/>
        </p:nvPicPr>
        <p:blipFill>
          <a:blip r:embed="rId1"/>
          <a:stretch>
            <a:fillRect/>
          </a:stretch>
        </p:blipFill>
        <p:spPr>
          <a:xfrm>
            <a:off x="1296869" y="2496761"/>
            <a:ext cx="6751319" cy="2095736"/>
          </a:xfrm>
          <a:prstGeom prst="rect">
            <a:avLst/>
          </a:prstGeom>
        </p:spPr>
      </p:pic>
      <p:pic>
        <p:nvPicPr>
          <p:cNvPr id="5" name="layer_1" descr="Setup: Two Helm Commands — illustration part 2">    </p:cNvPr>
          <p:cNvPicPr>
            <a:picLocks noChangeAspect="1"/>
          </p:cNvPicPr>
          <p:nvPr/>
        </p:nvPicPr>
        <p:blipFill>
          <a:blip r:embed="rId2"/>
          <a:stretch>
            <a:fillRect/>
          </a:stretch>
        </p:blipFill>
        <p:spPr>
          <a:xfrm>
            <a:off x="1664665" y="3851936"/>
            <a:ext cx="4912341" cy="554161"/>
          </a:xfrm>
          <a:prstGeom prst="rect">
            <a:avLst/>
          </a:prstGeom>
        </p:spPr>
      </p:pic>
      <p:pic>
        <p:nvPicPr>
          <p:cNvPr id="6" name="layer_2" descr="Setup: Two Helm Commands — illustration part 3">    </p:cNvPr>
          <p:cNvPicPr>
            <a:picLocks noChangeAspect="1"/>
          </p:cNvPicPr>
          <p:nvPr/>
        </p:nvPicPr>
        <p:blipFill>
          <a:blip r:embed="rId3"/>
          <a:stretch>
            <a:fillRect/>
          </a:stretch>
        </p:blipFill>
        <p:spPr>
          <a:xfrm>
            <a:off x="3045158" y="2824219"/>
            <a:ext cx="7648136" cy="2236795"/>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Let's see what those two commands actually build</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Setup is two Helm commands: one installs the llm-d router and the vLLM servers, the other installs the model itself.</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140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1.xml><?xml version="1.0" encoding="utf-8"?>
<p:sld xmlns:a="http://schemas.openxmlformats.org/drawingml/2006/main" xmlns:r="http://schemas.openxmlformats.org/officeDocument/2006/relationships" xmlns:p="http://schemas.openxmlformats.org/presentationml/2006/main">
  <p:cSld name="Slide 141">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What Gets Built: Nodes, Pods, Deployments</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Each vLLM server is a pod, scheduled onto whichever node has room</a:t>
            </a:r>
            <a:endParaRPr lang="en-US" sz="1700" dirty="0"/>
          </a:p>
        </p:txBody>
      </p:sp>
      <p:pic>
        <p:nvPicPr>
          <p:cNvPr id="4" name="layer_0" descr="What Gets Built: Nodes, Pods, Deployments — illustration part 1">    </p:cNvPr>
          <p:cNvPicPr>
            <a:picLocks noChangeAspect="1"/>
          </p:cNvPicPr>
          <p:nvPr/>
        </p:nvPicPr>
        <p:blipFill>
          <a:blip r:embed="rId1"/>
          <a:stretch>
            <a:fillRect/>
          </a:stretch>
        </p:blipFill>
        <p:spPr>
          <a:xfrm>
            <a:off x="1130605" y="1831767"/>
            <a:ext cx="9910332" cy="3758219"/>
          </a:xfrm>
          <a:prstGeom prst="rect">
            <a:avLst/>
          </a:prstGeom>
        </p:spPr>
      </p:pic>
      <p:pic>
        <p:nvPicPr>
          <p:cNvPr id="5" name="layer_1" descr="What Gets Built: Nodes, Pods, Deployments — illustration part 2">    </p:cNvPr>
          <p:cNvPicPr>
            <a:picLocks noChangeAspect="1"/>
          </p:cNvPicPr>
          <p:nvPr/>
        </p:nvPicPr>
        <p:blipFill>
          <a:blip r:embed="rId2"/>
          <a:stretch>
            <a:fillRect/>
          </a:stretch>
        </p:blipFill>
        <p:spPr>
          <a:xfrm>
            <a:off x="1710009" y="2023205"/>
            <a:ext cx="7668290" cy="2070547"/>
          </a:xfrm>
          <a:prstGeom prst="rect">
            <a:avLst/>
          </a:prstGeom>
        </p:spPr>
      </p:pic>
      <p:pic>
        <p:nvPicPr>
          <p:cNvPr id="6" name="layer_2" descr="What Gets Built: Nodes, Pods, Deployments — illustration part 3">    </p:cNvPr>
          <p:cNvPicPr>
            <a:picLocks noChangeAspect="1"/>
          </p:cNvPicPr>
          <p:nvPr/>
        </p:nvPicPr>
        <p:blipFill>
          <a:blip r:embed="rId3"/>
          <a:stretch>
            <a:fillRect/>
          </a:stretch>
        </p:blipFill>
        <p:spPr>
          <a:xfrm>
            <a:off x="2959507" y="2023205"/>
            <a:ext cx="7668290" cy="3068036"/>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A group of identical pods is a Deployment: one for the prefill pool, one for the decode pool</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Starting from an empty cluster, each vLLM server becomes a pod on whichever node has room. Identical pods form Deployments: one for the prefill pool, one for the decode pool.</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141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2.xml><?xml version="1.0" encoding="utf-8"?>
<p:sld xmlns:a="http://schemas.openxmlformats.org/drawingml/2006/main" xmlns:r="http://schemas.openxmlformats.org/officeDocument/2006/relationships" xmlns:p="http://schemas.openxmlformats.org/presentationml/2006/main">
  <p:cSld name="Slide 142">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Out Front: Gateway + Scheduler</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One address for the whole fleet, and a small brain behind it</a:t>
            </a:r>
            <a:endParaRPr lang="en-US" sz="1700" dirty="0"/>
          </a:p>
        </p:txBody>
      </p:sp>
      <p:pic>
        <p:nvPicPr>
          <p:cNvPr id="4" name="layer_0" descr="Out Front: Gateway + Scheduler — illustration part 1">    </p:cNvPr>
          <p:cNvPicPr>
            <a:picLocks noChangeAspect="1"/>
          </p:cNvPicPr>
          <p:nvPr/>
        </p:nvPicPr>
        <p:blipFill>
          <a:blip r:embed="rId1"/>
          <a:stretch>
            <a:fillRect/>
          </a:stretch>
        </p:blipFill>
        <p:spPr>
          <a:xfrm>
            <a:off x="1075184" y="3076111"/>
            <a:ext cx="2483881" cy="1662483"/>
          </a:xfrm>
          <a:prstGeom prst="rect">
            <a:avLst/>
          </a:prstGeom>
        </p:spPr>
      </p:pic>
      <p:pic>
        <p:nvPicPr>
          <p:cNvPr id="5" name="layer_1" descr="Out Front: Gateway + Scheduler — illustration part 2">    </p:cNvPr>
          <p:cNvPicPr>
            <a:picLocks noChangeAspect="1"/>
          </p:cNvPicPr>
          <p:nvPr/>
        </p:nvPicPr>
        <p:blipFill>
          <a:blip r:embed="rId2"/>
          <a:stretch>
            <a:fillRect/>
          </a:stretch>
        </p:blipFill>
        <p:spPr>
          <a:xfrm>
            <a:off x="3543950" y="3076111"/>
            <a:ext cx="2342809" cy="1662483"/>
          </a:xfrm>
          <a:prstGeom prst="rect">
            <a:avLst/>
          </a:prstGeom>
        </p:spPr>
      </p:pic>
      <p:pic>
        <p:nvPicPr>
          <p:cNvPr id="6" name="layer_2" descr="Out Front: Gateway + Scheduler — illustration part 3">    </p:cNvPr>
          <p:cNvPicPr>
            <a:picLocks noChangeAspect="1"/>
          </p:cNvPicPr>
          <p:nvPr/>
        </p:nvPicPr>
        <p:blipFill>
          <a:blip r:embed="rId3"/>
          <a:stretch>
            <a:fillRect/>
          </a:stretch>
        </p:blipFill>
        <p:spPr>
          <a:xfrm>
            <a:off x="5876682" y="2290210"/>
            <a:ext cx="4332936" cy="3188944"/>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The gateway takes the request; the llm-d scheduler (cache- and load-aware) picks the pod</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In front sits a gateway that gives the fleet one address. Behind it, the llm-d scheduler — the cache- and load-aware brain — picks which pod handles each request.</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142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3.xml><?xml version="1.0" encoding="utf-8"?>
<p:sld xmlns:a="http://schemas.openxmlformats.org/drawingml/2006/main" xmlns:r="http://schemas.openxmlformats.org/officeDocument/2006/relationships" xmlns:p="http://schemas.openxmlformats.org/presentationml/2006/main">
  <p:cSld name="Slide 143">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Giant Models Span Several Machines</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Kubernetes must treat that whole group of pods as ONE unit</a:t>
            </a:r>
            <a:endParaRPr lang="en-US" sz="1700" dirty="0"/>
          </a:p>
        </p:txBody>
      </p:sp>
      <p:pic>
        <p:nvPicPr>
          <p:cNvPr id="4" name="layer_0" descr="Giant Models Span Several Machines — illustration part 1">    </p:cNvPr>
          <p:cNvPicPr>
            <a:picLocks noChangeAspect="1"/>
          </p:cNvPicPr>
          <p:nvPr/>
        </p:nvPicPr>
        <p:blipFill>
          <a:blip r:embed="rId1"/>
          <a:stretch>
            <a:fillRect/>
          </a:stretch>
        </p:blipFill>
        <p:spPr>
          <a:xfrm>
            <a:off x="1463133" y="2330512"/>
            <a:ext cx="6252528" cy="2760729"/>
          </a:xfrm>
          <a:prstGeom prst="rect">
            <a:avLst/>
          </a:prstGeom>
        </p:spPr>
      </p:pic>
      <p:pic>
        <p:nvPicPr>
          <p:cNvPr id="5" name="layer_1" descr="Giant Models Span Several Machines — illustration part 2">    </p:cNvPr>
          <p:cNvPicPr>
            <a:picLocks noChangeAspect="1"/>
          </p:cNvPicPr>
          <p:nvPr/>
        </p:nvPicPr>
        <p:blipFill>
          <a:blip r:embed="rId2"/>
          <a:stretch>
            <a:fillRect/>
          </a:stretch>
        </p:blipFill>
        <p:spPr>
          <a:xfrm>
            <a:off x="8733397" y="3045884"/>
            <a:ext cx="1506451" cy="1299759"/>
          </a:xfrm>
          <a:prstGeom prst="rect">
            <a:avLst/>
          </a:prstGeom>
        </p:spPr>
      </p:pic>
      <p:sp>
        <p:nvSpPr>
          <p:cNvPr id="6"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7"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First instinct: a StatefulSet? Let's check whether that fits</a:t>
            </a:r>
            <a:endParaRPr lang="en-US" sz="1200" dirty="0"/>
          </a:p>
          <a:p>
            <a:pPr indent="0" marL="0">
              <a:spcAft>
                <a:spcPts val="200"/>
              </a:spcAft>
              <a:buNone/>
            </a:pPr>
            <a:r>
              <a:rPr lang="en-US" sz="1200" dirty="0">
                <a:solidFill>
                  <a:srgbClr val="C9D6EA"/>
                </a:solidFill>
                <a:latin typeface="Calibri" pitchFamily="34" charset="0"/>
                <a:ea typeface="Calibri" pitchFamily="34" charset="-122"/>
                <a:cs typeface="Calibri" pitchFamily="34" charset="-120"/>
              </a:rPr>
              <a:t>A model too big for one machine must span several, so Kubernetes needs to treat that group of pods as one unit. Is a StatefulSet the right tool?</a:t>
            </a:r>
            <a:endParaRPr lang="en-US" sz="1200" dirty="0"/>
          </a:p>
          <a:p>
            <a:pPr indent="0" marL="0">
              <a:spcAft>
                <a:spcPts val="200"/>
              </a:spcAft>
              <a:buNone/>
            </a:pPr>
            <a:r>
              <a:rPr lang="en-US" sz="1200" b="1" dirty="0">
                <a:solidFill>
                  <a:srgbClr val="5EE6A8"/>
                </a:solidFill>
                <a:latin typeface="Calibri" pitchFamily="34" charset="0"/>
                <a:ea typeface="Calibri" pitchFamily="34" charset="-122"/>
                <a:cs typeface="Calibri" pitchFamily="34" charset="-120"/>
              </a:rPr>
              <a:t>➜ Coming up:  Next: why a StatefulSet doesn't fit — and what does.</a:t>
            </a:r>
            <a:endParaRPr lang="en-US" sz="1200" dirty="0"/>
          </a:p>
        </p:txBody>
      </p:sp>
      <p:sp>
        <p:nvSpPr>
          <p:cNvPr id="8"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3"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143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4.xml><?xml version="1.0" encoding="utf-8"?>
<p:sld xmlns:a="http://schemas.openxmlformats.org/drawingml/2006/main" xmlns:r="http://schemas.openxmlformats.org/officeDocument/2006/relationships" xmlns:p="http://schemas.openxmlformats.org/presentationml/2006/main">
  <p:cSld name="Slide 144">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StatefulSet vs LeaderWorkerSet</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Separate ordered replicas vs one group that lives and dies together</a:t>
            </a:r>
            <a:endParaRPr lang="en-US" sz="1700" dirty="0"/>
          </a:p>
        </p:txBody>
      </p:sp>
      <p:pic>
        <p:nvPicPr>
          <p:cNvPr id="4" name="layer_0" descr="StatefulSet vs LeaderWorkerSet — illustration part 1">    </p:cNvPr>
          <p:cNvPicPr>
            <a:picLocks noChangeAspect="1"/>
          </p:cNvPicPr>
          <p:nvPr/>
        </p:nvPicPr>
        <p:blipFill>
          <a:blip r:embed="rId1"/>
          <a:stretch>
            <a:fillRect/>
          </a:stretch>
        </p:blipFill>
        <p:spPr>
          <a:xfrm>
            <a:off x="1296869" y="1821692"/>
            <a:ext cx="4091098" cy="2745615"/>
          </a:xfrm>
          <a:prstGeom prst="rect">
            <a:avLst/>
          </a:prstGeom>
        </p:spPr>
      </p:pic>
      <p:pic>
        <p:nvPicPr>
          <p:cNvPr id="5" name="layer_1" descr="StatefulSet vs LeaderWorkerSet — illustration part 2">    </p:cNvPr>
          <p:cNvPicPr>
            <a:picLocks noChangeAspect="1"/>
          </p:cNvPicPr>
          <p:nvPr/>
        </p:nvPicPr>
        <p:blipFill>
          <a:blip r:embed="rId2"/>
          <a:stretch>
            <a:fillRect/>
          </a:stretch>
        </p:blipFill>
        <p:spPr>
          <a:xfrm>
            <a:off x="5791031" y="1771314"/>
            <a:ext cx="4917379" cy="3722954"/>
          </a:xfrm>
          <a:prstGeom prst="rect">
            <a:avLst/>
          </a:prstGeom>
        </p:spPr>
      </p:pic>
      <p:pic>
        <p:nvPicPr>
          <p:cNvPr id="6" name="layer_2" descr="StatefulSet vs LeaderWorkerSet — illustration part 3">    </p:cNvPr>
          <p:cNvPicPr>
            <a:picLocks noChangeAspect="1"/>
          </p:cNvPicPr>
          <p:nvPr/>
        </p:nvPicPr>
        <p:blipFill>
          <a:blip r:embed="rId3"/>
          <a:stretch>
            <a:fillRect/>
          </a:stretch>
        </p:blipFill>
        <p:spPr>
          <a:xfrm>
            <a:off x="2309567" y="4431286"/>
            <a:ext cx="7355915" cy="967263"/>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LeaderWorkerSet: a leader pod + its workers, scaled and healed as a single unit</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A StatefulSet treats each pod as a separate replica — fine for MySQL. A LeaderWorkerSet groups a leader and its workers into one unit that scales and restarts together.</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144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5.xml><?xml version="1.0" encoding="utf-8"?>
<p:sld xmlns:a="http://schemas.openxmlformats.org/drawingml/2006/main" xmlns:r="http://schemas.openxmlformats.org/officeDocument/2006/relationships" xmlns:p="http://schemas.openxmlformats.org/presentationml/2006/main">
  <p:cSld name="Slide 145">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values.yaml Describes the Whole Fleet</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The file you pass to Helm when you deploy the model</a:t>
            </a:r>
            <a:endParaRPr lang="en-US" sz="1700" dirty="0"/>
          </a:p>
        </p:txBody>
      </p:sp>
      <p:pic>
        <p:nvPicPr>
          <p:cNvPr id="4" name="layer_0" descr="values.yaml Describes the Whole Fleet — illustration part 1">    </p:cNvPr>
          <p:cNvPicPr>
            <a:picLocks noChangeAspect="1"/>
          </p:cNvPicPr>
          <p:nvPr/>
        </p:nvPicPr>
        <p:blipFill>
          <a:blip r:embed="rId1"/>
          <a:stretch>
            <a:fillRect/>
          </a:stretch>
        </p:blipFill>
        <p:spPr>
          <a:xfrm>
            <a:off x="1296869" y="1998016"/>
            <a:ext cx="4423626" cy="3425722"/>
          </a:xfrm>
          <a:prstGeom prst="rect">
            <a:avLst/>
          </a:prstGeom>
        </p:spPr>
      </p:pic>
      <p:pic>
        <p:nvPicPr>
          <p:cNvPr id="5" name="layer_1" descr="values.yaml Describes the Whole Fleet — illustration part 2">    </p:cNvPr>
          <p:cNvPicPr>
            <a:picLocks noChangeAspect="1"/>
          </p:cNvPicPr>
          <p:nvPr/>
        </p:nvPicPr>
        <p:blipFill>
          <a:blip r:embed="rId2"/>
          <a:stretch>
            <a:fillRect/>
          </a:stretch>
        </p:blipFill>
        <p:spPr>
          <a:xfrm>
            <a:off x="5705380" y="1998016"/>
            <a:ext cx="5254945" cy="3425722"/>
          </a:xfrm>
          <a:prstGeom prst="rect">
            <a:avLst/>
          </a:prstGeom>
        </p:spPr>
      </p:pic>
      <p:sp>
        <p:nvSpPr>
          <p:cNvPr id="6"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7"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Swap the file, get a completely different fleet — llm-d creates the pods, gateway and scheduler and wires it up</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The values.yaml you pass to Helm sets the model location and how many prefill and decode pods to run. Apply it, and a minute later the whole stack is up and running.</a:t>
            </a:r>
            <a:endParaRPr lang="en-US" sz="1200" dirty="0"/>
          </a:p>
        </p:txBody>
      </p:sp>
      <p:sp>
        <p:nvSpPr>
          <p:cNvPr id="8"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3"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145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6.xml><?xml version="1.0" encoding="utf-8"?>
<p:sld xmlns:a="http://schemas.openxmlformats.org/drawingml/2006/main" xmlns:r="http://schemas.openxmlformats.org/officeDocument/2006/relationships" xmlns:p="http://schemas.openxmlformats.org/presentationml/2006/main">
  <p:cSld name="Slide 146">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The Kubernetes Objects in This Stack</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Quick reference: what each piece is for</a:t>
            </a:r>
            <a:endParaRPr lang="en-US" sz="1700" dirty="0"/>
          </a:p>
        </p:txBody>
      </p:sp>
      <p:pic>
        <p:nvPicPr>
          <p:cNvPr id="4" name="layer_0" descr="The Kubernetes Objects in This Stack — illustration part 1">    </p:cNvPr>
          <p:cNvPicPr>
            <a:picLocks noChangeAspect="1"/>
          </p:cNvPicPr>
          <p:nvPr/>
        </p:nvPicPr>
        <p:blipFill>
          <a:blip r:embed="rId1"/>
          <a:stretch>
            <a:fillRect/>
          </a:stretch>
        </p:blipFill>
        <p:spPr>
          <a:xfrm>
            <a:off x="1296869" y="2078621"/>
            <a:ext cx="9577804" cy="1017641"/>
          </a:xfrm>
          <a:prstGeom prst="rect">
            <a:avLst/>
          </a:prstGeom>
        </p:spPr>
      </p:pic>
      <p:pic>
        <p:nvPicPr>
          <p:cNvPr id="5" name="layer_1" descr="The Kubernetes Objects in This Stack — illustration part 2">    </p:cNvPr>
          <p:cNvPicPr>
            <a:picLocks noChangeAspect="1"/>
          </p:cNvPicPr>
          <p:nvPr/>
        </p:nvPicPr>
        <p:blipFill>
          <a:blip r:embed="rId2"/>
          <a:stretch>
            <a:fillRect/>
          </a:stretch>
        </p:blipFill>
        <p:spPr>
          <a:xfrm>
            <a:off x="1296869" y="3242359"/>
            <a:ext cx="9577804" cy="1017641"/>
          </a:xfrm>
          <a:prstGeom prst="rect">
            <a:avLst/>
          </a:prstGeom>
        </p:spPr>
      </p:pic>
      <p:pic>
        <p:nvPicPr>
          <p:cNvPr id="6" name="layer_2" descr="The Kubernetes Objects in This Stack — illustration part 3">    </p:cNvPr>
          <p:cNvPicPr>
            <a:picLocks noChangeAspect="1"/>
          </p:cNvPicPr>
          <p:nvPr/>
        </p:nvPicPr>
        <p:blipFill>
          <a:blip r:embed="rId3"/>
          <a:stretch>
            <a:fillRect/>
          </a:stretch>
        </p:blipFill>
        <p:spPr>
          <a:xfrm>
            <a:off x="1296869" y="4406097"/>
            <a:ext cx="9577804" cy="1017641"/>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Everything llm-d deploys is a standard Kubernetes object your team already knows how to operate</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Pods run vLLM. Deployments keep N identical pods alive (one per pool). The Gateway is the single entry point. The llm-d scheduler (endpoint picker) chooses the pod. LeaderWorkerSet groups shards of a giant model. values.yaml describes it all for Helm.</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146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7.xml><?xml version="1.0" encoding="utf-8"?>
<p:sld xmlns:a="http://schemas.openxmlformats.org/drawingml/2006/main" xmlns:r="http://schemas.openxmlformats.org/officeDocument/2006/relationships" xmlns:p="http://schemas.openxmlformats.org/presentationml/2006/main">
  <p:cSld name="Slide 147">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Kubernetes Keeps It Alive, llm-d Keeps It Smart</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Every server is just a pod — the loop your ops team already trusts</a:t>
            </a:r>
            <a:endParaRPr lang="en-US" sz="1700" dirty="0"/>
          </a:p>
        </p:txBody>
      </p:sp>
      <p:pic>
        <p:nvPicPr>
          <p:cNvPr id="4" name="layer_0" descr="Kubernetes Keeps It Alive, llm-d Keeps It Smart — illustration part 1">    </p:cNvPr>
          <p:cNvPicPr>
            <a:picLocks noChangeAspect="1"/>
          </p:cNvPicPr>
          <p:nvPr/>
        </p:nvPicPr>
        <p:blipFill>
          <a:blip r:embed="rId1"/>
          <a:stretch>
            <a:fillRect/>
          </a:stretch>
        </p:blipFill>
        <p:spPr>
          <a:xfrm>
            <a:off x="1463133" y="2330512"/>
            <a:ext cx="3758570" cy="931998"/>
          </a:xfrm>
          <a:prstGeom prst="rect">
            <a:avLst/>
          </a:prstGeom>
        </p:spPr>
      </p:pic>
      <p:pic>
        <p:nvPicPr>
          <p:cNvPr id="5" name="layer_1" descr="Kubernetes Keeps It Alive, llm-d Keeps It Smart — illustration part 2">    </p:cNvPr>
          <p:cNvPicPr>
            <a:picLocks noChangeAspect="1"/>
          </p:cNvPicPr>
          <p:nvPr/>
        </p:nvPicPr>
        <p:blipFill>
          <a:blip r:embed="rId2"/>
          <a:stretch>
            <a:fillRect/>
          </a:stretch>
        </p:blipFill>
        <p:spPr>
          <a:xfrm>
            <a:off x="1463133" y="3826747"/>
            <a:ext cx="4091098" cy="1430743"/>
          </a:xfrm>
          <a:prstGeom prst="rect">
            <a:avLst/>
          </a:prstGeom>
        </p:spPr>
      </p:pic>
      <p:pic>
        <p:nvPicPr>
          <p:cNvPr id="6" name="layer_2" descr="Kubernetes Keeps It Alive, llm-d Keeps It Smart — illustration part 3">    </p:cNvPr>
          <p:cNvPicPr>
            <a:picLocks noChangeAspect="1"/>
          </p:cNvPicPr>
          <p:nvPr/>
        </p:nvPicPr>
        <p:blipFill>
          <a:blip r:embed="rId3"/>
          <a:stretch>
            <a:fillRect/>
          </a:stretch>
        </p:blipFill>
        <p:spPr>
          <a:xfrm>
            <a:off x="6451048" y="1841843"/>
            <a:ext cx="4675541" cy="3385419"/>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Pod crashes → restarted · node dies → pods move · scale prefill and decode pools independently</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Every server is just a pod, so Kubernetes restarts crashed pods and moves pods off dead nodes. You can grow the prefill and decode pools independently.</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147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8.xml><?xml version="1.0" encoding="utf-8"?>
<p:sld xmlns:a="http://schemas.openxmlformats.org/drawingml/2006/main" xmlns:r="http://schemas.openxmlformats.org/officeDocument/2006/relationships" xmlns:p="http://schemas.openxmlformats.org/presentationml/2006/main">
  <p:cSld name="Slide 148">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Scaling With Traffic</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Grow the pools when tokens pile up, shrink them when traffic stops</a:t>
            </a:r>
            <a:endParaRPr lang="en-US" sz="1700" dirty="0"/>
          </a:p>
        </p:txBody>
      </p:sp>
      <p:pic>
        <p:nvPicPr>
          <p:cNvPr id="4" name="layer_0" descr="Scaling With Traffic — illustration part 1">    </p:cNvPr>
          <p:cNvPicPr>
            <a:picLocks noChangeAspect="1"/>
          </p:cNvPicPr>
          <p:nvPr/>
        </p:nvPicPr>
        <p:blipFill>
          <a:blip r:embed="rId1"/>
          <a:stretch>
            <a:fillRect/>
          </a:stretch>
        </p:blipFill>
        <p:spPr>
          <a:xfrm>
            <a:off x="1241448" y="2003054"/>
            <a:ext cx="9713838" cy="3360230"/>
          </a:xfrm>
          <a:prstGeom prst="rect">
            <a:avLst/>
          </a:prstGeom>
        </p:spPr>
      </p:pic>
      <p:pic>
        <p:nvPicPr>
          <p:cNvPr id="5" name="layer_1" descr="Scaling With Traffic — illustration part 2">    </p:cNvPr>
          <p:cNvPicPr>
            <a:picLocks noChangeAspect="1"/>
          </p:cNvPicPr>
          <p:nvPr/>
        </p:nvPicPr>
        <p:blipFill>
          <a:blip r:embed="rId2"/>
          <a:stretch>
            <a:fillRect/>
          </a:stretch>
        </p:blipFill>
        <p:spPr>
          <a:xfrm>
            <a:off x="1795660" y="2249907"/>
            <a:ext cx="9079013" cy="2680124"/>
          </a:xfrm>
          <a:prstGeom prst="rect">
            <a:avLst/>
          </a:prstGeom>
        </p:spPr>
      </p:pic>
      <p:pic>
        <p:nvPicPr>
          <p:cNvPr id="6" name="layer_2" descr="Scaling With Traffic — illustration part 3">    </p:cNvPr>
          <p:cNvPicPr>
            <a:picLocks noChangeAspect="1"/>
          </p:cNvPicPr>
          <p:nvPr/>
        </p:nvPicPr>
        <p:blipFill>
          <a:blip r:embed="rId3"/>
          <a:stretch>
            <a:fillRect/>
          </a:stretch>
        </p:blipFill>
        <p:spPr>
          <a:xfrm>
            <a:off x="1805737" y="2365777"/>
            <a:ext cx="9013515" cy="2720426"/>
          </a:xfrm>
          <a:prstGeom prst="rect">
            <a:avLst/>
          </a:prstGeom>
        </p:spPr>
      </p:pic>
      <p:pic>
        <p:nvPicPr>
          <p:cNvPr id="7" name="layer_3" descr="Scaling With Traffic — illustration part 4">    </p:cNvPr>
          <p:cNvPicPr>
            <a:picLocks noChangeAspect="1"/>
          </p:cNvPicPr>
          <p:nvPr/>
        </p:nvPicPr>
        <p:blipFill>
          <a:blip r:embed="rId4"/>
          <a:stretch>
            <a:fillRect/>
          </a:stretch>
        </p:blipFill>
        <p:spPr>
          <a:xfrm>
            <a:off x="9791439" y="3186943"/>
            <a:ext cx="1042928" cy="1012603"/>
          </a:xfrm>
          <a:prstGeom prst="rect">
            <a:avLst/>
          </a:prstGeom>
        </p:spPr>
      </p:pic>
      <p:sp>
        <p:nvSpPr>
          <p:cNvPr id="8"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9"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GPUs are the most expensive thing you run — idle replicas at 3 a.m. are money burned</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Traffic is uneven through the day. Watching queue length and KV-cache usage, the fleet adds decode or prefill pods during busy hours and scales back down when traffic stops, so you only pay for GPUs that are producing tokens.</a:t>
            </a:r>
            <a:endParaRPr lang="en-US" sz="1200" dirty="0"/>
          </a:p>
        </p:txBody>
      </p:sp>
      <p:sp>
        <p:nvSpPr>
          <p:cNvPr id="10"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5"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148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22" presetClass="entr" presetSubtype="8"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wipe(left)">
                                      <p:cBhvr>
                                        <p:cTn id="6" dur="1800"/>
                                        <p:tgtEl>
                                          <p:spTgt spid="5"/>
                                        </p:tgtEl>
                                      </p:cBhvr>
                                    </p:animEffect>
                                  </p:childTnLst>
                                </p:cTn>
                              </p:par>
                            </p:childTnLst>
                          </p:cTn>
                        </p:par>
                      </p:childTnLst>
                    </p:cTn>
                  </p:par>
                  <p:par>
                    <p:cTn id="8" fill="hold">
                      <p:stCondLst>
                        <p:cond delay="indefinite"/>
                      </p:stCondLst>
                      <p:childTnLst>
                        <p:par>
                          <p:cTn id="9" fill="hold">
                            <p:stCondLst>
                              <p:cond delay="0"/>
                            </p:stCondLst>
                            <p:childTnLst>
                              <p:par>
                                <p:cTn id="12" presetID="22" presetClass="entr" presetSubtype="8"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1800"/>
                                        <p:tgtEl>
                                          <p:spTgt spid="6"/>
                                        </p:tgtEl>
                                      </p:cBhvr>
                                    </p:animEffect>
                                  </p:childTnLst>
                                </p:cTn>
                              </p:par>
                            </p:childTnLst>
                          </p:cTn>
                        </p:par>
                      </p:childTnLst>
                    </p:cTn>
                  </p:par>
                  <p:par>
                    <p:cTn id="13" fill="hold">
                      <p:stCondLst>
                        <p:cond delay="indefinite"/>
                      </p:stCondLst>
                      <p:childTnLst>
                        <p:par>
                          <p:cTn id="14" fill="hold">
                            <p:stCondLst>
                              <p:cond delay="0"/>
                            </p:stCondLst>
                            <p:childTnLst>
                              <p:par>
                                <p:cTn id="19" presetID="53" presetClass="entr" presetSubtype="16"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p:cTn id="16" dur="600" fill="hold"/>
                                        <p:tgtEl>
                                          <p:spTgt spid="7"/>
                                        </p:tgtEl>
                                        <p:attrNameLst>
                                          <p:attrName>ppt_w</p:attrName>
                                        </p:attrNameLst>
                                      </p:cBhvr>
                                      <p:tavLst>
                                        <p:tav tm="0">
                                          <p:val>
                                            <p:fltVal val="0"/>
                                          </p:val>
                                        </p:tav>
                                        <p:tav tm="100000">
                                          <p:val>
                                            <p:strVal val="#ppt_w"/>
                                          </p:val>
                                        </p:tav>
                                      </p:tavLst>
                                    </p:anim>
                                    <p:anim calcmode="lin" valueType="num">
                                      <p:cBhvr>
                                        <p:cTn id="17" dur="600" fill="hold"/>
                                        <p:tgtEl>
                                          <p:spTgt spid="7"/>
                                        </p:tgtEl>
                                        <p:attrNameLst>
                                          <p:attrName>ppt_h</p:attrName>
                                        </p:attrNameLst>
                                      </p:cBhvr>
                                      <p:tavLst>
                                        <p:tav tm="0">
                                          <p:val>
                                            <p:fltVal val="0"/>
                                          </p:val>
                                        </p:tav>
                                        <p:tav tm="100000">
                                          <p:val>
                                            <p:strVal val="#ppt_h"/>
                                          </p:val>
                                        </p:tav>
                                      </p:tavLst>
                                    </p:anim>
                                    <p:animEffect transition="in" filter="fade">
                                      <p:cBhvr>
                                        <p:cTn id="18" dur="6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9.xml><?xml version="1.0" encoding="utf-8"?>
<p:sld xmlns:a="http://schemas.openxmlformats.org/drawingml/2006/main" xmlns:r="http://schemas.openxmlformats.org/officeDocument/2006/relationships" xmlns:p="http://schemas.openxmlformats.org/presentationml/2006/main">
  <p:cSld name="Slide 149">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One Endpoint for Everything</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llm-d hands you a single address: the inference gateway</a:t>
            </a:r>
            <a:endParaRPr lang="en-US" sz="1700" dirty="0"/>
          </a:p>
        </p:txBody>
      </p:sp>
      <p:pic>
        <p:nvPicPr>
          <p:cNvPr id="4" name="layer_0" descr="One Endpoint for Everything — illustration part 1">    </p:cNvPr>
          <p:cNvPicPr>
            <a:picLocks noChangeAspect="1"/>
          </p:cNvPicPr>
          <p:nvPr/>
        </p:nvPicPr>
        <p:blipFill>
          <a:blip r:embed="rId1"/>
          <a:stretch>
            <a:fillRect/>
          </a:stretch>
        </p:blipFill>
        <p:spPr>
          <a:xfrm>
            <a:off x="1296869" y="2768803"/>
            <a:ext cx="2927251" cy="1491197"/>
          </a:xfrm>
          <a:prstGeom prst="rect">
            <a:avLst/>
          </a:prstGeom>
        </p:spPr>
      </p:pic>
      <p:pic>
        <p:nvPicPr>
          <p:cNvPr id="5" name="layer_1" descr="One Endpoint for Everything — illustration part 2">    </p:cNvPr>
          <p:cNvPicPr>
            <a:picLocks noChangeAspect="1"/>
          </p:cNvPicPr>
          <p:nvPr/>
        </p:nvPicPr>
        <p:blipFill>
          <a:blip r:embed="rId2"/>
          <a:stretch>
            <a:fillRect/>
          </a:stretch>
        </p:blipFill>
        <p:spPr>
          <a:xfrm>
            <a:off x="4209005" y="1998016"/>
            <a:ext cx="6665668" cy="3425722"/>
          </a:xfrm>
          <a:prstGeom prst="rect">
            <a:avLst/>
          </a:prstGeom>
        </p:spPr>
      </p:pic>
      <p:sp>
        <p:nvSpPr>
          <p:cNvPr id="6"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7"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Never call a pod directly — send every request to the gateway URL, just like a web app</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Your applications only ever call the inference gateway's single address. Behind it sit every prefill pod, every decode pod and even sharded giant models.</a:t>
            </a:r>
            <a:endParaRPr lang="en-US" sz="1200" dirty="0"/>
          </a:p>
        </p:txBody>
      </p:sp>
      <p:sp>
        <p:nvSpPr>
          <p:cNvPr id="8"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3"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149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0.xml><?xml version="1.0" encoding="utf-8"?>
<p:sld xmlns:a="http://schemas.openxmlformats.org/drawingml/2006/main" xmlns:r="http://schemas.openxmlformats.org/officeDocument/2006/relationships" xmlns:p="http://schemas.openxmlformats.org/presentationml/2006/main">
  <p:cSld name="Slide 150">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Sequence Diagram: One Request, Step by Step</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Who talks to whom, in order</a:t>
            </a:r>
            <a:endParaRPr lang="en-US" sz="1700" dirty="0"/>
          </a:p>
        </p:txBody>
      </p:sp>
      <p:pic>
        <p:nvPicPr>
          <p:cNvPr id="4" name="layer_0" descr="Sequence Diagram: One Request, Step by Step — illustration part 1">    </p:cNvPr>
          <p:cNvPicPr>
            <a:picLocks noChangeAspect="1"/>
          </p:cNvPicPr>
          <p:nvPr/>
        </p:nvPicPr>
        <p:blipFill>
          <a:blip r:embed="rId1"/>
          <a:stretch>
            <a:fillRect/>
          </a:stretch>
        </p:blipFill>
        <p:spPr>
          <a:xfrm>
            <a:off x="1044954" y="1791465"/>
            <a:ext cx="9416579" cy="3702802"/>
          </a:xfrm>
          <a:prstGeom prst="rect">
            <a:avLst/>
          </a:prstGeom>
        </p:spPr>
      </p:pic>
      <p:pic>
        <p:nvPicPr>
          <p:cNvPr id="5" name="layer_1" descr="Sequence Diagram: One Request, Step by Step — illustration part 2">    </p:cNvPr>
          <p:cNvPicPr>
            <a:picLocks noChangeAspect="1"/>
          </p:cNvPicPr>
          <p:nvPr/>
        </p:nvPicPr>
        <p:blipFill>
          <a:blip r:embed="rId2"/>
          <a:stretch>
            <a:fillRect/>
          </a:stretch>
        </p:blipFill>
        <p:spPr>
          <a:xfrm>
            <a:off x="1800699" y="2456458"/>
            <a:ext cx="1894400" cy="327459"/>
          </a:xfrm>
          <a:prstGeom prst="rect">
            <a:avLst/>
          </a:prstGeom>
        </p:spPr>
      </p:pic>
      <p:pic>
        <p:nvPicPr>
          <p:cNvPr id="6" name="layer_2" descr="Sequence Diagram: One Request, Step by Step — illustration part 3">    </p:cNvPr>
          <p:cNvPicPr>
            <a:picLocks noChangeAspect="1"/>
          </p:cNvPicPr>
          <p:nvPr/>
        </p:nvPicPr>
        <p:blipFill>
          <a:blip r:embed="rId3"/>
          <a:stretch>
            <a:fillRect/>
          </a:stretch>
        </p:blipFill>
        <p:spPr>
          <a:xfrm>
            <a:off x="3629601" y="2859484"/>
            <a:ext cx="1894400" cy="342572"/>
          </a:xfrm>
          <a:prstGeom prst="rect">
            <a:avLst/>
          </a:prstGeom>
        </p:spPr>
      </p:pic>
      <p:pic>
        <p:nvPicPr>
          <p:cNvPr id="7" name="layer_3" descr="Sequence Diagram: One Request, Step by Step — illustration part 4">    </p:cNvPr>
          <p:cNvPicPr>
            <a:picLocks noChangeAspect="1"/>
          </p:cNvPicPr>
          <p:nvPr/>
        </p:nvPicPr>
        <p:blipFill>
          <a:blip r:embed="rId4"/>
          <a:stretch>
            <a:fillRect/>
          </a:stretch>
        </p:blipFill>
        <p:spPr>
          <a:xfrm>
            <a:off x="3654792" y="3277624"/>
            <a:ext cx="1894400" cy="337534"/>
          </a:xfrm>
          <a:prstGeom prst="rect">
            <a:avLst/>
          </a:prstGeom>
        </p:spPr>
      </p:pic>
      <p:pic>
        <p:nvPicPr>
          <p:cNvPr id="8" name="layer_4" descr="Sequence Diagram: One Request, Step by Step — illustration part 5">    </p:cNvPr>
          <p:cNvPicPr>
            <a:picLocks noChangeAspect="1"/>
          </p:cNvPicPr>
          <p:nvPr/>
        </p:nvPicPr>
        <p:blipFill>
          <a:blip r:embed="rId5"/>
          <a:stretch>
            <a:fillRect/>
          </a:stretch>
        </p:blipFill>
        <p:spPr>
          <a:xfrm>
            <a:off x="3629601" y="3700801"/>
            <a:ext cx="3889566" cy="332497"/>
          </a:xfrm>
          <a:prstGeom prst="rect">
            <a:avLst/>
          </a:prstGeom>
        </p:spPr>
      </p:pic>
      <p:pic>
        <p:nvPicPr>
          <p:cNvPr id="9" name="layer_5" descr="Sequence Diagram: One Request, Step by Step — illustration part 6">    </p:cNvPr>
          <p:cNvPicPr>
            <a:picLocks noChangeAspect="1"/>
          </p:cNvPicPr>
          <p:nvPr/>
        </p:nvPicPr>
        <p:blipFill>
          <a:blip r:embed="rId6"/>
          <a:stretch>
            <a:fillRect/>
          </a:stretch>
        </p:blipFill>
        <p:spPr>
          <a:xfrm>
            <a:off x="7453669" y="4189470"/>
            <a:ext cx="2226928" cy="342572"/>
          </a:xfrm>
          <a:prstGeom prst="rect">
            <a:avLst/>
          </a:prstGeom>
        </p:spPr>
      </p:pic>
      <p:pic>
        <p:nvPicPr>
          <p:cNvPr id="10" name="layer_6" descr="Sequence Diagram: One Request, Step by Step — illustration part 7">    </p:cNvPr>
          <p:cNvPicPr>
            <a:picLocks noChangeAspect="1"/>
          </p:cNvPicPr>
          <p:nvPr/>
        </p:nvPicPr>
        <p:blipFill>
          <a:blip r:embed="rId7"/>
          <a:stretch>
            <a:fillRect/>
          </a:stretch>
        </p:blipFill>
        <p:spPr>
          <a:xfrm>
            <a:off x="1825890" y="4773858"/>
            <a:ext cx="7879898" cy="337534"/>
          </a:xfrm>
          <a:prstGeom prst="rect">
            <a:avLst/>
          </a:prstGeom>
        </p:spPr>
      </p:pic>
      <p:sp>
        <p:nvSpPr>
          <p:cNvPr id="11"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12"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Gateway → scheduler → prefill pod → KV handoff → decode pod → tokens stream back to the client</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1) Client sends the prompt to the gateway. 2) Gateway asks the scheduler which pod to use. 3) Prefill pod reads the prompt and builds the KV cache. 4) It hands the cache to a decode pod. 5) Decode streams tokens back to the client.</a:t>
            </a:r>
            <a:endParaRPr lang="en-US" sz="1200" dirty="0"/>
          </a:p>
        </p:txBody>
      </p:sp>
      <p:sp>
        <p:nvSpPr>
          <p:cNvPr id="13"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8"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150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22" presetClass="entr" presetSubtype="8"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wipe(left)">
                                      <p:cBhvr>
                                        <p:cTn id="6" dur="700"/>
                                        <p:tgtEl>
                                          <p:spTgt spid="5"/>
                                        </p:tgtEl>
                                      </p:cBhvr>
                                    </p:animEffect>
                                  </p:childTnLst>
                                </p:cTn>
                              </p:par>
                            </p:childTnLst>
                          </p:cTn>
                        </p:par>
                        <p:par>
                          <p:cTn id="8" fill="hold">
                            <p:stCondLst>
                              <p:cond delay="700"/>
                            </p:stCondLst>
                            <p:childTnLst>
                              <p:par>
                                <p:cTn id="11" presetID="22" presetClass="entr" presetSubtype="8" fill="hold" grpId="0" nodeType="after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700"/>
                                        <p:tgtEl>
                                          <p:spTgt spid="6"/>
                                        </p:tgtEl>
                                      </p:cBhvr>
                                    </p:animEffect>
                                  </p:childTnLst>
                                </p:cTn>
                              </p:par>
                            </p:childTnLst>
                          </p:cTn>
                        </p:par>
                      </p:childTnLst>
                    </p:cTn>
                  </p:par>
                  <p:par>
                    <p:cTn id="12" fill="hold">
                      <p:stCondLst>
                        <p:cond delay="indefinite"/>
                      </p:stCondLst>
                      <p:childTnLst>
                        <p:par>
                          <p:cTn id="13" fill="hold">
                            <p:stCondLst>
                              <p:cond delay="0"/>
                            </p:stCondLst>
                            <p:childTnLst>
                              <p:par>
                                <p:cTn id="16" presetID="22" presetClass="entr" presetSubtype="8"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700"/>
                                        <p:tgtEl>
                                          <p:spTgt spid="7"/>
                                        </p:tgtEl>
                                      </p:cBhvr>
                                    </p:animEffect>
                                  </p:childTnLst>
                                </p:cTn>
                              </p:par>
                            </p:childTnLst>
                          </p:cTn>
                        </p:par>
                        <p:par>
                          <p:cTn id="17" fill="hold">
                            <p:stCondLst>
                              <p:cond delay="700"/>
                            </p:stCondLst>
                            <p:childTnLst>
                              <p:par>
                                <p:cTn id="20" presetID="22" presetClass="entr" presetSubtype="8"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left)">
                                      <p:cBhvr>
                                        <p:cTn id="19" dur="700"/>
                                        <p:tgtEl>
                                          <p:spTgt spid="8"/>
                                        </p:tgtEl>
                                      </p:cBhvr>
                                    </p:animEffect>
                                  </p:childTnLst>
                                </p:cTn>
                              </p:par>
                            </p:childTnLst>
                          </p:cTn>
                        </p:par>
                      </p:childTnLst>
                    </p:cTn>
                  </p:par>
                  <p:par>
                    <p:cTn id="21" fill="hold">
                      <p:stCondLst>
                        <p:cond delay="indefinite"/>
                      </p:stCondLst>
                      <p:childTnLst>
                        <p:par>
                          <p:cTn id="22" fill="hold">
                            <p:stCondLst>
                              <p:cond delay="0"/>
                            </p:stCondLst>
                            <p:childTnLst>
                              <p:par>
                                <p:cTn id="25" presetID="22" presetClass="entr" presetSubtype="8"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wipe(left)">
                                      <p:cBhvr>
                                        <p:cTn id="24" dur="700"/>
                                        <p:tgtEl>
                                          <p:spTgt spid="9"/>
                                        </p:tgtEl>
                                      </p:cBhvr>
                                    </p:animEffect>
                                  </p:childTnLst>
                                </p:cTn>
                              </p:par>
                            </p:childTnLst>
                          </p:cTn>
                        </p:par>
                      </p:childTnLst>
                    </p:cTn>
                  </p:par>
                  <p:par>
                    <p:cTn id="26" fill="hold">
                      <p:stCondLst>
                        <p:cond delay="indefinite"/>
                      </p:stCondLst>
                      <p:childTnLst>
                        <p:par>
                          <p:cTn id="27" fill="hold">
                            <p:stCondLst>
                              <p:cond delay="0"/>
                            </p:stCondLst>
                            <p:childTnLst>
                              <p:par>
                                <p:cTn id="30" presetID="22" presetClass="entr" presetSubtype="8"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wipe(left)">
                                      <p:cBhvr>
                                        <p:cTn id="29" dur="7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1.xml><?xml version="1.0" encoding="utf-8"?>
<p:sld xmlns:a="http://schemas.openxmlformats.org/drawingml/2006/main" xmlns:r="http://schemas.openxmlformats.org/officeDocument/2006/relationships" xmlns:p="http://schemas.openxmlformats.org/presentationml/2006/main">
  <p:cSld name="Slide 151">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Quick Check: llm-d on Kubernetes</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Think about each question first — then click to reveal the answer</a:t>
            </a:r>
            <a:endParaRPr lang="en-US" sz="1700" dirty="0"/>
          </a:p>
        </p:txBody>
      </p:sp>
      <p:pic>
        <p:nvPicPr>
          <p:cNvPr id="4" name="layer_0" descr="Quick Check: llm-d on Kubernetes — illustration part 1">    </p:cNvPr>
          <p:cNvPicPr>
            <a:picLocks noChangeAspect="1"/>
          </p:cNvPicPr>
          <p:nvPr/>
        </p:nvPicPr>
        <p:blipFill>
          <a:blip r:embed="rId1"/>
          <a:stretch>
            <a:fillRect/>
          </a:stretch>
        </p:blipFill>
        <p:spPr>
          <a:xfrm>
            <a:off x="1221294" y="1998016"/>
            <a:ext cx="4917379" cy="3259474"/>
          </a:xfrm>
          <a:prstGeom prst="rect">
            <a:avLst/>
          </a:prstGeom>
        </p:spPr>
      </p:pic>
      <p:pic>
        <p:nvPicPr>
          <p:cNvPr id="5" name="layer_1" descr="Quick Check: llm-d on Kubernetes — illustration part 2">    </p:cNvPr>
          <p:cNvPicPr>
            <a:picLocks noChangeAspect="1"/>
          </p:cNvPicPr>
          <p:nvPr/>
        </p:nvPicPr>
        <p:blipFill>
          <a:blip r:embed="rId2"/>
          <a:stretch>
            <a:fillRect/>
          </a:stretch>
        </p:blipFill>
        <p:spPr>
          <a:xfrm>
            <a:off x="6123558" y="1998016"/>
            <a:ext cx="4836766" cy="1430743"/>
          </a:xfrm>
          <a:prstGeom prst="rect">
            <a:avLst/>
          </a:prstGeom>
        </p:spPr>
      </p:pic>
      <p:pic>
        <p:nvPicPr>
          <p:cNvPr id="6" name="layer_2" descr="Quick Check: llm-d on Kubernetes — illustration part 3">    </p:cNvPr>
          <p:cNvPicPr>
            <a:picLocks noChangeAspect="1"/>
          </p:cNvPicPr>
          <p:nvPr/>
        </p:nvPicPr>
        <p:blipFill>
          <a:blip r:embed="rId3"/>
          <a:stretch>
            <a:fillRect/>
          </a:stretch>
        </p:blipFill>
        <p:spPr>
          <a:xfrm>
            <a:off x="6123558" y="3826747"/>
            <a:ext cx="4836766" cy="1430743"/>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Click once per answer</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Pause and answer out loud before clicking. If an answer surprises you, jump back to that part of the section using the agenda.</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151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500" fill="hold"/>
                                        <p:tgtEl>
                                          <p:spTgt spid="5"/>
                                        </p:tgtEl>
                                        <p:attrNameLst>
                                          <p:attrName>ppt_w</p:attrName>
                                        </p:attrNameLst>
                                      </p:cBhvr>
                                      <p:tavLst>
                                        <p:tav tm="0">
                                          <p:val>
                                            <p:fltVal val="0"/>
                                          </p:val>
                                        </p:tav>
                                        <p:tav tm="100000">
                                          <p:val>
                                            <p:strVal val="#ppt_w"/>
                                          </p:val>
                                        </p:tav>
                                      </p:tavLst>
                                    </p:anim>
                                    <p:anim calcmode="lin" valueType="num">
                                      <p:cBhvr>
                                        <p:cTn id="7" dur="500" fill="hold"/>
                                        <p:tgtEl>
                                          <p:spTgt spid="5"/>
                                        </p:tgtEl>
                                        <p:attrNameLst>
                                          <p:attrName>ppt_h</p:attrName>
                                        </p:attrNameLst>
                                      </p:cBhvr>
                                      <p:tavLst>
                                        <p:tav tm="0">
                                          <p:val>
                                            <p:fltVal val="0"/>
                                          </p:val>
                                        </p:tav>
                                        <p:tav tm="100000">
                                          <p:val>
                                            <p:strVal val="#ppt_h"/>
                                          </p:val>
                                        </p:tav>
                                      </p:tavLst>
                                    </p:anim>
                                    <p:animEffect transition="in" filter="fade">
                                      <p:cBhvr>
                                        <p:cTn id="8"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6" presetID="53" presetClass="entr" presetSubtype="16"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p:cTn id="13" dur="500" fill="hold"/>
                                        <p:tgtEl>
                                          <p:spTgt spid="6"/>
                                        </p:tgtEl>
                                        <p:attrNameLst>
                                          <p:attrName>ppt_w</p:attrName>
                                        </p:attrNameLst>
                                      </p:cBhvr>
                                      <p:tavLst>
                                        <p:tav tm="0">
                                          <p:val>
                                            <p:fltVal val="0"/>
                                          </p:val>
                                        </p:tav>
                                        <p:tav tm="100000">
                                          <p:val>
                                            <p:strVal val="#ppt_w"/>
                                          </p:val>
                                        </p:tav>
                                      </p:tavLst>
                                    </p:anim>
                                    <p:anim calcmode="lin" valueType="num">
                                      <p:cBhvr>
                                        <p:cTn id="14" dur="500" fill="hold"/>
                                        <p:tgtEl>
                                          <p:spTgt spid="6"/>
                                        </p:tgtEl>
                                        <p:attrNameLst>
                                          <p:attrName>ppt_h</p:attrName>
                                        </p:attrNameLst>
                                      </p:cBhvr>
                                      <p:tavLst>
                                        <p:tav tm="0">
                                          <p:val>
                                            <p:fltVal val="0"/>
                                          </p:val>
                                        </p:tav>
                                        <p:tav tm="100000">
                                          <p:val>
                                            <p:strVal val="#ppt_h"/>
                                          </p:val>
                                        </p:tav>
                                      </p:tavLst>
                                    </p:anim>
                                    <p:animEffect transition="in" filter="fade">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2.xml><?xml version="1.0" encoding="utf-8"?>
<p:sld xmlns:a="http://schemas.openxmlformats.org/drawingml/2006/main" xmlns:r="http://schemas.openxmlformats.org/officeDocument/2006/relationships" xmlns:p="http://schemas.openxmlformats.org/presentationml/2006/main">
  <p:cSld name="Slide 152">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Story So Far: Kubernetes ✓</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Solved: pods, LWS, autoscaling  →  next problem: What does this mean for YOUR career?</a:t>
            </a:r>
            <a:endParaRPr lang="en-US" sz="1700" dirty="0"/>
          </a:p>
        </p:txBody>
      </p:sp>
      <p:pic>
        <p:nvPicPr>
          <p:cNvPr id="4" name="layer_0" descr="Story So Far: Kubernetes ✓ — illustration part 1">    </p:cNvPr>
          <p:cNvPicPr>
            <a:picLocks noChangeAspect="1"/>
          </p:cNvPicPr>
          <p:nvPr/>
        </p:nvPicPr>
        <p:blipFill>
          <a:blip r:embed="rId1"/>
          <a:stretch>
            <a:fillRect/>
          </a:stretch>
        </p:blipFill>
        <p:spPr>
          <a:xfrm>
            <a:off x="1231371" y="2229756"/>
            <a:ext cx="9144511" cy="2604556"/>
          </a:xfrm>
          <a:prstGeom prst="rect">
            <a:avLst/>
          </a:prstGeom>
        </p:spPr>
      </p:pic>
      <p:pic>
        <p:nvPicPr>
          <p:cNvPr id="5" name="layer_1" descr="Story So Far: Kubernetes ✓ — illustration part 2">    </p:cNvPr>
          <p:cNvPicPr>
            <a:picLocks noChangeAspect="1"/>
          </p:cNvPicPr>
          <p:nvPr/>
        </p:nvPicPr>
        <p:blipFill>
          <a:blip r:embed="rId2"/>
          <a:stretch>
            <a:fillRect/>
          </a:stretch>
        </p:blipFill>
        <p:spPr>
          <a:xfrm>
            <a:off x="3085465" y="3534553"/>
            <a:ext cx="1163847" cy="1566764"/>
          </a:xfrm>
          <a:prstGeom prst="rect">
            <a:avLst/>
          </a:prstGeom>
        </p:spPr>
      </p:pic>
      <p:pic>
        <p:nvPicPr>
          <p:cNvPr id="6" name="layer_2" descr="Story So Far: Kubernetes ✓ — illustration part 3">    </p:cNvPr>
          <p:cNvPicPr>
            <a:picLocks noChangeAspect="1"/>
          </p:cNvPicPr>
          <p:nvPr/>
        </p:nvPicPr>
        <p:blipFill>
          <a:blip r:embed="rId3"/>
          <a:stretch>
            <a:fillRect/>
          </a:stretch>
        </p:blipFill>
        <p:spPr>
          <a:xfrm>
            <a:off x="1362367" y="3816671"/>
            <a:ext cx="801089" cy="1037792"/>
          </a:xfrm>
          <a:prstGeom prst="rect">
            <a:avLst/>
          </a:prstGeom>
        </p:spPr>
      </p:pic>
      <p:pic>
        <p:nvPicPr>
          <p:cNvPr id="7" name="layer_3" descr="Story So Far: Kubernetes ✓ — illustration part 4">    </p:cNvPr>
          <p:cNvPicPr>
            <a:picLocks noChangeAspect="1"/>
          </p:cNvPicPr>
          <p:nvPr/>
        </p:nvPicPr>
        <p:blipFill>
          <a:blip r:embed="rId4"/>
          <a:stretch>
            <a:fillRect/>
          </a:stretch>
        </p:blipFill>
        <p:spPr>
          <a:xfrm>
            <a:off x="2294452" y="5121468"/>
            <a:ext cx="7582638" cy="584388"/>
          </a:xfrm>
          <a:prstGeom prst="rect">
            <a:avLst/>
          </a:prstGeom>
        </p:spPr>
      </p:pic>
      <p:sp>
        <p:nvSpPr>
          <p:cNvPr id="8"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9"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Up next — Chapter 10 · Where You Go From Here</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Helm, pods, Deployments, LeaderWorkerSets and autoscaling turn llm-d into a production platform your ops team already understands. Last chapter: what this means for you.</a:t>
            </a:r>
            <a:endParaRPr lang="en-US" sz="1200" dirty="0"/>
          </a:p>
        </p:txBody>
      </p:sp>
      <p:sp>
        <p:nvSpPr>
          <p:cNvPr id="10"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5"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152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ppt_w</p:attrName>
                                        </p:attrNameLst>
                                      </p:cBhvr>
                                      <p:tavLst>
                                        <p:tav tm="0">
                                          <p:val>
                                            <p:fltVal val="0"/>
                                          </p:val>
                                        </p:tav>
                                        <p:tav tm="100000">
                                          <p:val>
                                            <p:strVal val="#ppt_w"/>
                                          </p:val>
                                        </p:tav>
                                      </p:tavLst>
                                    </p:anim>
                                    <p:anim calcmode="lin" valueType="num">
                                      <p:cBhvr>
                                        <p:cTn id="7" dur="600" fill="hold"/>
                                        <p:tgtEl>
                                          <p:spTgt spid="5"/>
                                        </p:tgtEl>
                                        <p:attrNameLst>
                                          <p:attrName>ppt_h</p:attrName>
                                        </p:attrNameLst>
                                      </p:cBhvr>
                                      <p:tavLst>
                                        <p:tav tm="0">
                                          <p:val>
                                            <p:fltVal val="0"/>
                                          </p:val>
                                        </p:tav>
                                        <p:tav tm="100000">
                                          <p:val>
                                            <p:strVal val="#ppt_h"/>
                                          </p:val>
                                        </p:tav>
                                      </p:tavLst>
                                    </p:anim>
                                    <p:animEffect transition="in" filter="fade">
                                      <p:cBhvr>
                                        <p:cTn id="8" dur="600"/>
                                        <p:tgtEl>
                                          <p:spTgt spid="5"/>
                                        </p:tgtEl>
                                      </p:cBhvr>
                                    </p:animEffect>
                                  </p:childTnLst>
                                </p:cTn>
                              </p:par>
                            </p:childTnLst>
                          </p:cTn>
                        </p:par>
                        <p:par>
                          <p:cTn id="10" fill="hold">
                            <p:stCondLst>
                              <p:cond delay="600"/>
                            </p:stCondLst>
                            <p:childTnLst>
                              <p:par>
                                <p:cTn id="15" presetID="53" presetClass="entr" presetSubtype="16" fill="hold" grpId="0" nodeType="after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ppt_w</p:attrName>
                                        </p:attrNameLst>
                                      </p:cBhvr>
                                      <p:tavLst>
                                        <p:tav tm="0">
                                          <p:val>
                                            <p:fltVal val="0"/>
                                          </p:val>
                                        </p:tav>
                                        <p:tav tm="100000">
                                          <p:val>
                                            <p:strVal val="#ppt_w"/>
                                          </p:val>
                                        </p:tav>
                                      </p:tavLst>
                                    </p:anim>
                                    <p:anim calcmode="lin" valueType="num">
                                      <p:cBhvr>
                                        <p:cTn id="13" dur="600" fill="hold"/>
                                        <p:tgtEl>
                                          <p:spTgt spid="6"/>
                                        </p:tgtEl>
                                        <p:attrNameLst>
                                          <p:attrName>ppt_h</p:attrName>
                                        </p:attrNameLst>
                                      </p:cBhvr>
                                      <p:tavLst>
                                        <p:tav tm="0">
                                          <p:val>
                                            <p:fltVal val="0"/>
                                          </p:val>
                                        </p:tav>
                                        <p:tav tm="100000">
                                          <p:val>
                                            <p:strVal val="#ppt_h"/>
                                          </p:val>
                                        </p:tav>
                                      </p:tavLst>
                                    </p:anim>
                                    <p:animEffect transition="in" filter="fade">
                                      <p:cBhvr>
                                        <p:cTn id="14" dur="600"/>
                                        <p:tgtEl>
                                          <p:spTgt spid="6"/>
                                        </p:tgtEl>
                                      </p:cBhvr>
                                    </p:animEffect>
                                  </p:childTnLst>
                                </p:cTn>
                              </p:par>
                            </p:childTnLst>
                          </p:cTn>
                        </p:par>
                        <p:par>
                          <p:cTn id="16" fill="hold">
                            <p:stCondLst>
                              <p:cond delay="1200"/>
                            </p:stCondLst>
                            <p:childTnLst>
                              <p:par>
                                <p:cTn id="20" presetID="2" presetClass="entr" presetSubtype="4" fill="hold" grpId="0" nodeType="after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additive="base">
                                        <p:cTn id="18" dur="600" fill="hold"/>
                                        <p:tgtEl>
                                          <p:spTgt spid="7"/>
                                        </p:tgtEl>
                                        <p:attrNameLst>
                                          <p:attrName>ppt_y</p:attrName>
                                        </p:attrNameLst>
                                      </p:cBhvr>
                                      <p:tavLst>
                                        <p:tav tm="0">
                                          <p:val>
                                            <p:strVal val="#ppt_y+0.08"/>
                                          </p:val>
                                        </p:tav>
                                        <p:tav tm="100000">
                                          <p:val>
                                            <p:strVal val="#ppt_y"/>
                                          </p:val>
                                        </p:tav>
                                      </p:tavLst>
                                    </p:anim>
                                    <p:animEffect transition="in" filter="fade">
                                      <p:cBhvr>
                                        <p:cTn id="19" dur="6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3.xml><?xml version="1.0" encoding="utf-8"?>
<p:sld xmlns:a="http://schemas.openxmlformats.org/drawingml/2006/main" xmlns:r="http://schemas.openxmlformats.org/officeDocument/2006/relationships" xmlns:p="http://schemas.openxmlformats.org/presentationml/2006/main">
  <p:cSld name="Slide 153">
    <p:spTree>
      <p:nvGrpSpPr>
        <p:cNvPr id="1" name=""/>
        <p:cNvGrpSpPr/>
        <p:nvPr/>
      </p:nvGrpSpPr>
      <p:grpSpPr>
        <a:xfrm>
          <a:off x="0" y="0"/>
          <a:ext cx="0" cy="0"/>
          <a:chOff x="0" y="0"/>
          <a:chExt cx="0" cy="0"/>
        </a:xfrm>
      </p:grpSpPr>
      <p:sp>
        <p:nvSpPr>
          <p:cNvPr id="2" name="Text 0"/>
          <p:cNvSpPr/>
          <p:nvPr>
            <p:ph idx="100" type="title" hasCustomPrompt="1"/>
          </p:nvPr>
        </p:nvSpPr>
        <p:spPr>
          <a:xfrm>
            <a:off x="731520" y="2834640"/>
            <a:ext cx="5669280" cy="1371600"/>
          </a:xfrm>
          <a:prstGeom prst="rect">
            <a:avLst/>
          </a:prstGeom>
          <a:noFill/>
          <a:ln/>
        </p:spPr>
        <p:txBody>
          <a:bodyPr wrap="square" lIns="0" tIns="0" rIns="0" bIns="0" rtlCol="0" anchor="t"/>
          <a:lstStyle/>
          <a:p>
            <a:pPr algn="l" indent="0" marL="0">
              <a:buNone/>
            </a:pPr>
            <a:r>
              <a:rPr lang="en-US" sz="4000" b="1" dirty="0">
                <a:solidFill>
                  <a:srgbClr val="FFFFFF"/>
                </a:solidFill>
                <a:latin typeface="Calibri" pitchFamily="34" charset="0"/>
                <a:ea typeface="Calibri" pitchFamily="34" charset="-122"/>
                <a:cs typeface="Calibri" pitchFamily="34" charset="-120"/>
              </a:rPr>
              <a:t>Where You Go From Here</a:t>
            </a:r>
            <a:endParaRPr lang="en-US" sz="4000" dirty="0"/>
          </a:p>
        </p:txBody>
      </p:sp>
      <p:sp>
        <p:nvSpPr>
          <p:cNvPr id="3" name="Text 0"/>
          <p:cNvSpPr/>
          <p:nvPr>
            <p:ph idx="101" type="body" hasCustomPrompt="1"/>
          </p:nvPr>
        </p:nvSpPr>
        <p:spPr>
          <a:xfrm>
            <a:off x="731520" y="4251960"/>
            <a:ext cx="5120640" cy="822960"/>
          </a:xfrm>
          <a:prstGeom prst="rect">
            <a:avLst/>
          </a:prstGeom>
          <a:noFill/>
          <a:ln/>
        </p:spPr>
        <p:txBody>
          <a:bodyPr wrap="square" lIns="0" tIns="0" rIns="0" bIns="0" rtlCol="0" anchor="t"/>
          <a:lstStyle/>
          <a:p>
            <a:pPr algn="l" indent="0" marL="0">
              <a:buNone/>
            </a:pPr>
            <a:r>
              <a:rPr lang="en-US" sz="2000" dirty="0">
                <a:solidFill>
                  <a:srgbClr val="22D3EE"/>
                </a:solidFill>
                <a:latin typeface="Calibri" pitchFamily="34" charset="0"/>
                <a:ea typeface="Calibri" pitchFamily="34" charset="-122"/>
                <a:cs typeface="Calibri" pitchFamily="34" charset="-120"/>
              </a:rPr>
              <a:t>The models are new — the discipline is one you already have</a:t>
            </a:r>
            <a:endParaRPr lang="en-US" sz="2000" dirty="0"/>
          </a:p>
        </p:txBody>
      </p:sp>
      <p:sp>
        <p:nvSpPr>
          <p:cNvPr id="4" name="Text 2"/>
          <p:cNvSpPr txBox="1"/>
          <p:nvPr/>
        </p:nvSpPr>
        <p:spPr>
          <a:xfrm>
            <a:off x="731520" y="1371600"/>
            <a:ext cx="2743200" cy="1371600"/>
          </a:xfrm>
          <a:prstGeom prst="rect">
            <a:avLst/>
          </a:prstGeom>
          <a:noFill/>
          <a:ln/>
        </p:spPr>
        <p:txBody>
          <a:bodyPr wrap="square" lIns="0" tIns="0" rIns="0" bIns="0" rtlCol="0" anchor="ctr"/>
          <a:lstStyle/>
          <a:p>
            <a:pPr indent="0" marL="0">
              <a:buNone/>
            </a:pPr>
            <a:r>
              <a:rPr lang="en-US" sz="9600" b="1" dirty="0">
                <a:solidFill>
                  <a:srgbClr val="22D3EE">
                    <a:alpha val="80000"/>
                  </a:srgbClr>
                </a:solidFill>
                <a:latin typeface="Calibri" pitchFamily="34" charset="0"/>
                <a:ea typeface="Calibri" pitchFamily="34" charset="-122"/>
                <a:cs typeface="Calibri" pitchFamily="34" charset="-120"/>
              </a:rPr>
              <a:t>10</a:t>
            </a:r>
            <a:endParaRPr lang="en-US" sz="9600" dirty="0"/>
          </a:p>
        </p:txBody>
      </p:sp>
      <p:pic>
        <p:nvPicPr>
          <p:cNvPr id="5" name="layer_0" descr="Where You Go From Here — illustration part 1">    </p:cNvPr>
          <p:cNvPicPr>
            <a:picLocks noChangeAspect="1"/>
          </p:cNvPicPr>
          <p:nvPr/>
        </p:nvPicPr>
        <p:blipFill>
          <a:blip r:embed="rId1"/>
          <a:stretch>
            <a:fillRect/>
          </a:stretch>
        </p:blipFill>
        <p:spPr>
          <a:xfrm>
            <a:off x="7485912" y="2275326"/>
            <a:ext cx="3553979" cy="1618822"/>
          </a:xfrm>
          <a:prstGeom prst="rect">
            <a:avLst/>
          </a:prstGeom>
        </p:spPr>
      </p:pic>
      <p:sp>
        <p:nvSpPr>
          <p:cNvPr id="6" name="nav_agenda"/>
          <p:cNvSpPr txBox="1"/>
          <p:nvPr/>
        </p:nvSpPr>
        <p:spPr>
          <a:xfrm>
            <a:off x="731520" y="5669280"/>
            <a:ext cx="1371600" cy="384048"/>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1300" u="sng" dirty="0">
                <a:solidFill>
                  <a:srgbClr val="22D3EE"/>
                </a:solidFill>
                <a:latin typeface="Calibri" pitchFamily="34" charset="0"/>
                <a:ea typeface="Calibri" pitchFamily="34" charset="-122"/>
                <a:cs typeface="Calibri" pitchFamily="34" charset="-120"/>
                <a:hlinkClick r:id="rId2" action="ppaction://hlinksldjump" tooltip="Back to agenda">
                  <a:extLst>
                    <a:ext uri="{A12FA001-AC4F-418D-AE19-62706E023703}">
                      <ahyp:hlinkClr xmlns:ahyp="http://schemas.microsoft.com/office/drawing/2018/hyperlinkcolor" val="tx"/>
                    </a:ext>
                  </a:extLst>
                </a:hlinkClick>
              </a:rPr>
              <a:t>⌂ Agenda</a:t>
            </a:r>
            <a:endParaRPr lang="en-US" sz="13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153</a:t>
            </a:fld>
            <a:endParaRPr lang="en-US"/>
          </a:p>
        </p:txBody>
      </p:sp>
    </p:spTree>
  </p:cSld>
  <p:clrMapOvr>
    <a:masterClrMapping/>
  </p:clrMapOvr>
  <p:transition spd="med">
    <p:fade/>
  </p:transition>
</p:sld>
</file>

<file path=ppt/slides/slide154.xml><?xml version="1.0" encoding="utf-8"?>
<p:sld xmlns:a="http://schemas.openxmlformats.org/drawingml/2006/main" xmlns:r="http://schemas.openxmlformats.org/officeDocument/2006/relationships" xmlns:p="http://schemas.openxmlformats.org/presentationml/2006/main">
  <p:cSld name="Slide 154">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It Was Infrastructure All Along</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Look back at what we just covered</a:t>
            </a:r>
            <a:endParaRPr lang="en-US" sz="1700" dirty="0"/>
          </a:p>
        </p:txBody>
      </p:sp>
      <p:pic>
        <p:nvPicPr>
          <p:cNvPr id="4" name="layer_0" descr="It Was Infrastructure All Along — illustration part 1">    </p:cNvPr>
          <p:cNvPicPr>
            <a:picLocks noChangeAspect="1"/>
          </p:cNvPicPr>
          <p:nvPr/>
        </p:nvPicPr>
        <p:blipFill>
          <a:blip r:embed="rId1"/>
          <a:stretch>
            <a:fillRect/>
          </a:stretch>
        </p:blipFill>
        <p:spPr>
          <a:xfrm>
            <a:off x="1684818" y="2043356"/>
            <a:ext cx="2282349" cy="1707823"/>
          </a:xfrm>
          <a:prstGeom prst="rect">
            <a:avLst/>
          </a:prstGeom>
        </p:spPr>
      </p:pic>
      <p:pic>
        <p:nvPicPr>
          <p:cNvPr id="5" name="layer_1" descr="It Was Infrastructure All Along — illustration part 2">    </p:cNvPr>
          <p:cNvPicPr>
            <a:picLocks noChangeAspect="1"/>
          </p:cNvPicPr>
          <p:nvPr/>
        </p:nvPicPr>
        <p:blipFill>
          <a:blip r:embed="rId2"/>
          <a:stretch>
            <a:fillRect/>
          </a:stretch>
        </p:blipFill>
        <p:spPr>
          <a:xfrm>
            <a:off x="1684818" y="3907352"/>
            <a:ext cx="1506451" cy="1239305"/>
          </a:xfrm>
          <a:prstGeom prst="rect">
            <a:avLst/>
          </a:prstGeom>
        </p:spPr>
      </p:pic>
      <p:pic>
        <p:nvPicPr>
          <p:cNvPr id="6" name="layer_2" descr="It Was Infrastructure All Along — illustration part 3">    </p:cNvPr>
          <p:cNvPicPr>
            <a:picLocks noChangeAspect="1"/>
          </p:cNvPicPr>
          <p:nvPr/>
        </p:nvPicPr>
        <p:blipFill>
          <a:blip r:embed="rId3"/>
          <a:stretch>
            <a:fillRect/>
          </a:stretch>
        </p:blipFill>
        <p:spPr>
          <a:xfrm>
            <a:off x="6617311" y="2829257"/>
            <a:ext cx="3924834" cy="1763239"/>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Almost none of it was machine learning — it was infrastructure from the first lesson to the last</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Look back: pods, routing, load balancing, caching, autoscaling, memory and networking. Almost none of it was machine learning — it was infrastructure work throughout.</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154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5.xml><?xml version="1.0" encoding="utf-8"?>
<p:sld xmlns:a="http://schemas.openxmlformats.org/drawingml/2006/main" xmlns:r="http://schemas.openxmlformats.org/officeDocument/2006/relationships" xmlns:p="http://schemas.openxmlformats.org/presentationml/2006/main">
  <p:cSld name="Slide 155">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You're Closer Than You Think</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SysAdmins, SREs and DevOps engineers: this is your foundation</a:t>
            </a:r>
            <a:endParaRPr lang="en-US" sz="1700" dirty="0"/>
          </a:p>
        </p:txBody>
      </p:sp>
      <p:pic>
        <p:nvPicPr>
          <p:cNvPr id="4" name="layer_0" descr="You're Closer Than You Think — illustration part 1">    </p:cNvPr>
          <p:cNvPicPr>
            <a:picLocks noChangeAspect="1"/>
          </p:cNvPicPr>
          <p:nvPr/>
        </p:nvPicPr>
        <p:blipFill>
          <a:blip r:embed="rId1"/>
          <a:stretch>
            <a:fillRect/>
          </a:stretch>
        </p:blipFill>
        <p:spPr>
          <a:xfrm>
            <a:off x="1463133" y="2839333"/>
            <a:ext cx="4962723" cy="2418157"/>
          </a:xfrm>
          <a:prstGeom prst="rect">
            <a:avLst/>
          </a:prstGeom>
        </p:spPr>
      </p:pic>
      <p:pic>
        <p:nvPicPr>
          <p:cNvPr id="5" name="layer_1" descr="You're Closer Than You Think — illustration part 2">    </p:cNvPr>
          <p:cNvPicPr>
            <a:picLocks noChangeAspect="1"/>
          </p:cNvPicPr>
          <p:nvPr/>
        </p:nvPicPr>
        <p:blipFill>
          <a:blip r:embed="rId2"/>
          <a:stretch>
            <a:fillRect/>
          </a:stretch>
        </p:blipFill>
        <p:spPr>
          <a:xfrm>
            <a:off x="6425856" y="2164264"/>
            <a:ext cx="4282553" cy="2670048"/>
          </a:xfrm>
          <a:prstGeom prst="rect">
            <a:avLst/>
          </a:prstGeom>
        </p:spPr>
      </p:pic>
      <p:sp>
        <p:nvSpPr>
          <p:cNvPr id="6"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7"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Keep the GPUs busy, keep latency down, keep the bill under control — that person looks a lot like you</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Linux, containers, Kubernetes and monitoring are the foundation of every AI platform. Companies need people who keep GPUs busy, latency low and costs under control.</a:t>
            </a:r>
            <a:endParaRPr lang="en-US" sz="1200" dirty="0"/>
          </a:p>
        </p:txBody>
      </p:sp>
      <p:sp>
        <p:nvSpPr>
          <p:cNvPr id="8"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3"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155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6.xml><?xml version="1.0" encoding="utf-8"?>
<p:sld xmlns:a="http://schemas.openxmlformats.org/drawingml/2006/main" xmlns:r="http://schemas.openxmlformats.org/officeDocument/2006/relationships" xmlns:p="http://schemas.openxmlformats.org/presentationml/2006/main">
  <p:cSld name="Slide 156">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What to Monitor as an SRE</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The dashboard for an LLM fleet speaks in tokens</a:t>
            </a:r>
            <a:endParaRPr lang="en-US" sz="1700" dirty="0"/>
          </a:p>
        </p:txBody>
      </p:sp>
      <p:pic>
        <p:nvPicPr>
          <p:cNvPr id="4" name="layer_0" descr="What to Monitor as an SRE — illustration part 1">    </p:cNvPr>
          <p:cNvPicPr>
            <a:picLocks noChangeAspect="1"/>
          </p:cNvPicPr>
          <p:nvPr/>
        </p:nvPicPr>
        <p:blipFill>
          <a:blip r:embed="rId1"/>
          <a:stretch>
            <a:fillRect/>
          </a:stretch>
        </p:blipFill>
        <p:spPr>
          <a:xfrm>
            <a:off x="1296869" y="1998016"/>
            <a:ext cx="9663456" cy="1682634"/>
          </a:xfrm>
          <a:prstGeom prst="rect">
            <a:avLst/>
          </a:prstGeom>
        </p:spPr>
      </p:pic>
      <p:pic>
        <p:nvPicPr>
          <p:cNvPr id="5" name="layer_1" descr="What to Monitor as an SRE — illustration part 2">    </p:cNvPr>
          <p:cNvPicPr>
            <a:picLocks noChangeAspect="1"/>
          </p:cNvPicPr>
          <p:nvPr/>
        </p:nvPicPr>
        <p:blipFill>
          <a:blip r:embed="rId2"/>
          <a:stretch>
            <a:fillRect/>
          </a:stretch>
        </p:blipFill>
        <p:spPr>
          <a:xfrm>
            <a:off x="1296869" y="3826747"/>
            <a:ext cx="9663456" cy="1682634"/>
          </a:xfrm>
          <a:prstGeom prst="rect">
            <a:avLst/>
          </a:prstGeom>
        </p:spPr>
      </p:pic>
      <p:sp>
        <p:nvSpPr>
          <p:cNvPr id="6"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7"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TTFT, TPOT, tokens/sec, KV-cache usage, queue length and GPU utilization tell you almost everything</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High TTFT means prompts wait too long (add prefill capacity or fix routing). Rising TPOT means decode is overloaded. KV-cache near 100% means memory is the limit. Long queues mean add pods. Low GPU utilization means you're paying for idle hardware.</a:t>
            </a:r>
            <a:endParaRPr lang="en-US" sz="1200" dirty="0"/>
          </a:p>
        </p:txBody>
      </p:sp>
      <p:sp>
        <p:nvSpPr>
          <p:cNvPr id="8"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3"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156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2" presetClass="entr" presetSubtype="4"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additive="base">
                                        <p:cTn id="6" dur="600" fill="hold"/>
                                        <p:tgtEl>
                                          <p:spTgt spid="5"/>
                                        </p:tgtEl>
                                        <p:attrNameLst>
                                          <p:attrName>ppt_y</p:attrName>
                                        </p:attrNameLst>
                                      </p:cBhvr>
                                      <p:tavLst>
                                        <p:tav tm="0">
                                          <p:val>
                                            <p:strVal val="#ppt_y+0.08"/>
                                          </p:val>
                                        </p:tav>
                                        <p:tav tm="100000">
                                          <p:val>
                                            <p:strVal val="#ppt_y"/>
                                          </p:val>
                                        </p:tav>
                                      </p:tavLst>
                                    </p:anim>
                                    <p:animEffect transition="in" filter="fade">
                                      <p:cBhvr>
                                        <p:cTn id="7" dur="6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7.xml><?xml version="1.0" encoding="utf-8"?>
<p:sld xmlns:a="http://schemas.openxmlformats.org/drawingml/2006/main" xmlns:r="http://schemas.openxmlformats.org/officeDocument/2006/relationships" xmlns:p="http://schemas.openxmlformats.org/presentationml/2006/main">
  <p:cSld name="Slide 157">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The Demand Is Real</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Trillions are pouring into data centers — every one needs people to build and run it</a:t>
            </a:r>
            <a:endParaRPr lang="en-US" sz="1700" dirty="0"/>
          </a:p>
        </p:txBody>
      </p:sp>
      <p:pic>
        <p:nvPicPr>
          <p:cNvPr id="4" name="layer_0" descr="The Demand Is Real — illustration part 1">    </p:cNvPr>
          <p:cNvPicPr>
            <a:picLocks noChangeAspect="1"/>
          </p:cNvPicPr>
          <p:nvPr/>
        </p:nvPicPr>
        <p:blipFill>
          <a:blip r:embed="rId1"/>
          <a:stretch>
            <a:fillRect/>
          </a:stretch>
        </p:blipFill>
        <p:spPr>
          <a:xfrm>
            <a:off x="1463133" y="2496761"/>
            <a:ext cx="1934706" cy="2952166"/>
          </a:xfrm>
          <a:prstGeom prst="rect">
            <a:avLst/>
          </a:prstGeom>
        </p:spPr>
      </p:pic>
      <p:pic>
        <p:nvPicPr>
          <p:cNvPr id="5" name="layer_1" descr="The Demand Is Real — illustration part 2">    </p:cNvPr>
          <p:cNvPicPr>
            <a:picLocks noChangeAspect="1"/>
          </p:cNvPicPr>
          <p:nvPr/>
        </p:nvPicPr>
        <p:blipFill>
          <a:blip r:embed="rId2"/>
          <a:stretch>
            <a:fillRect/>
          </a:stretch>
        </p:blipFill>
        <p:spPr>
          <a:xfrm>
            <a:off x="4289618" y="2164264"/>
            <a:ext cx="3093515" cy="3093225"/>
          </a:xfrm>
          <a:prstGeom prst="rect">
            <a:avLst/>
          </a:prstGeom>
        </p:spPr>
      </p:pic>
      <p:pic>
        <p:nvPicPr>
          <p:cNvPr id="6" name="layer_2" descr="The Demand Is Real — illustration part 3">    </p:cNvPr>
          <p:cNvPicPr>
            <a:picLocks noChangeAspect="1"/>
          </p:cNvPicPr>
          <p:nvPr/>
        </p:nvPicPr>
        <p:blipFill>
          <a:blip r:embed="rId3"/>
          <a:stretch>
            <a:fillRect/>
          </a:stretch>
        </p:blipFill>
        <p:spPr>
          <a:xfrm>
            <a:off x="8159031" y="2708349"/>
            <a:ext cx="2060664" cy="1823693"/>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WEF: AI &amp; big data are the fastest-growing skills · LinkedIn Jobs on the Rise: AI engineer is #1 in the US</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Trillions are going into data centers, and each one needs people to build and run it. You don't need to train models — just point your existing skills at a new workload.</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157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8.xml><?xml version="1.0" encoding="utf-8"?>
<p:sld xmlns:a="http://schemas.openxmlformats.org/drawingml/2006/main" xmlns:r="http://schemas.openxmlformats.org/officeDocument/2006/relationships" xmlns:p="http://schemas.openxmlformats.org/presentationml/2006/main">
  <p:cSld name="Slide 158">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Add the AI Layer on Top</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Keep your foundation — stack GPUs, vLLM and llm-d on it</a:t>
            </a:r>
            <a:endParaRPr lang="en-US" sz="1700" dirty="0"/>
          </a:p>
        </p:txBody>
      </p:sp>
      <p:pic>
        <p:nvPicPr>
          <p:cNvPr id="4" name="layer_0" descr="Add the AI Layer on Top — illustration part 1">    </p:cNvPr>
          <p:cNvPicPr>
            <a:picLocks noChangeAspect="1"/>
          </p:cNvPicPr>
          <p:nvPr/>
        </p:nvPicPr>
        <p:blipFill>
          <a:blip r:embed="rId1"/>
          <a:stretch>
            <a:fillRect/>
          </a:stretch>
        </p:blipFill>
        <p:spPr>
          <a:xfrm>
            <a:off x="1463133" y="4315416"/>
            <a:ext cx="4756153" cy="1108322"/>
          </a:xfrm>
          <a:prstGeom prst="rect">
            <a:avLst/>
          </a:prstGeom>
        </p:spPr>
      </p:pic>
      <p:pic>
        <p:nvPicPr>
          <p:cNvPr id="5" name="layer_1" descr="Add the AI Layer on Top — illustration part 2">    </p:cNvPr>
          <p:cNvPicPr>
            <a:picLocks noChangeAspect="1"/>
          </p:cNvPicPr>
          <p:nvPr/>
        </p:nvPicPr>
        <p:blipFill>
          <a:blip r:embed="rId2"/>
          <a:stretch>
            <a:fillRect/>
          </a:stretch>
        </p:blipFill>
        <p:spPr>
          <a:xfrm>
            <a:off x="1795660" y="2038318"/>
            <a:ext cx="4091098" cy="2221681"/>
          </a:xfrm>
          <a:prstGeom prst="rect">
            <a:avLst/>
          </a:prstGeom>
        </p:spPr>
      </p:pic>
      <p:pic>
        <p:nvPicPr>
          <p:cNvPr id="6" name="layer_2" descr="Add the AI Layer on Top — illustration part 3">    </p:cNvPr>
          <p:cNvPicPr>
            <a:picLocks noChangeAspect="1"/>
          </p:cNvPicPr>
          <p:nvPr/>
        </p:nvPicPr>
        <p:blipFill>
          <a:blip r:embed="rId3"/>
          <a:stretch>
            <a:fillRect/>
          </a:stretch>
        </p:blipFill>
        <p:spPr>
          <a:xfrm>
            <a:off x="6803728" y="2113886"/>
            <a:ext cx="3793838" cy="3410608"/>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Learning path (KodeKloud): from the foundations all the way to serving models at scale</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Keep your foundation and add the AI layer on top: how GPUs work, model servers like vLLM, and orchestration with llm-d. A step-by-step learning path takes you to serving at scale.</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158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9.xml><?xml version="1.0" encoding="utf-8"?>
<p:sld xmlns:a="http://schemas.openxmlformats.org/drawingml/2006/main" xmlns:r="http://schemas.openxmlformats.org/officeDocument/2006/relationships" xmlns:p="http://schemas.openxmlformats.org/presentationml/2006/main">
  <p:cSld name="Slide 159">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Recap: The Whole Course in Tokens</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Follow one request's tokens from your prompt to the answer</a:t>
            </a:r>
            <a:endParaRPr lang="en-US" sz="1700" dirty="0"/>
          </a:p>
        </p:txBody>
      </p:sp>
      <p:pic>
        <p:nvPicPr>
          <p:cNvPr id="4" name="layer_0" descr="Recap: The Whole Course in Tokens — illustration part 1">    </p:cNvPr>
          <p:cNvPicPr>
            <a:picLocks noChangeAspect="1"/>
          </p:cNvPicPr>
          <p:nvPr/>
        </p:nvPicPr>
        <p:blipFill>
          <a:blip r:embed="rId1"/>
          <a:stretch>
            <a:fillRect/>
          </a:stretch>
        </p:blipFill>
        <p:spPr>
          <a:xfrm>
            <a:off x="1296869" y="1872070"/>
            <a:ext cx="1929668" cy="891695"/>
          </a:xfrm>
          <a:prstGeom prst="rect">
            <a:avLst/>
          </a:prstGeom>
        </p:spPr>
      </p:pic>
      <p:pic>
        <p:nvPicPr>
          <p:cNvPr id="5" name="layer_1" descr="Recap: The Whole Course in Tokens — illustration part 2">    </p:cNvPr>
          <p:cNvPicPr>
            <a:picLocks noChangeAspect="1"/>
          </p:cNvPicPr>
          <p:nvPr/>
        </p:nvPicPr>
        <p:blipFill>
          <a:blip r:embed="rId2"/>
          <a:stretch>
            <a:fillRect/>
          </a:stretch>
        </p:blipFill>
        <p:spPr>
          <a:xfrm>
            <a:off x="1296869" y="2713387"/>
            <a:ext cx="1833940" cy="1294721"/>
          </a:xfrm>
          <a:prstGeom prst="rect">
            <a:avLst/>
          </a:prstGeom>
        </p:spPr>
      </p:pic>
      <p:pic>
        <p:nvPicPr>
          <p:cNvPr id="6" name="layer_2" descr="Recap: The Whole Course in Tokens — illustration part 3">    </p:cNvPr>
          <p:cNvPicPr>
            <a:picLocks noChangeAspect="1"/>
          </p:cNvPicPr>
          <p:nvPr/>
        </p:nvPicPr>
        <p:blipFill>
          <a:blip r:embed="rId3"/>
          <a:stretch>
            <a:fillRect/>
          </a:stretch>
        </p:blipFill>
        <p:spPr>
          <a:xfrm>
            <a:off x="3463337" y="3076111"/>
            <a:ext cx="2675336" cy="1435781"/>
          </a:xfrm>
          <a:prstGeom prst="rect">
            <a:avLst/>
          </a:prstGeom>
        </p:spPr>
      </p:pic>
      <p:pic>
        <p:nvPicPr>
          <p:cNvPr id="7" name="layer_3" descr="Recap: The Whole Course in Tokens — illustration part 4">    </p:cNvPr>
          <p:cNvPicPr>
            <a:picLocks noChangeAspect="1"/>
          </p:cNvPicPr>
          <p:nvPr/>
        </p:nvPicPr>
        <p:blipFill>
          <a:blip r:embed="rId4"/>
          <a:stretch>
            <a:fillRect/>
          </a:stretch>
        </p:blipFill>
        <p:spPr>
          <a:xfrm>
            <a:off x="4289618" y="4456475"/>
            <a:ext cx="1929668" cy="1173814"/>
          </a:xfrm>
          <a:prstGeom prst="rect">
            <a:avLst/>
          </a:prstGeom>
        </p:spPr>
      </p:pic>
      <p:pic>
        <p:nvPicPr>
          <p:cNvPr id="8" name="layer_4" descr="Recap: The Whole Course in Tokens — illustration part 5">    </p:cNvPr>
          <p:cNvPicPr>
            <a:picLocks noChangeAspect="1"/>
          </p:cNvPicPr>
          <p:nvPr/>
        </p:nvPicPr>
        <p:blipFill>
          <a:blip r:embed="rId5"/>
          <a:stretch>
            <a:fillRect/>
          </a:stretch>
        </p:blipFill>
        <p:spPr>
          <a:xfrm>
            <a:off x="6123558" y="3076111"/>
            <a:ext cx="2509072" cy="2171303"/>
          </a:xfrm>
          <a:prstGeom prst="rect">
            <a:avLst/>
          </a:prstGeom>
        </p:spPr>
      </p:pic>
      <p:pic>
        <p:nvPicPr>
          <p:cNvPr id="9" name="layer_5" descr="Recap: The Whole Course in Tokens — illustration part 6">    </p:cNvPr>
          <p:cNvPicPr>
            <a:picLocks noChangeAspect="1"/>
          </p:cNvPicPr>
          <p:nvPr/>
        </p:nvPicPr>
        <p:blipFill>
          <a:blip r:embed="rId6"/>
          <a:stretch>
            <a:fillRect/>
          </a:stretch>
        </p:blipFill>
        <p:spPr>
          <a:xfrm>
            <a:off x="8617516" y="2446382"/>
            <a:ext cx="1652562" cy="2136038"/>
          </a:xfrm>
          <a:prstGeom prst="rect">
            <a:avLst/>
          </a:prstGeom>
        </p:spPr>
      </p:pic>
      <p:pic>
        <p:nvPicPr>
          <p:cNvPr id="10" name="layer_6" descr="Recap: The Whole Course in Tokens — illustration part 7">    </p:cNvPr>
          <p:cNvPicPr>
            <a:picLocks noChangeAspect="1"/>
          </p:cNvPicPr>
          <p:nvPr/>
        </p:nvPicPr>
        <p:blipFill>
          <a:blip r:embed="rId7"/>
          <a:stretch>
            <a:fillRect/>
          </a:stretch>
        </p:blipFill>
        <p:spPr>
          <a:xfrm>
            <a:off x="6864188" y="4698291"/>
            <a:ext cx="4176749" cy="1007565"/>
          </a:xfrm>
          <a:prstGeom prst="rect">
            <a:avLst/>
          </a:prstGeom>
        </p:spPr>
      </p:pic>
      <p:sp>
        <p:nvSpPr>
          <p:cNvPr id="11"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12"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Everything you learned is about how tokens go in, get processed, and come out</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Your prompt is split into tokens; prefill reads them all at once (TTFT); their work is saved in the KV cache; decode then produces one token per lap (TPOT). Batching, sharding and llm-d all exist to make more tokens flow, faster and cheaper.</a:t>
            </a:r>
            <a:endParaRPr lang="en-US" sz="1200" dirty="0"/>
          </a:p>
        </p:txBody>
      </p:sp>
      <p:sp>
        <p:nvSpPr>
          <p:cNvPr id="13"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8"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159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2" presetClass="entr" presetSubtype="4"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additive="base">
                                        <p:cTn id="6" dur="600" fill="hold"/>
                                        <p:tgtEl>
                                          <p:spTgt spid="5"/>
                                        </p:tgtEl>
                                        <p:attrNameLst>
                                          <p:attrName>ppt_y</p:attrName>
                                        </p:attrNameLst>
                                      </p:cBhvr>
                                      <p:tavLst>
                                        <p:tav tm="0">
                                          <p:val>
                                            <p:strVal val="#ppt_y+0.08"/>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3"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900"/>
                                        <p:tgtEl>
                                          <p:spTgt spid="6"/>
                                        </p:tgtEl>
                                      </p:cBhvr>
                                    </p:animEffect>
                                  </p:childTnLst>
                                </p:cTn>
                              </p:par>
                            </p:childTnLst>
                          </p:cTn>
                        </p:par>
                      </p:childTnLst>
                    </p:cTn>
                  </p:par>
                  <p:par>
                    <p:cTn id="14" fill="hold">
                      <p:stCondLst>
                        <p:cond delay="indefinite"/>
                      </p:stCondLst>
                      <p:childTnLst>
                        <p:par>
                          <p:cTn id="15" fill="hold">
                            <p:stCondLst>
                              <p:cond delay="0"/>
                            </p:stCondLst>
                            <p:childTnLst>
                              <p:par>
                                <p:cTn id="19" presetID="2" presetClass="entr" presetSubtype="4"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600" fill="hold"/>
                                        <p:tgtEl>
                                          <p:spTgt spid="7"/>
                                        </p:tgtEl>
                                        <p:attrNameLst>
                                          <p:attrName>ppt_y</p:attrName>
                                        </p:attrNameLst>
                                      </p:cBhvr>
                                      <p:tavLst>
                                        <p:tav tm="0">
                                          <p:val>
                                            <p:strVal val="#ppt_y+0.08"/>
                                          </p:val>
                                        </p:tav>
                                        <p:tav tm="100000">
                                          <p:val>
                                            <p:strVal val="#ppt_y"/>
                                          </p:val>
                                        </p:tav>
                                      </p:tavLst>
                                    </p:anim>
                                    <p:animEffect transition="in" filter="fade">
                                      <p:cBhvr>
                                        <p:cTn id="18" dur="600"/>
                                        <p:tgtEl>
                                          <p:spTgt spid="7"/>
                                        </p:tgtEl>
                                      </p:cBhvr>
                                    </p:animEffect>
                                  </p:childTnLst>
                                </p:cTn>
                              </p:par>
                            </p:childTnLst>
                          </p:cTn>
                        </p:par>
                      </p:childTnLst>
                    </p:cTn>
                  </p:par>
                  <p:par>
                    <p:cTn id="20" fill="hold">
                      <p:stCondLst>
                        <p:cond delay="indefinite"/>
                      </p:stCondLst>
                      <p:childTnLst>
                        <p:par>
                          <p:cTn id="21" fill="hold">
                            <p:stCondLst>
                              <p:cond delay="0"/>
                            </p:stCondLst>
                            <p:childTnLst>
                              <p:par>
                                <p:cTn id="24" presetID="22" presetClass="entr" presetSubtype="8"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left)">
                                      <p:cBhvr>
                                        <p:cTn id="23" dur="1200"/>
                                        <p:tgtEl>
                                          <p:spTgt spid="8"/>
                                        </p:tgtEl>
                                      </p:cBhvr>
                                    </p:animEffect>
                                  </p:childTnLst>
                                </p:cTn>
                              </p:par>
                            </p:childTnLst>
                          </p:cTn>
                        </p:par>
                      </p:childTnLst>
                    </p:cTn>
                  </p:par>
                  <p:par>
                    <p:cTn id="25" fill="hold">
                      <p:stCondLst>
                        <p:cond delay="indefinite"/>
                      </p:stCondLst>
                      <p:childTnLst>
                        <p:par>
                          <p:cTn id="26" fill="hold">
                            <p:stCondLst>
                              <p:cond delay="0"/>
                            </p:stCondLst>
                            <p:childTnLst>
                              <p:par>
                                <p:cTn id="29" presetID="22" presetClass="entr" presetSubtype="8"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wipe(left)">
                                      <p:cBhvr>
                                        <p:cTn id="28" dur="1500"/>
                                        <p:tgtEl>
                                          <p:spTgt spid="9"/>
                                        </p:tgtEl>
                                      </p:cBhvr>
                                    </p:animEffect>
                                  </p:childTnLst>
                                </p:cTn>
                              </p:par>
                            </p:childTnLst>
                          </p:cTn>
                        </p:par>
                      </p:childTnLst>
                    </p:cTn>
                  </p:par>
                  <p:par>
                    <p:cTn id="30" fill="hold">
                      <p:stCondLst>
                        <p:cond delay="indefinite"/>
                      </p:stCondLst>
                      <p:childTnLst>
                        <p:par>
                          <p:cTn id="31" fill="hold">
                            <p:stCondLst>
                              <p:cond delay="0"/>
                            </p:stCondLst>
                            <p:childTnLst>
                              <p:par>
                                <p:cTn id="35" presetID="2" presetClass="entr" presetSubtype="4"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anim calcmode="lin" valueType="num">
                                      <p:cBhvr additive="base">
                                        <p:cTn id="33" dur="600" fill="hold"/>
                                        <p:tgtEl>
                                          <p:spTgt spid="10"/>
                                        </p:tgtEl>
                                        <p:attrNameLst>
                                          <p:attrName>ppt_y</p:attrName>
                                        </p:attrNameLst>
                                      </p:cBhvr>
                                      <p:tavLst>
                                        <p:tav tm="0">
                                          <p:val>
                                            <p:strVal val="#ppt_y+0.08"/>
                                          </p:val>
                                        </p:tav>
                                        <p:tav tm="100000">
                                          <p:val>
                                            <p:strVal val="#ppt_y"/>
                                          </p:val>
                                        </p:tav>
                                      </p:tavLst>
                                    </p:anim>
                                    <p:animEffect transition="in" filter="fade">
                                      <p:cBhvr>
                                        <p:cTn id="34" dur="6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0.xml><?xml version="1.0" encoding="utf-8"?>
<p:sld xmlns:a="http://schemas.openxmlformats.org/drawingml/2006/main" xmlns:r="http://schemas.openxmlformats.org/officeDocument/2006/relationships" xmlns:p="http://schemas.openxmlformats.org/presentationml/2006/main">
  <p:cSld name="Slide 160">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The Whole Stack in One Picture</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Everything from this course, bottom to top</a:t>
            </a:r>
            <a:endParaRPr lang="en-US" sz="1700" dirty="0"/>
          </a:p>
        </p:txBody>
      </p:sp>
      <p:pic>
        <p:nvPicPr>
          <p:cNvPr id="4" name="layer_0" descr="The Whole Stack in One Picture — illustration part 1">    </p:cNvPr>
          <p:cNvPicPr>
            <a:picLocks noChangeAspect="1"/>
          </p:cNvPicPr>
          <p:nvPr/>
        </p:nvPicPr>
        <p:blipFill>
          <a:blip r:embed="rId1"/>
          <a:stretch>
            <a:fillRect/>
          </a:stretch>
        </p:blipFill>
        <p:spPr>
          <a:xfrm>
            <a:off x="2128188" y="4285189"/>
            <a:ext cx="6751319" cy="1224192"/>
          </a:xfrm>
          <a:prstGeom prst="rect">
            <a:avLst/>
          </a:prstGeom>
        </p:spPr>
      </p:pic>
      <p:pic>
        <p:nvPicPr>
          <p:cNvPr id="5" name="layer_1" descr="The Whole Stack in One Picture — illustration part 2">    </p:cNvPr>
          <p:cNvPicPr>
            <a:picLocks noChangeAspect="1"/>
          </p:cNvPicPr>
          <p:nvPr/>
        </p:nvPicPr>
        <p:blipFill>
          <a:blip r:embed="rId2"/>
          <a:stretch>
            <a:fillRect/>
          </a:stretch>
        </p:blipFill>
        <p:spPr>
          <a:xfrm>
            <a:off x="2460716" y="3071073"/>
            <a:ext cx="6086264" cy="1224192"/>
          </a:xfrm>
          <a:prstGeom prst="rect">
            <a:avLst/>
          </a:prstGeom>
        </p:spPr>
      </p:pic>
      <p:pic>
        <p:nvPicPr>
          <p:cNvPr id="6" name="layer_2" descr="The Whole Stack in One Picture — illustration part 3">    </p:cNvPr>
          <p:cNvPicPr>
            <a:picLocks noChangeAspect="1"/>
          </p:cNvPicPr>
          <p:nvPr/>
        </p:nvPicPr>
        <p:blipFill>
          <a:blip r:embed="rId3"/>
          <a:stretch>
            <a:fillRect/>
          </a:stretch>
        </p:blipFill>
        <p:spPr>
          <a:xfrm>
            <a:off x="2793243" y="1856957"/>
            <a:ext cx="5421209" cy="1224192"/>
          </a:xfrm>
          <a:prstGeom prst="rect">
            <a:avLst/>
          </a:prstGeom>
        </p:spPr>
      </p:pic>
      <p:pic>
        <p:nvPicPr>
          <p:cNvPr id="7" name="layer_3" descr="The Whole Stack in One Picture — illustration part 4">    </p:cNvPr>
          <p:cNvPicPr>
            <a:picLocks noChangeAspect="1"/>
          </p:cNvPicPr>
          <p:nvPr/>
        </p:nvPicPr>
        <p:blipFill>
          <a:blip r:embed="rId4"/>
          <a:stretch>
            <a:fillRect/>
          </a:stretch>
        </p:blipFill>
        <p:spPr>
          <a:xfrm>
            <a:off x="9584869" y="1705822"/>
            <a:ext cx="1224306" cy="3355192"/>
          </a:xfrm>
          <a:prstGeom prst="rect">
            <a:avLst/>
          </a:prstGeom>
        </p:spPr>
      </p:pic>
      <p:sp>
        <p:nvSpPr>
          <p:cNvPr id="8"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9"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GPU + VRAM → vLLM (prefill, decode, KV cache, batching, sharding) → llm-d routing → Kubernetes → one endpoint</a:t>
            </a:r>
            <a:endParaRPr lang="en-US" sz="1200" dirty="0"/>
          </a:p>
          <a:p>
            <a:pPr indent="0" marL="0">
              <a:spcAft>
                <a:spcPts val="200"/>
              </a:spcAft>
              <a:buNone/>
            </a:pPr>
            <a:r>
              <a:rPr lang="en-US" sz="1300" dirty="0">
                <a:solidFill>
                  <a:srgbClr val="C9D6EA"/>
                </a:solidFill>
                <a:latin typeface="Calibri" pitchFamily="34" charset="0"/>
                <a:ea typeface="Calibri" pitchFamily="34" charset="-122"/>
                <a:cs typeface="Calibri" pitchFamily="34" charset="-120"/>
              </a:rPr>
              <a:t>Every layer here solved a problem the layer below created. A request travels from the gateway, through llm-d and Kubernetes, into vLLM, and finally onto the GPU.</a:t>
            </a:r>
            <a:endParaRPr lang="en-US" sz="1200" dirty="0"/>
          </a:p>
        </p:txBody>
      </p:sp>
      <p:sp>
        <p:nvSpPr>
          <p:cNvPr id="10"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5"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160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par>
                    <p:cTn id="15" fill="hold">
                      <p:stCondLst>
                        <p:cond delay="indefinite"/>
                      </p:stCondLst>
                      <p:childTnLst>
                        <p:par>
                          <p:cTn id="16" fill="hold">
                            <p:stCondLst>
                              <p:cond delay="0"/>
                            </p:stCondLst>
                            <p:childTnLst>
                              <p:par>
                                <p:cTn id="20" presetID="42"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p:cTn id="18" dur="600" fill="hold"/>
                                        <p:tgtEl>
                                          <p:spTgt spid="7"/>
                                        </p:tgtEl>
                                        <p:attrNameLst>
                                          <p:attrName>ppt_y</p:attrName>
                                        </p:attrNameLst>
                                      </p:cBhvr>
                                      <p:tavLst>
                                        <p:tav tm="0">
                                          <p:val>
                                            <p:strVal val="#ppt_y+0.03"/>
                                          </p:val>
                                        </p:tav>
                                        <p:tav tm="100000">
                                          <p:val>
                                            <p:strVal val="#ppt_y"/>
                                          </p:val>
                                        </p:tav>
                                      </p:tavLst>
                                    </p:anim>
                                    <p:animEffect transition="in" filter="fade">
                                      <p:cBhvr>
                                        <p:cTn id="19" dur="6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1.xml><?xml version="1.0" encoding="utf-8"?>
<p:sld xmlns:a="http://schemas.openxmlformats.org/drawingml/2006/main" xmlns:r="http://schemas.openxmlformats.org/officeDocument/2006/relationships" xmlns:p="http://schemas.openxmlformats.org/presentationml/2006/main">
  <p:cSld name="Slide 161">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6424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Cheat Sheet: Every Term in One Place</a:t>
            </a:r>
            <a:endParaRPr lang="en-US" sz="3000" dirty="0"/>
          </a:p>
        </p:txBody>
      </p:sp>
      <p:sp>
        <p:nvSpPr>
          <p:cNvPr id="3" name="Text 0"/>
          <p:cNvSpPr/>
          <p:nvPr>
            <p:ph idx="101" type="body" hasCustomPrompt="1"/>
          </p:nvPr>
        </p:nvSpPr>
        <p:spPr>
          <a:xfrm>
            <a:off x="548640" y="1261872"/>
            <a:ext cx="11064240" cy="384048"/>
          </a:xfrm>
          <a:prstGeom prst="rect">
            <a:avLst/>
          </a:prstGeom>
          <a:noFill/>
          <a:ln/>
        </p:spPr>
        <p:txBody>
          <a:bodyPr wrap="square" lIns="0" tIns="0" rIns="0" bIns="0" rtlCol="0" anchor="ctr"/>
          <a:lstStyle/>
          <a:p>
            <a:pPr algn="l" indent="0" marL="0">
              <a:buNone/>
            </a:pPr>
            <a:r>
              <a:rPr lang="en-US" sz="1700" dirty="0">
                <a:solidFill>
                  <a:srgbClr val="22D3EE"/>
                </a:solidFill>
                <a:latin typeface="Calibri" pitchFamily="34" charset="0"/>
                <a:ea typeface="Calibri" pitchFamily="34" charset="-122"/>
                <a:cs typeface="Calibri" pitchFamily="34" charset="-120"/>
              </a:rPr>
              <a:t>Keep this slide handy</a:t>
            </a:r>
            <a:endParaRPr lang="en-US" sz="1700" dirty="0"/>
          </a:p>
        </p:txBody>
      </p:sp>
      <p:pic>
        <p:nvPicPr>
          <p:cNvPr id="4" name="layer_0" descr="Cheat Sheet: Every Term in One Place — illustration part 1">    </p:cNvPr>
          <p:cNvPicPr>
            <a:picLocks noChangeAspect="1"/>
          </p:cNvPicPr>
          <p:nvPr/>
        </p:nvPicPr>
        <p:blipFill>
          <a:blip r:embed="rId1"/>
          <a:stretch>
            <a:fillRect/>
          </a:stretch>
        </p:blipFill>
        <p:spPr>
          <a:xfrm>
            <a:off x="1311984" y="2093734"/>
            <a:ext cx="4020562" cy="2141076"/>
          </a:xfrm>
          <a:prstGeom prst="rect">
            <a:avLst/>
          </a:prstGeom>
        </p:spPr>
      </p:pic>
      <p:pic>
        <p:nvPicPr>
          <p:cNvPr id="5" name="layer_1" descr="Cheat Sheet: Every Term in One Place — illustration part 2">    </p:cNvPr>
          <p:cNvPicPr>
            <a:picLocks noChangeAspect="1"/>
          </p:cNvPicPr>
          <p:nvPr/>
        </p:nvPicPr>
        <p:blipFill>
          <a:blip r:embed="rId2"/>
          <a:stretch>
            <a:fillRect/>
          </a:stretch>
        </p:blipFill>
        <p:spPr>
          <a:xfrm>
            <a:off x="1322060" y="2103810"/>
            <a:ext cx="8560068" cy="3350155"/>
          </a:xfrm>
          <a:prstGeom prst="rect">
            <a:avLst/>
          </a:prstGeom>
        </p:spPr>
      </p:pic>
      <p:pic>
        <p:nvPicPr>
          <p:cNvPr id="6" name="layer_2" descr="Cheat Sheet: Every Term in One Place — illustration part 3">    </p:cNvPr>
          <p:cNvPicPr>
            <a:picLocks noChangeAspect="1"/>
          </p:cNvPicPr>
          <p:nvPr/>
        </p:nvPicPr>
        <p:blipFill>
          <a:blip r:embed="rId3"/>
          <a:stretch>
            <a:fillRect/>
          </a:stretch>
        </p:blipFill>
        <p:spPr>
          <a:xfrm>
            <a:off x="6299899" y="3358229"/>
            <a:ext cx="3879489" cy="2131001"/>
          </a:xfrm>
          <a:prstGeom prst="rect">
            <a:avLst/>
          </a:prstGeom>
        </p:spPr>
      </p:pic>
      <p:sp>
        <p:nvSpPr>
          <p:cNvPr id="7" name="caption_card"/>
          <p:cNvSpPr/>
          <p:nvPr/>
        </p:nvSpPr>
        <p:spPr>
          <a:xfrm>
            <a:off x="502920" y="5760720"/>
            <a:ext cx="10744200" cy="932688"/>
          </a:xfrm>
          <a:prstGeom prst="roundRect">
            <a:avLst>
              <a:gd name="adj" fmla="val 11765"/>
            </a:avLst>
          </a:prstGeom>
          <a:solidFill>
            <a:srgbClr val="0A1430">
              <a:alpha val="80000"/>
            </a:srgbClr>
          </a:solidFill>
          <a:ln w="9525">
            <a:solidFill>
              <a:srgbClr val="22D3EE">
                <a:alpha val="45000"/>
              </a:srgbClr>
            </a:solidFill>
            <a:prstDash val="solid"/>
          </a:ln>
        </p:spPr>
      </p:sp>
      <p:sp>
        <p:nvSpPr>
          <p:cNvPr id="8" name="caption_text"/>
          <p:cNvSpPr txBox="1"/>
          <p:nvPr/>
        </p:nvSpPr>
        <p:spPr>
          <a:xfrm>
            <a:off x="685800" y="5797296"/>
            <a:ext cx="10424160" cy="859536"/>
          </a:xfrm>
          <a:prstGeom prst="rect">
            <a:avLst/>
          </a:prstGeom>
          <a:noFill/>
          <a:ln/>
        </p:spPr>
        <p:txBody>
          <a:bodyPr wrap="square" lIns="0" tIns="0" rIns="0" bIns="0" rtlCol="0" anchor="ctr"/>
          <a:lstStyle/>
          <a:p>
            <a:pPr indent="0" marL="0">
              <a:spcAft>
                <a:spcPts val="200"/>
              </a:spcAft>
              <a:buNone/>
            </a:pPr>
            <a:r>
              <a:rPr lang="en-US" sz="1200" b="1" dirty="0">
                <a:solidFill>
                  <a:srgbClr val="22D3EE"/>
                </a:solidFill>
                <a:latin typeface="Calibri" pitchFamily="34" charset="0"/>
                <a:ea typeface="Calibri" pitchFamily="34" charset="-122"/>
                <a:cs typeface="Calibri" pitchFamily="34" charset="-120"/>
              </a:rPr>
              <a:t>KEY IDEA   </a:t>
            </a:r>
            <a:pPr indent="0" marL="0">
              <a:spcAft>
                <a:spcPts val="200"/>
              </a:spcAft>
              <a:buNone/>
            </a:pPr>
            <a:r>
              <a:rPr lang="en-US" sz="1400" b="1" dirty="0">
                <a:solidFill>
                  <a:srgbClr val="FFFFFF"/>
                </a:solidFill>
                <a:latin typeface="Calibri" pitchFamily="34" charset="0"/>
                <a:ea typeface="Calibri" pitchFamily="34" charset="-122"/>
                <a:cs typeface="Calibri" pitchFamily="34" charset="-120"/>
              </a:rPr>
              <a:t>If you can explain these twelve terms, you understand how LLMs are served</a:t>
            </a:r>
            <a:endParaRPr lang="en-US" sz="1200" dirty="0"/>
          </a:p>
        </p:txBody>
      </p:sp>
      <p:sp>
        <p:nvSpPr>
          <p:cNvPr id="9" name="nav_agenda"/>
          <p:cNvSpPr txBox="1"/>
          <p:nvPr/>
        </p:nvSpPr>
        <p:spPr>
          <a:xfrm>
            <a:off x="11320272" y="5870448"/>
            <a:ext cx="713232" cy="274320"/>
          </a:xfrm>
          <a:prstGeom prst="rect">
            <a:avLst/>
          </a:prstGeom>
          <a:solidFill>
            <a:srgbClr val="0A1430">
              <a:alpha val="70000"/>
            </a:srgbClr>
          </a:solidFill>
          <a:ln w="6350">
            <a:solidFill>
              <a:srgbClr val="22D3EE">
                <a:alpha val="50000"/>
              </a:srgbClr>
            </a:solidFill>
          </a:ln>
        </p:spPr>
        <p:txBody>
          <a:bodyPr wrap="square" lIns="0" tIns="0" rIns="0" bIns="0" rtlCol="0" anchor="ctr"/>
          <a:lstStyle/>
          <a:p>
            <a:pPr algn="ctr" indent="0" marL="0">
              <a:buNone/>
            </a:pPr>
            <a:r>
              <a:rPr lang="en-US" sz="900" u="sng" dirty="0">
                <a:solidFill>
                  <a:srgbClr val="22D3EE"/>
                </a:solidFill>
                <a:latin typeface="Calibri" pitchFamily="34" charset="0"/>
                <a:ea typeface="Calibri" pitchFamily="34" charset="-122"/>
                <a:cs typeface="Calibri" pitchFamily="34" charset="-120"/>
                <a:hlinkClick r:id="rId4" action="ppaction://hlinksldjump" tooltip="Back to agenda">
                  <a:extLst>
                    <a:ext uri="{A12FA001-AC4F-418D-AE19-62706E023703}">
                      <ahyp:hlinkClr xmlns:ahyp="http://schemas.microsoft.com/office/drawing/2018/hyperlinkcolor" val="tx"/>
                    </a:ext>
                  </a:extLst>
                </a:hlinkClick>
              </a:rPr>
              <a:t>⌂ Menu</a:t>
            </a:r>
            <a:endParaRPr lang="en-US" sz="900" dirty="0"/>
          </a:p>
        </p:txBody>
      </p:sp>
      <p:sp>
        <p:nvSpPr>
          <p:cNvPr id="25" name="Slide Number Placeholder 0"/>
          <p:cNvSpPr>
            <a:spLocks noGrp="1"/>
          </p:cNvSpPr>
          <p:nvPr>
            <p:ph type="sldNum" sz="quarter" idx="4294967295"/>
          </p:nvPr>
        </p:nvSpPr>
        <p:spPr>
          <a:xfrm>
            <a:off x="11384280" y="6291072"/>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FA3C0"/>
                </a:solidFill>
              </a:defRPr>
            </a:lvl1pPr>
          </a:lstStyle>
          <a:p>
            <a:pPr algn="r"/>
            <a:fld id="{F7021451-1387-4CA6-816F-3879F97B5CBC}" type="slidenum">
              <a:rPr b="0" lang="en-US"/>
              <a:t>161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8"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 calcmode="lin" valueType="num">
                                      <p:cBhvr>
                                        <p:cTn id="6" dur="600" fill="hold"/>
                                        <p:tgtEl>
                                          <p:spTgt spid="5"/>
                                        </p:tgtEl>
                                        <p:attrNameLst>
                                          <p:attrName>ppt_y</p:attrName>
                                        </p:attrNameLst>
                                      </p:cBhvr>
                                      <p:tavLst>
                                        <p:tav tm="0">
                                          <p:val>
                                            <p:strVal val="#ppt_y+0.03"/>
                                          </p:val>
                                        </p:tav>
                                        <p:tav tm="100000">
                                          <p:val>
                                            <p:strVal val="#ppt_y"/>
                                          </p:val>
                                        </p:tav>
                                      </p:tavLst>
                                    </p:anim>
                                    <p:animEffect transition="in" filter="fade">
                                      <p:cBhvr>
                                        <p:cTn id="7" dur="600"/>
                                        <p:tgtEl>
                                          <p:spTgt spid="5"/>
                                        </p:tgtEl>
                                      </p:cBhvr>
                                    </p:animEffect>
                                  </p:childTnLst>
                                </p:cTn>
                              </p:par>
                            </p:childTnLst>
                          </p:cTn>
                        </p:par>
                      </p:childTnLst>
                    </p:cTn>
                  </p:par>
                  <p:par>
                    <p:cTn id="9" fill="hold">
                      <p:stCondLst>
                        <p:cond delay="indefinite"/>
                      </p:stCondLst>
                      <p:childTnLst>
                        <p:par>
                          <p:cTn id="10" fill="hold">
                            <p:stCondLst>
                              <p:cond delay="0"/>
                            </p:stCondLst>
                            <p:childTnLst>
                              <p:par>
                                <p:cTn id="14"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600" fill="hold"/>
                                        <p:tgtEl>
                                          <p:spTgt spid="6"/>
                                        </p:tgtEl>
                                        <p:attrNameLst>
                                          <p:attrName>ppt_y</p:attrName>
                                        </p:attrNameLst>
                                      </p:cBhvr>
                                      <p:tavLst>
                                        <p:tav tm="0">
                                          <p:val>
                                            <p:strVal val="#ppt_y+0.03"/>
                                          </p:val>
                                        </p:tav>
                                        <p:tav tm="100000">
                                          <p:val>
                                            <p:strVal val="#ppt_y"/>
                                          </p:val>
                                        </p:tav>
                                      </p:tavLst>
                                    </p:anim>
                                    <p:animEffect transition="in" filter="fade">
                                      <p:cBhvr>
                                        <p:cTn id="13"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161</Slides>
  <Notes>161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161</vt:i4>
      </vt:variant>
    </vt:vector>
  </HeadingPairs>
  <TitlesOfParts>
    <vt:vector size="16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lpstr>Slide 151</vt:lpstr>
      <vt:lpstr>Slide 152</vt:lpstr>
      <vt:lpstr>Slide 153</vt:lpstr>
      <vt:lpstr>Slide 154</vt:lpstr>
      <vt:lpstr>Slide 155</vt:lpstr>
      <vt:lpstr>Slide 156</vt:lpstr>
      <vt:lpstr>Slide 157</vt:lpstr>
      <vt:lpstr>Slide 158</vt:lpstr>
      <vt:lpstr>Slide 159</vt:lpstr>
      <vt:lpstr>Slide 160</vt:lpstr>
      <vt:lpstr>Slide 161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Infrastructure Behind AI</dc:title>
  <dc:subject>PptxGenJS Presentation</dc:subject>
  <dc:creator>Veeru · AI with VK</dc:creator>
  <cp:lastModifiedBy>Veeru · AI with VK</cp:lastModifiedBy>
  <cp:revision>1</cp:revision>
  <dcterms:created xsi:type="dcterms:W3CDTF">2026-10-08T07:44:37Z</dcterms:created>
  <dcterms:modified xsi:type="dcterms:W3CDTF">2026-10-08T07:44:37Z</dcterms:modified>
</cp:coreProperties>
</file>